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257" r:id="rId2"/>
    <p:sldId id="258" r:id="rId3"/>
    <p:sldId id="268" r:id="rId4"/>
    <p:sldId id="259" r:id="rId5"/>
    <p:sldId id="295" r:id="rId6"/>
    <p:sldId id="267" r:id="rId7"/>
    <p:sldId id="269" r:id="rId8"/>
    <p:sldId id="277" r:id="rId9"/>
    <p:sldId id="278" r:id="rId10"/>
    <p:sldId id="279" r:id="rId11"/>
    <p:sldId id="280" r:id="rId12"/>
    <p:sldId id="281" r:id="rId13"/>
    <p:sldId id="282" r:id="rId14"/>
    <p:sldId id="286" r:id="rId15"/>
    <p:sldId id="288" r:id="rId16"/>
    <p:sldId id="289" r:id="rId17"/>
    <p:sldId id="283" r:id="rId18"/>
    <p:sldId id="287" r:id="rId19"/>
    <p:sldId id="284" r:id="rId20"/>
    <p:sldId id="291" r:id="rId21"/>
    <p:sldId id="285" r:id="rId22"/>
    <p:sldId id="293" r:id="rId23"/>
    <p:sldId id="290" r:id="rId24"/>
    <p:sldId id="292" r:id="rId25"/>
    <p:sldId id="270" r:id="rId26"/>
    <p:sldId id="263" r:id="rId27"/>
    <p:sldId id="29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94559"/>
  </p:normalViewPr>
  <p:slideViewPr>
    <p:cSldViewPr snapToGrid="0">
      <p:cViewPr varScale="1">
        <p:scale>
          <a:sx n="111" d="100"/>
          <a:sy n="111" d="100"/>
        </p:scale>
        <p:origin x="56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diagrams/_rels/data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31.svg"/><Relationship Id="rId2" Type="http://schemas.openxmlformats.org/officeDocument/2006/relationships/image" Target="../media/image5.png"/><Relationship Id="rId1" Type="http://schemas.openxmlformats.org/officeDocument/2006/relationships/image" Target="../media/image27.png"/><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s>
</file>

<file path=ppt/diagrams/_rels/drawing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31.svg"/><Relationship Id="rId2" Type="http://schemas.openxmlformats.org/officeDocument/2006/relationships/image" Target="../media/image5.png"/><Relationship Id="rId1" Type="http://schemas.openxmlformats.org/officeDocument/2006/relationships/image" Target="../media/image27.png"/><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2910E6-88E4-4D66-B8E7-BED344DB8F9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C228619B-81DE-4697-9820-A5FA88A72542}">
      <dgm:prSet/>
      <dgm:spPr>
        <a:solidFill>
          <a:schemeClr val="bg1">
            <a:lumMod val="75000"/>
          </a:schemeClr>
        </a:solidFill>
      </dgm:spPr>
      <dgm:t>
        <a:bodyPr/>
        <a:lstStyle/>
        <a:p>
          <a:r>
            <a:rPr lang="en-US" b="1" dirty="0">
              <a:solidFill>
                <a:schemeClr val="tx1"/>
              </a:solidFill>
              <a:latin typeface="Times New Roman" panose="02020603050405020304" pitchFamily="18" charset="0"/>
              <a:cs typeface="Times New Roman" panose="02020603050405020304" pitchFamily="18" charset="0"/>
            </a:rPr>
            <a:t>Project Focus</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Design and evaluation of a privacy-preserving real-time monitoring system.</a:t>
          </a:r>
        </a:p>
      </dgm:t>
    </dgm:pt>
    <dgm:pt modelId="{06232C65-FA1B-4902-8BE5-C33594800E1B}" type="parTrans" cxnId="{476E61DF-549D-41ED-B8EB-99B907473DA6}">
      <dgm:prSet/>
      <dgm:spPr/>
      <dgm:t>
        <a:bodyPr/>
        <a:lstStyle/>
        <a:p>
          <a:endParaRPr lang="en-US"/>
        </a:p>
      </dgm:t>
    </dgm:pt>
    <dgm:pt modelId="{CCDBEBAB-B3C7-4D1D-9DF1-229CFB9C3C4E}" type="sibTrans" cxnId="{476E61DF-549D-41ED-B8EB-99B907473DA6}">
      <dgm:prSet/>
      <dgm:spPr/>
      <dgm:t>
        <a:bodyPr/>
        <a:lstStyle/>
        <a:p>
          <a:endParaRPr lang="en-US"/>
        </a:p>
      </dgm:t>
    </dgm:pt>
    <dgm:pt modelId="{FDBF9059-4998-4B4C-AAD2-B47B1CF58ACF}">
      <dgm:prSet/>
      <dgm:spPr>
        <a:solidFill>
          <a:schemeClr val="bg1">
            <a:lumMod val="75000"/>
          </a:schemeClr>
        </a:solidFill>
      </dgm:spPr>
      <dgm:t>
        <a:bodyPr/>
        <a:lstStyle/>
        <a:p>
          <a:r>
            <a:rPr lang="en-US" b="1" dirty="0">
              <a:solidFill>
                <a:schemeClr val="tx1"/>
              </a:solidFill>
              <a:latin typeface="Times New Roman" panose="02020603050405020304" pitchFamily="18" charset="0"/>
              <a:cs typeface="Times New Roman" panose="02020603050405020304" pitchFamily="18" charset="0"/>
            </a:rPr>
            <a:t>Problem Context</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Seniors in assisted care are prone to falls, confusion, and unnoticed health issues.</a:t>
          </a:r>
        </a:p>
      </dgm:t>
    </dgm:pt>
    <dgm:pt modelId="{23DA34BF-B791-43B1-8C07-FC55CBF9E286}" type="parTrans" cxnId="{79A1CE2A-3091-49F1-A4D8-F3DE83321606}">
      <dgm:prSet/>
      <dgm:spPr/>
      <dgm:t>
        <a:bodyPr/>
        <a:lstStyle/>
        <a:p>
          <a:endParaRPr lang="en-US"/>
        </a:p>
      </dgm:t>
    </dgm:pt>
    <dgm:pt modelId="{7D4AD204-5649-4D3C-A944-8B90B69BD1C0}" type="sibTrans" cxnId="{79A1CE2A-3091-49F1-A4D8-F3DE83321606}">
      <dgm:prSet/>
      <dgm:spPr/>
      <dgm:t>
        <a:bodyPr/>
        <a:lstStyle/>
        <a:p>
          <a:endParaRPr lang="en-US"/>
        </a:p>
      </dgm:t>
    </dgm:pt>
    <dgm:pt modelId="{339BA8B6-29C1-4BC1-8B53-37188B723D96}">
      <dgm:prSet/>
      <dgm:spPr>
        <a:solidFill>
          <a:schemeClr val="bg1">
            <a:lumMod val="75000"/>
          </a:schemeClr>
        </a:solidFill>
      </dgm:spPr>
      <dgm:t>
        <a:bodyPr/>
        <a:lstStyle/>
        <a:p>
          <a:r>
            <a:rPr lang="en-US" dirty="0">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System Capability</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Multi-modal ML system for continuous detection and rapid, precise responses.</a:t>
          </a:r>
        </a:p>
      </dgm:t>
    </dgm:pt>
    <dgm:pt modelId="{FD9BBA23-2E03-4D88-A0F0-3B8F96C17C29}" type="parTrans" cxnId="{1A8279BF-E628-4511-AF36-BF21F12CAEA0}">
      <dgm:prSet/>
      <dgm:spPr/>
      <dgm:t>
        <a:bodyPr/>
        <a:lstStyle/>
        <a:p>
          <a:endParaRPr lang="en-US"/>
        </a:p>
      </dgm:t>
    </dgm:pt>
    <dgm:pt modelId="{7B704819-F912-4572-90E9-8367537BC859}" type="sibTrans" cxnId="{1A8279BF-E628-4511-AF36-BF21F12CAEA0}">
      <dgm:prSet/>
      <dgm:spPr/>
      <dgm:t>
        <a:bodyPr/>
        <a:lstStyle/>
        <a:p>
          <a:endParaRPr lang="en-US"/>
        </a:p>
      </dgm:t>
    </dgm:pt>
    <dgm:pt modelId="{451E98E9-D75E-4D01-800E-AC37E6C9FB29}">
      <dgm:prSet/>
      <dgm:spPr>
        <a:solidFill>
          <a:schemeClr val="bg1">
            <a:lumMod val="75000"/>
          </a:schemeClr>
        </a:solidFill>
      </dgm:spPr>
      <dgm:t>
        <a:bodyPr/>
        <a:lstStyle/>
        <a:p>
          <a:r>
            <a:rPr lang="en-US" dirty="0">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False Alarm Reduction</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Delivers accurate, actionable insights to minimize false triggers.</a:t>
          </a:r>
        </a:p>
      </dgm:t>
    </dgm:pt>
    <dgm:pt modelId="{8511BDBD-5328-4657-A628-9377803F455F}" type="parTrans" cxnId="{FF63F3E0-3D2F-4117-876A-26A0060FC9B4}">
      <dgm:prSet/>
      <dgm:spPr/>
      <dgm:t>
        <a:bodyPr/>
        <a:lstStyle/>
        <a:p>
          <a:endParaRPr lang="en-US"/>
        </a:p>
      </dgm:t>
    </dgm:pt>
    <dgm:pt modelId="{E12D2436-89F1-4DCB-8CD2-76643E41A515}" type="sibTrans" cxnId="{FF63F3E0-3D2F-4117-876A-26A0060FC9B4}">
      <dgm:prSet/>
      <dgm:spPr/>
      <dgm:t>
        <a:bodyPr/>
        <a:lstStyle/>
        <a:p>
          <a:endParaRPr lang="en-US"/>
        </a:p>
      </dgm:t>
    </dgm:pt>
    <dgm:pt modelId="{2E3D9B50-D0F5-4BD8-9A17-8572A05D282D}">
      <dgm:prSet/>
      <dgm:spPr>
        <a:solidFill>
          <a:schemeClr val="bg1">
            <a:lumMod val="75000"/>
          </a:schemeClr>
        </a:solidFill>
      </dgm:spPr>
      <dgm:t>
        <a:bodyPr/>
        <a:lstStyle/>
        <a:p>
          <a:r>
            <a:rPr lang="en-US" dirty="0">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Secure EHR Integration</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Uses SMART to preserve EHR privacy while ensuring reliable outcomes.</a:t>
          </a:r>
        </a:p>
      </dgm:t>
    </dgm:pt>
    <dgm:pt modelId="{26CAF341-4346-4DA8-BF18-8AE284471D9C}" type="parTrans" cxnId="{D1550388-D20D-4307-B898-B0CA75870813}">
      <dgm:prSet/>
      <dgm:spPr/>
      <dgm:t>
        <a:bodyPr/>
        <a:lstStyle/>
        <a:p>
          <a:endParaRPr lang="en-US"/>
        </a:p>
      </dgm:t>
    </dgm:pt>
    <dgm:pt modelId="{FDDE109C-F58F-4EA8-9DC1-2397651FF7ED}" type="sibTrans" cxnId="{D1550388-D20D-4307-B898-B0CA75870813}">
      <dgm:prSet/>
      <dgm:spPr/>
      <dgm:t>
        <a:bodyPr/>
        <a:lstStyle/>
        <a:p>
          <a:endParaRPr lang="en-US"/>
        </a:p>
      </dgm:t>
    </dgm:pt>
    <dgm:pt modelId="{C1FB707C-D7BC-1740-9471-2238820703F2}" type="pres">
      <dgm:prSet presAssocID="{392910E6-88E4-4D66-B8E7-BED344DB8F93}" presName="diagram" presStyleCnt="0">
        <dgm:presLayoutVars>
          <dgm:dir/>
          <dgm:resizeHandles val="exact"/>
        </dgm:presLayoutVars>
      </dgm:prSet>
      <dgm:spPr/>
    </dgm:pt>
    <dgm:pt modelId="{54DED419-C8E2-3148-B63A-9E4D1AB312A3}" type="pres">
      <dgm:prSet presAssocID="{C228619B-81DE-4697-9820-A5FA88A72542}" presName="node" presStyleLbl="node1" presStyleIdx="0" presStyleCnt="5">
        <dgm:presLayoutVars>
          <dgm:bulletEnabled val="1"/>
        </dgm:presLayoutVars>
      </dgm:prSet>
      <dgm:spPr>
        <a:prstGeom prst="roundRect">
          <a:avLst/>
        </a:prstGeom>
      </dgm:spPr>
    </dgm:pt>
    <dgm:pt modelId="{BFF532D2-36F4-E045-9CF0-DBC68675BA89}" type="pres">
      <dgm:prSet presAssocID="{CCDBEBAB-B3C7-4D1D-9DF1-229CFB9C3C4E}" presName="sibTrans" presStyleCnt="0"/>
      <dgm:spPr/>
    </dgm:pt>
    <dgm:pt modelId="{1B5FEFE0-24AF-3B4D-AC41-A8104FBAB788}" type="pres">
      <dgm:prSet presAssocID="{FDBF9059-4998-4B4C-AAD2-B47B1CF58ACF}" presName="node" presStyleLbl="node1" presStyleIdx="1" presStyleCnt="5">
        <dgm:presLayoutVars>
          <dgm:bulletEnabled val="1"/>
        </dgm:presLayoutVars>
      </dgm:prSet>
      <dgm:spPr>
        <a:prstGeom prst="roundRect">
          <a:avLst/>
        </a:prstGeom>
      </dgm:spPr>
    </dgm:pt>
    <dgm:pt modelId="{82072A82-B7AF-C34E-B149-1DCC54AC64C0}" type="pres">
      <dgm:prSet presAssocID="{7D4AD204-5649-4D3C-A944-8B90B69BD1C0}" presName="sibTrans" presStyleCnt="0"/>
      <dgm:spPr/>
    </dgm:pt>
    <dgm:pt modelId="{E6F03123-17F5-AD4D-B13D-D38A8C70671C}" type="pres">
      <dgm:prSet presAssocID="{339BA8B6-29C1-4BC1-8B53-37188B723D96}" presName="node" presStyleLbl="node1" presStyleIdx="2" presStyleCnt="5">
        <dgm:presLayoutVars>
          <dgm:bulletEnabled val="1"/>
        </dgm:presLayoutVars>
      </dgm:prSet>
      <dgm:spPr>
        <a:prstGeom prst="roundRect">
          <a:avLst/>
        </a:prstGeom>
      </dgm:spPr>
    </dgm:pt>
    <dgm:pt modelId="{735BB815-DA09-844D-B70A-0E210F07FE13}" type="pres">
      <dgm:prSet presAssocID="{7B704819-F912-4572-90E9-8367537BC859}" presName="sibTrans" presStyleCnt="0"/>
      <dgm:spPr/>
    </dgm:pt>
    <dgm:pt modelId="{838D5ED9-411F-DA42-BB5D-2DD41DC40FAC}" type="pres">
      <dgm:prSet presAssocID="{451E98E9-D75E-4D01-800E-AC37E6C9FB29}" presName="node" presStyleLbl="node1" presStyleIdx="3" presStyleCnt="5">
        <dgm:presLayoutVars>
          <dgm:bulletEnabled val="1"/>
        </dgm:presLayoutVars>
      </dgm:prSet>
      <dgm:spPr>
        <a:prstGeom prst="roundRect">
          <a:avLst/>
        </a:prstGeom>
      </dgm:spPr>
    </dgm:pt>
    <dgm:pt modelId="{75017E7C-D164-BA4C-BD30-265EE77ED084}" type="pres">
      <dgm:prSet presAssocID="{E12D2436-89F1-4DCB-8CD2-76643E41A515}" presName="sibTrans" presStyleCnt="0"/>
      <dgm:spPr/>
    </dgm:pt>
    <dgm:pt modelId="{4095528B-A03A-6046-99FD-C80359998399}" type="pres">
      <dgm:prSet presAssocID="{2E3D9B50-D0F5-4BD8-9A17-8572A05D282D}" presName="node" presStyleLbl="node1" presStyleIdx="4" presStyleCnt="5">
        <dgm:presLayoutVars>
          <dgm:bulletEnabled val="1"/>
        </dgm:presLayoutVars>
      </dgm:prSet>
      <dgm:spPr>
        <a:prstGeom prst="roundRect">
          <a:avLst/>
        </a:prstGeom>
      </dgm:spPr>
    </dgm:pt>
  </dgm:ptLst>
  <dgm:cxnLst>
    <dgm:cxn modelId="{3C8C5B17-F5D6-EC46-AA07-B7AE36320395}" type="presOf" srcId="{339BA8B6-29C1-4BC1-8B53-37188B723D96}" destId="{E6F03123-17F5-AD4D-B13D-D38A8C70671C}" srcOrd="0" destOrd="0" presId="urn:microsoft.com/office/officeart/2005/8/layout/default"/>
    <dgm:cxn modelId="{79A1CE2A-3091-49F1-A4D8-F3DE83321606}" srcId="{392910E6-88E4-4D66-B8E7-BED344DB8F93}" destId="{FDBF9059-4998-4B4C-AAD2-B47B1CF58ACF}" srcOrd="1" destOrd="0" parTransId="{23DA34BF-B791-43B1-8C07-FC55CBF9E286}" sibTransId="{7D4AD204-5649-4D3C-A944-8B90B69BD1C0}"/>
    <dgm:cxn modelId="{0D911232-90E2-6942-8828-21B775283FA8}" type="presOf" srcId="{FDBF9059-4998-4B4C-AAD2-B47B1CF58ACF}" destId="{1B5FEFE0-24AF-3B4D-AC41-A8104FBAB788}" srcOrd="0" destOrd="0" presId="urn:microsoft.com/office/officeart/2005/8/layout/default"/>
    <dgm:cxn modelId="{2F23F573-6873-944E-BF3B-92467CC7D744}" type="presOf" srcId="{C228619B-81DE-4697-9820-A5FA88A72542}" destId="{54DED419-C8E2-3148-B63A-9E4D1AB312A3}" srcOrd="0" destOrd="0" presId="urn:microsoft.com/office/officeart/2005/8/layout/default"/>
    <dgm:cxn modelId="{E039A574-14B5-AF4C-8084-12E76109F4D2}" type="presOf" srcId="{451E98E9-D75E-4D01-800E-AC37E6C9FB29}" destId="{838D5ED9-411F-DA42-BB5D-2DD41DC40FAC}" srcOrd="0" destOrd="0" presId="urn:microsoft.com/office/officeart/2005/8/layout/default"/>
    <dgm:cxn modelId="{D1550388-D20D-4307-B898-B0CA75870813}" srcId="{392910E6-88E4-4D66-B8E7-BED344DB8F93}" destId="{2E3D9B50-D0F5-4BD8-9A17-8572A05D282D}" srcOrd="4" destOrd="0" parTransId="{26CAF341-4346-4DA8-BF18-8AE284471D9C}" sibTransId="{FDDE109C-F58F-4EA8-9DC1-2397651FF7ED}"/>
    <dgm:cxn modelId="{1A8279BF-E628-4511-AF36-BF21F12CAEA0}" srcId="{392910E6-88E4-4D66-B8E7-BED344DB8F93}" destId="{339BA8B6-29C1-4BC1-8B53-37188B723D96}" srcOrd="2" destOrd="0" parTransId="{FD9BBA23-2E03-4D88-A0F0-3B8F96C17C29}" sibTransId="{7B704819-F912-4572-90E9-8367537BC859}"/>
    <dgm:cxn modelId="{476E61DF-549D-41ED-B8EB-99B907473DA6}" srcId="{392910E6-88E4-4D66-B8E7-BED344DB8F93}" destId="{C228619B-81DE-4697-9820-A5FA88A72542}" srcOrd="0" destOrd="0" parTransId="{06232C65-FA1B-4902-8BE5-C33594800E1B}" sibTransId="{CCDBEBAB-B3C7-4D1D-9DF1-229CFB9C3C4E}"/>
    <dgm:cxn modelId="{89FE4EE0-81FE-2E4D-905F-40A997E0D421}" type="presOf" srcId="{2E3D9B50-D0F5-4BD8-9A17-8572A05D282D}" destId="{4095528B-A03A-6046-99FD-C80359998399}" srcOrd="0" destOrd="0" presId="urn:microsoft.com/office/officeart/2005/8/layout/default"/>
    <dgm:cxn modelId="{2272E1E0-A125-1742-85B6-5F34D7E17C43}" type="presOf" srcId="{392910E6-88E4-4D66-B8E7-BED344DB8F93}" destId="{C1FB707C-D7BC-1740-9471-2238820703F2}" srcOrd="0" destOrd="0" presId="urn:microsoft.com/office/officeart/2005/8/layout/default"/>
    <dgm:cxn modelId="{FF63F3E0-3D2F-4117-876A-26A0060FC9B4}" srcId="{392910E6-88E4-4D66-B8E7-BED344DB8F93}" destId="{451E98E9-D75E-4D01-800E-AC37E6C9FB29}" srcOrd="3" destOrd="0" parTransId="{8511BDBD-5328-4657-A628-9377803F455F}" sibTransId="{E12D2436-89F1-4DCB-8CD2-76643E41A515}"/>
    <dgm:cxn modelId="{6F36CC93-DD29-5B40-8202-A722693AB3CA}" type="presParOf" srcId="{C1FB707C-D7BC-1740-9471-2238820703F2}" destId="{54DED419-C8E2-3148-B63A-9E4D1AB312A3}" srcOrd="0" destOrd="0" presId="urn:microsoft.com/office/officeart/2005/8/layout/default"/>
    <dgm:cxn modelId="{32FDC12A-733C-0F40-AD26-4EBB8A1102A9}" type="presParOf" srcId="{C1FB707C-D7BC-1740-9471-2238820703F2}" destId="{BFF532D2-36F4-E045-9CF0-DBC68675BA89}" srcOrd="1" destOrd="0" presId="urn:microsoft.com/office/officeart/2005/8/layout/default"/>
    <dgm:cxn modelId="{CCE2F418-59EB-F74E-A4A5-11DE44B3DAE9}" type="presParOf" srcId="{C1FB707C-D7BC-1740-9471-2238820703F2}" destId="{1B5FEFE0-24AF-3B4D-AC41-A8104FBAB788}" srcOrd="2" destOrd="0" presId="urn:microsoft.com/office/officeart/2005/8/layout/default"/>
    <dgm:cxn modelId="{133829C9-E851-FF47-83A3-2F844FED7B7C}" type="presParOf" srcId="{C1FB707C-D7BC-1740-9471-2238820703F2}" destId="{82072A82-B7AF-C34E-B149-1DCC54AC64C0}" srcOrd="3" destOrd="0" presId="urn:microsoft.com/office/officeart/2005/8/layout/default"/>
    <dgm:cxn modelId="{5740B24B-42F5-1948-B7FC-5B1FEDBB6098}" type="presParOf" srcId="{C1FB707C-D7BC-1740-9471-2238820703F2}" destId="{E6F03123-17F5-AD4D-B13D-D38A8C70671C}" srcOrd="4" destOrd="0" presId="urn:microsoft.com/office/officeart/2005/8/layout/default"/>
    <dgm:cxn modelId="{69187E92-0101-084E-A2DD-8BB3C5421ECF}" type="presParOf" srcId="{C1FB707C-D7BC-1740-9471-2238820703F2}" destId="{735BB815-DA09-844D-B70A-0E210F07FE13}" srcOrd="5" destOrd="0" presId="urn:microsoft.com/office/officeart/2005/8/layout/default"/>
    <dgm:cxn modelId="{995677A9-2930-E543-B402-3BEA05D3BEF1}" type="presParOf" srcId="{C1FB707C-D7BC-1740-9471-2238820703F2}" destId="{838D5ED9-411F-DA42-BB5D-2DD41DC40FAC}" srcOrd="6" destOrd="0" presId="urn:microsoft.com/office/officeart/2005/8/layout/default"/>
    <dgm:cxn modelId="{7B4B6609-A5FA-8E4A-80A1-1A747E353D38}" type="presParOf" srcId="{C1FB707C-D7BC-1740-9471-2238820703F2}" destId="{75017E7C-D164-BA4C-BD30-265EE77ED084}" srcOrd="7" destOrd="0" presId="urn:microsoft.com/office/officeart/2005/8/layout/default"/>
    <dgm:cxn modelId="{C9293C04-5724-C445-9E69-8651E2985322}" type="presParOf" srcId="{C1FB707C-D7BC-1740-9471-2238820703F2}" destId="{4095528B-A03A-6046-99FD-C80359998399}"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280584-B91C-4E91-9116-70E1504C56D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AD4C4F97-8D3D-4D2E-A1F7-AC3FCAE374D1}">
      <dgm:prSet/>
      <dgm:spPr>
        <a:ln>
          <a:solidFill>
            <a:schemeClr val="tx1"/>
          </a:solidFill>
        </a:ln>
      </dgm:spPr>
      <dgm:t>
        <a:bodyPr/>
        <a:lstStyle/>
        <a:p>
          <a:r>
            <a:rPr lang="en-US" dirty="0">
              <a:latin typeface="Times New Roman" panose="02020603050405020304" pitchFamily="18" charset="0"/>
              <a:cs typeface="Times New Roman" panose="02020603050405020304" pitchFamily="18" charset="0"/>
            </a:rPr>
            <a:t>The elderly in assisted homes continue to be victims of falls they can avoid, stumbling and fall hurts, coupled with unproven cases of poor health conditions. </a:t>
          </a:r>
        </a:p>
      </dgm:t>
    </dgm:pt>
    <dgm:pt modelId="{A71FB24D-15D4-494D-8D15-34CEB5F0C9D7}" type="parTrans" cxnId="{E69AF981-425B-405A-BFF8-E2D14849313F}">
      <dgm:prSet/>
      <dgm:spPr/>
      <dgm:t>
        <a:bodyPr/>
        <a:lstStyle/>
        <a:p>
          <a:endParaRPr lang="en-US"/>
        </a:p>
      </dgm:t>
    </dgm:pt>
    <dgm:pt modelId="{B37569E1-DEF2-4BDD-86F9-51BE41716447}" type="sibTrans" cxnId="{E69AF981-425B-405A-BFF8-E2D14849313F}">
      <dgm:prSet/>
      <dgm:spPr/>
      <dgm:t>
        <a:bodyPr/>
        <a:lstStyle/>
        <a:p>
          <a:endParaRPr lang="en-US"/>
        </a:p>
      </dgm:t>
    </dgm:pt>
    <dgm:pt modelId="{C8BDC1B1-5C57-4D7E-804E-92692599FD3C}">
      <dgm:prSet/>
      <dgm:spPr>
        <a:ln>
          <a:solidFill>
            <a:schemeClr val="tx1"/>
          </a:solidFill>
        </a:ln>
      </dgm:spPr>
      <dgm:t>
        <a:bodyPr/>
        <a:lstStyle/>
        <a:p>
          <a:r>
            <a:rPr lang="en-US" dirty="0">
              <a:latin typeface="Times New Roman" panose="02020603050405020304" pitchFamily="18" charset="0"/>
              <a:cs typeface="Times New Roman" panose="02020603050405020304" pitchFamily="18" charset="0"/>
            </a:rPr>
            <a:t>The existing systems are fragile and very loud and so tend to make a multitude of alerts that individuals have long since learning to ignore and result in the fatigue of being alerted.</a:t>
          </a:r>
        </a:p>
      </dgm:t>
    </dgm:pt>
    <dgm:pt modelId="{A8369FF1-AF68-41B0-AE7D-D109E731FA3D}" type="parTrans" cxnId="{BBA50030-BAC5-450B-B759-45842F56A729}">
      <dgm:prSet/>
      <dgm:spPr/>
      <dgm:t>
        <a:bodyPr/>
        <a:lstStyle/>
        <a:p>
          <a:endParaRPr lang="en-US"/>
        </a:p>
      </dgm:t>
    </dgm:pt>
    <dgm:pt modelId="{BB9A2013-895F-403B-9998-CA60D1D57309}" type="sibTrans" cxnId="{BBA50030-BAC5-450B-B759-45842F56A729}">
      <dgm:prSet/>
      <dgm:spPr/>
      <dgm:t>
        <a:bodyPr/>
        <a:lstStyle/>
        <a:p>
          <a:endParaRPr lang="en-US"/>
        </a:p>
      </dgm:t>
    </dgm:pt>
    <dgm:pt modelId="{51BAECFF-7DEE-425F-BE98-59E724D18B59}">
      <dgm:prSet/>
      <dgm:spPr>
        <a:ln>
          <a:solidFill>
            <a:schemeClr val="tx1"/>
          </a:solidFill>
        </a:ln>
      </dgm:spPr>
      <dgm:t>
        <a:bodyPr/>
        <a:lstStyle/>
        <a:p>
          <a:r>
            <a:rPr lang="en-US" dirty="0">
              <a:latin typeface="Times New Roman" panose="02020603050405020304" pitchFamily="18" charset="0"/>
              <a:cs typeface="Times New Roman" panose="02020603050405020304" pitchFamily="18" charset="0"/>
            </a:rPr>
            <a:t>ML based solutions make it more accurate, reduces the cases of false alarms, and causes the caregivers to feel confident with the alerts that it indicates.</a:t>
          </a:r>
        </a:p>
      </dgm:t>
    </dgm:pt>
    <dgm:pt modelId="{A487D563-705F-4965-8F22-B072D4D0E7E4}" type="parTrans" cxnId="{2FF94F0A-138C-4203-B26A-517A422CC14A}">
      <dgm:prSet/>
      <dgm:spPr/>
      <dgm:t>
        <a:bodyPr/>
        <a:lstStyle/>
        <a:p>
          <a:endParaRPr lang="en-US"/>
        </a:p>
      </dgm:t>
    </dgm:pt>
    <dgm:pt modelId="{36CAA733-781B-4360-97D8-C1FE66C45FD1}" type="sibTrans" cxnId="{2FF94F0A-138C-4203-B26A-517A422CC14A}">
      <dgm:prSet/>
      <dgm:spPr/>
      <dgm:t>
        <a:bodyPr/>
        <a:lstStyle/>
        <a:p>
          <a:endParaRPr lang="en-US"/>
        </a:p>
      </dgm:t>
    </dgm:pt>
    <dgm:pt modelId="{7368816A-F017-624F-8F3E-7FFE30B60F3D}" type="pres">
      <dgm:prSet presAssocID="{98280584-B91C-4E91-9116-70E1504C56D4}" presName="hierChild1" presStyleCnt="0">
        <dgm:presLayoutVars>
          <dgm:chPref val="1"/>
          <dgm:dir/>
          <dgm:animOne val="branch"/>
          <dgm:animLvl val="lvl"/>
          <dgm:resizeHandles/>
        </dgm:presLayoutVars>
      </dgm:prSet>
      <dgm:spPr/>
    </dgm:pt>
    <dgm:pt modelId="{2890C396-5F93-E14B-B459-BA84161ED0BB}" type="pres">
      <dgm:prSet presAssocID="{AD4C4F97-8D3D-4D2E-A1F7-AC3FCAE374D1}" presName="hierRoot1" presStyleCnt="0"/>
      <dgm:spPr/>
    </dgm:pt>
    <dgm:pt modelId="{AA7660CA-3244-D944-BBDA-1A4E80F61562}" type="pres">
      <dgm:prSet presAssocID="{AD4C4F97-8D3D-4D2E-A1F7-AC3FCAE374D1}" presName="composite" presStyleCnt="0"/>
      <dgm:spPr/>
    </dgm:pt>
    <dgm:pt modelId="{AB803E2A-792E-AF4C-A3E2-D24865E755C8}" type="pres">
      <dgm:prSet presAssocID="{AD4C4F97-8D3D-4D2E-A1F7-AC3FCAE374D1}" presName="background" presStyleLbl="node0" presStyleIdx="0" presStyleCnt="3"/>
      <dgm:spPr>
        <a:solidFill>
          <a:schemeClr val="bg1">
            <a:lumMod val="75000"/>
          </a:schemeClr>
        </a:solidFill>
        <a:ln>
          <a:solidFill>
            <a:schemeClr val="tx1"/>
          </a:solidFill>
        </a:ln>
      </dgm:spPr>
    </dgm:pt>
    <dgm:pt modelId="{95440FE2-4C67-A048-88C3-233707F5368C}" type="pres">
      <dgm:prSet presAssocID="{AD4C4F97-8D3D-4D2E-A1F7-AC3FCAE374D1}" presName="text" presStyleLbl="fgAcc0" presStyleIdx="0" presStyleCnt="3">
        <dgm:presLayoutVars>
          <dgm:chPref val="3"/>
        </dgm:presLayoutVars>
      </dgm:prSet>
      <dgm:spPr/>
    </dgm:pt>
    <dgm:pt modelId="{58BD2B68-85C1-9C4B-9D03-EBC627391DF6}" type="pres">
      <dgm:prSet presAssocID="{AD4C4F97-8D3D-4D2E-A1F7-AC3FCAE374D1}" presName="hierChild2" presStyleCnt="0"/>
      <dgm:spPr/>
    </dgm:pt>
    <dgm:pt modelId="{CE0346AA-3FF8-5A45-871E-983F5389999B}" type="pres">
      <dgm:prSet presAssocID="{C8BDC1B1-5C57-4D7E-804E-92692599FD3C}" presName="hierRoot1" presStyleCnt="0"/>
      <dgm:spPr/>
    </dgm:pt>
    <dgm:pt modelId="{7C24451B-5D5B-A948-89DF-D647765733AE}" type="pres">
      <dgm:prSet presAssocID="{C8BDC1B1-5C57-4D7E-804E-92692599FD3C}" presName="composite" presStyleCnt="0"/>
      <dgm:spPr/>
    </dgm:pt>
    <dgm:pt modelId="{13A3B444-140A-9E48-A300-8EE2362F5786}" type="pres">
      <dgm:prSet presAssocID="{C8BDC1B1-5C57-4D7E-804E-92692599FD3C}" presName="background" presStyleLbl="node0" presStyleIdx="1" presStyleCnt="3"/>
      <dgm:spPr>
        <a:solidFill>
          <a:schemeClr val="bg1">
            <a:lumMod val="75000"/>
          </a:schemeClr>
        </a:solidFill>
      </dgm:spPr>
    </dgm:pt>
    <dgm:pt modelId="{0A7D9E7E-91BC-3A42-9956-CAC270D79D78}" type="pres">
      <dgm:prSet presAssocID="{C8BDC1B1-5C57-4D7E-804E-92692599FD3C}" presName="text" presStyleLbl="fgAcc0" presStyleIdx="1" presStyleCnt="3">
        <dgm:presLayoutVars>
          <dgm:chPref val="3"/>
        </dgm:presLayoutVars>
      </dgm:prSet>
      <dgm:spPr/>
    </dgm:pt>
    <dgm:pt modelId="{688D9EB8-944A-274D-93A2-CCBFCC893264}" type="pres">
      <dgm:prSet presAssocID="{C8BDC1B1-5C57-4D7E-804E-92692599FD3C}" presName="hierChild2" presStyleCnt="0"/>
      <dgm:spPr/>
    </dgm:pt>
    <dgm:pt modelId="{107886D7-16EA-1049-883D-7AF17FC7B57E}" type="pres">
      <dgm:prSet presAssocID="{51BAECFF-7DEE-425F-BE98-59E724D18B59}" presName="hierRoot1" presStyleCnt="0"/>
      <dgm:spPr/>
    </dgm:pt>
    <dgm:pt modelId="{206BC126-6F1B-EE4C-A726-9B090C888415}" type="pres">
      <dgm:prSet presAssocID="{51BAECFF-7DEE-425F-BE98-59E724D18B59}" presName="composite" presStyleCnt="0"/>
      <dgm:spPr/>
    </dgm:pt>
    <dgm:pt modelId="{E59F019D-AB4C-1947-A94C-94E3C87405C3}" type="pres">
      <dgm:prSet presAssocID="{51BAECFF-7DEE-425F-BE98-59E724D18B59}" presName="background" presStyleLbl="node0" presStyleIdx="2" presStyleCnt="3"/>
      <dgm:spPr>
        <a:solidFill>
          <a:schemeClr val="bg1">
            <a:lumMod val="75000"/>
          </a:schemeClr>
        </a:solidFill>
      </dgm:spPr>
    </dgm:pt>
    <dgm:pt modelId="{9097D039-749F-274A-BB2E-E3F88C7BA6EE}" type="pres">
      <dgm:prSet presAssocID="{51BAECFF-7DEE-425F-BE98-59E724D18B59}" presName="text" presStyleLbl="fgAcc0" presStyleIdx="2" presStyleCnt="3">
        <dgm:presLayoutVars>
          <dgm:chPref val="3"/>
        </dgm:presLayoutVars>
      </dgm:prSet>
      <dgm:spPr/>
    </dgm:pt>
    <dgm:pt modelId="{76E9020D-7379-8E4D-B22C-2D9E14CB7C12}" type="pres">
      <dgm:prSet presAssocID="{51BAECFF-7DEE-425F-BE98-59E724D18B59}" presName="hierChild2" presStyleCnt="0"/>
      <dgm:spPr/>
    </dgm:pt>
  </dgm:ptLst>
  <dgm:cxnLst>
    <dgm:cxn modelId="{2FF94F0A-138C-4203-B26A-517A422CC14A}" srcId="{98280584-B91C-4E91-9116-70E1504C56D4}" destId="{51BAECFF-7DEE-425F-BE98-59E724D18B59}" srcOrd="2" destOrd="0" parTransId="{A487D563-705F-4965-8F22-B072D4D0E7E4}" sibTransId="{36CAA733-781B-4360-97D8-C1FE66C45FD1}"/>
    <dgm:cxn modelId="{B15ED01E-2484-064D-AD18-6F1583DAF848}" type="presOf" srcId="{51BAECFF-7DEE-425F-BE98-59E724D18B59}" destId="{9097D039-749F-274A-BB2E-E3F88C7BA6EE}" srcOrd="0" destOrd="0" presId="urn:microsoft.com/office/officeart/2005/8/layout/hierarchy1"/>
    <dgm:cxn modelId="{BBA50030-BAC5-450B-B759-45842F56A729}" srcId="{98280584-B91C-4E91-9116-70E1504C56D4}" destId="{C8BDC1B1-5C57-4D7E-804E-92692599FD3C}" srcOrd="1" destOrd="0" parTransId="{A8369FF1-AF68-41B0-AE7D-D109E731FA3D}" sibTransId="{BB9A2013-895F-403B-9998-CA60D1D57309}"/>
    <dgm:cxn modelId="{EBED6E31-B25C-9941-9BF4-065F33CE904B}" type="presOf" srcId="{98280584-B91C-4E91-9116-70E1504C56D4}" destId="{7368816A-F017-624F-8F3E-7FFE30B60F3D}" srcOrd="0" destOrd="0" presId="urn:microsoft.com/office/officeart/2005/8/layout/hierarchy1"/>
    <dgm:cxn modelId="{30C8C257-4E93-824C-A80E-4A67D4186EE5}" type="presOf" srcId="{C8BDC1B1-5C57-4D7E-804E-92692599FD3C}" destId="{0A7D9E7E-91BC-3A42-9956-CAC270D79D78}" srcOrd="0" destOrd="0" presId="urn:microsoft.com/office/officeart/2005/8/layout/hierarchy1"/>
    <dgm:cxn modelId="{E69AF981-425B-405A-BFF8-E2D14849313F}" srcId="{98280584-B91C-4E91-9116-70E1504C56D4}" destId="{AD4C4F97-8D3D-4D2E-A1F7-AC3FCAE374D1}" srcOrd="0" destOrd="0" parTransId="{A71FB24D-15D4-494D-8D15-34CEB5F0C9D7}" sibTransId="{B37569E1-DEF2-4BDD-86F9-51BE41716447}"/>
    <dgm:cxn modelId="{3E6125BC-08A2-9444-815F-46C448796B77}" type="presOf" srcId="{AD4C4F97-8D3D-4D2E-A1F7-AC3FCAE374D1}" destId="{95440FE2-4C67-A048-88C3-233707F5368C}" srcOrd="0" destOrd="0" presId="urn:microsoft.com/office/officeart/2005/8/layout/hierarchy1"/>
    <dgm:cxn modelId="{4C9A18EE-3CE8-7142-8899-F6768E788908}" type="presParOf" srcId="{7368816A-F017-624F-8F3E-7FFE30B60F3D}" destId="{2890C396-5F93-E14B-B459-BA84161ED0BB}" srcOrd="0" destOrd="0" presId="urn:microsoft.com/office/officeart/2005/8/layout/hierarchy1"/>
    <dgm:cxn modelId="{EEB2E803-F0C3-8042-AE95-076CBDDC67D7}" type="presParOf" srcId="{2890C396-5F93-E14B-B459-BA84161ED0BB}" destId="{AA7660CA-3244-D944-BBDA-1A4E80F61562}" srcOrd="0" destOrd="0" presId="urn:microsoft.com/office/officeart/2005/8/layout/hierarchy1"/>
    <dgm:cxn modelId="{B13B43E4-8138-1140-A5E2-1F7424A51A9F}" type="presParOf" srcId="{AA7660CA-3244-D944-BBDA-1A4E80F61562}" destId="{AB803E2A-792E-AF4C-A3E2-D24865E755C8}" srcOrd="0" destOrd="0" presId="urn:microsoft.com/office/officeart/2005/8/layout/hierarchy1"/>
    <dgm:cxn modelId="{4DC913F1-594A-8B4C-B4D8-AA13A01D47AB}" type="presParOf" srcId="{AA7660CA-3244-D944-BBDA-1A4E80F61562}" destId="{95440FE2-4C67-A048-88C3-233707F5368C}" srcOrd="1" destOrd="0" presId="urn:microsoft.com/office/officeart/2005/8/layout/hierarchy1"/>
    <dgm:cxn modelId="{E37B82E9-3F83-C840-B510-E9356271CFCE}" type="presParOf" srcId="{2890C396-5F93-E14B-B459-BA84161ED0BB}" destId="{58BD2B68-85C1-9C4B-9D03-EBC627391DF6}" srcOrd="1" destOrd="0" presId="urn:microsoft.com/office/officeart/2005/8/layout/hierarchy1"/>
    <dgm:cxn modelId="{AB6B0167-D9C3-F04B-9463-1AD0AE3D6020}" type="presParOf" srcId="{7368816A-F017-624F-8F3E-7FFE30B60F3D}" destId="{CE0346AA-3FF8-5A45-871E-983F5389999B}" srcOrd="1" destOrd="0" presId="urn:microsoft.com/office/officeart/2005/8/layout/hierarchy1"/>
    <dgm:cxn modelId="{9F0E3098-ED3A-9D4C-8562-0AA96AB525D2}" type="presParOf" srcId="{CE0346AA-3FF8-5A45-871E-983F5389999B}" destId="{7C24451B-5D5B-A948-89DF-D647765733AE}" srcOrd="0" destOrd="0" presId="urn:microsoft.com/office/officeart/2005/8/layout/hierarchy1"/>
    <dgm:cxn modelId="{422BE27A-4701-1544-ACC7-C36F64522020}" type="presParOf" srcId="{7C24451B-5D5B-A948-89DF-D647765733AE}" destId="{13A3B444-140A-9E48-A300-8EE2362F5786}" srcOrd="0" destOrd="0" presId="urn:microsoft.com/office/officeart/2005/8/layout/hierarchy1"/>
    <dgm:cxn modelId="{57EF2337-7290-F242-AB83-B8543586F50C}" type="presParOf" srcId="{7C24451B-5D5B-A948-89DF-D647765733AE}" destId="{0A7D9E7E-91BC-3A42-9956-CAC270D79D78}" srcOrd="1" destOrd="0" presId="urn:microsoft.com/office/officeart/2005/8/layout/hierarchy1"/>
    <dgm:cxn modelId="{0AD795C6-2478-5945-9185-D881B58741B8}" type="presParOf" srcId="{CE0346AA-3FF8-5A45-871E-983F5389999B}" destId="{688D9EB8-944A-274D-93A2-CCBFCC893264}" srcOrd="1" destOrd="0" presId="urn:microsoft.com/office/officeart/2005/8/layout/hierarchy1"/>
    <dgm:cxn modelId="{45BD4DF5-ABCF-6645-9773-A4A81052C99F}" type="presParOf" srcId="{7368816A-F017-624F-8F3E-7FFE30B60F3D}" destId="{107886D7-16EA-1049-883D-7AF17FC7B57E}" srcOrd="2" destOrd="0" presId="urn:microsoft.com/office/officeart/2005/8/layout/hierarchy1"/>
    <dgm:cxn modelId="{9361E86C-E75A-B248-BD6E-EEBFC03CCA44}" type="presParOf" srcId="{107886D7-16EA-1049-883D-7AF17FC7B57E}" destId="{206BC126-6F1B-EE4C-A726-9B090C888415}" srcOrd="0" destOrd="0" presId="urn:microsoft.com/office/officeart/2005/8/layout/hierarchy1"/>
    <dgm:cxn modelId="{FFDFF793-D48F-EC46-A479-BCB020FC7202}" type="presParOf" srcId="{206BC126-6F1B-EE4C-A726-9B090C888415}" destId="{E59F019D-AB4C-1947-A94C-94E3C87405C3}" srcOrd="0" destOrd="0" presId="urn:microsoft.com/office/officeart/2005/8/layout/hierarchy1"/>
    <dgm:cxn modelId="{B8D45A71-79E2-BE44-878D-AFD46705DA81}" type="presParOf" srcId="{206BC126-6F1B-EE4C-A726-9B090C888415}" destId="{9097D039-749F-274A-BB2E-E3F88C7BA6EE}" srcOrd="1" destOrd="0" presId="urn:microsoft.com/office/officeart/2005/8/layout/hierarchy1"/>
    <dgm:cxn modelId="{2EFCDC80-DADF-0F40-851F-86F5018E76D7}" type="presParOf" srcId="{107886D7-16EA-1049-883D-7AF17FC7B57E}" destId="{76E9020D-7379-8E4D-B22C-2D9E14CB7C1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DFF855F-96D4-44DC-9584-705C6F126BE7}"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BCDDF8B-3710-4E65-8E3F-6DBD255852A4}">
      <dgm:prSet/>
      <dgm:spPr/>
      <dgm:t>
        <a:bodyPr/>
        <a:lstStyle/>
        <a:p>
          <a:pPr>
            <a:lnSpc>
              <a:spcPct val="100000"/>
            </a:lnSpc>
          </a:pPr>
          <a:r>
            <a:rPr lang="en-US" b="0" dirty="0">
              <a:latin typeface="Times New Roman" panose="02020603050405020304" pitchFamily="18" charset="0"/>
              <a:cs typeface="Times New Roman" panose="02020603050405020304" pitchFamily="18" charset="0"/>
            </a:rPr>
            <a:t>ML/DL, </a:t>
          </a:r>
          <a:r>
            <a:rPr lang="en-US" b="0" dirty="0" err="1">
              <a:latin typeface="Times New Roman" panose="02020603050405020304" pitchFamily="18" charset="0"/>
              <a:cs typeface="Times New Roman" panose="02020603050405020304" pitchFamily="18" charset="0"/>
            </a:rPr>
            <a:t>Numpy</a:t>
          </a:r>
          <a:r>
            <a:rPr lang="en-US" b="0" dirty="0">
              <a:latin typeface="Times New Roman" panose="02020603050405020304" pitchFamily="18" charset="0"/>
              <a:cs typeface="Times New Roman" panose="02020603050405020304" pitchFamily="18" charset="0"/>
            </a:rPr>
            <a:t>/Pandas,</a:t>
          </a:r>
        </a:p>
        <a:p>
          <a:pPr>
            <a:lnSpc>
              <a:spcPct val="100000"/>
            </a:lnSpc>
          </a:pPr>
          <a:r>
            <a:rPr lang="en-US" dirty="0"/>
            <a:t> </a:t>
          </a:r>
        </a:p>
      </dgm:t>
    </dgm:pt>
    <dgm:pt modelId="{20A9E973-8BD1-49B3-9D09-BF05D2FCECC5}" type="parTrans" cxnId="{479D05E4-B8FA-44F1-B00C-A065977A210A}">
      <dgm:prSet/>
      <dgm:spPr/>
      <dgm:t>
        <a:bodyPr/>
        <a:lstStyle/>
        <a:p>
          <a:endParaRPr lang="en-US"/>
        </a:p>
      </dgm:t>
    </dgm:pt>
    <dgm:pt modelId="{941E1393-149C-4E97-BDE7-5CCF1D2E2C5E}" type="sibTrans" cxnId="{479D05E4-B8FA-44F1-B00C-A065977A210A}">
      <dgm:prSet/>
      <dgm:spPr/>
      <dgm:t>
        <a:bodyPr/>
        <a:lstStyle/>
        <a:p>
          <a:pPr>
            <a:lnSpc>
              <a:spcPct val="100000"/>
            </a:lnSpc>
          </a:pPr>
          <a:endParaRPr lang="en-US"/>
        </a:p>
      </dgm:t>
    </dgm:pt>
    <dgm:pt modelId="{23D2C7F1-C5B8-48A6-BB2A-8F464BAA006B}">
      <dgm:prSet/>
      <dgm:spPr/>
      <dgm:t>
        <a:bodyPr/>
        <a:lstStyle/>
        <a:p>
          <a:pPr>
            <a:lnSpc>
              <a:spcPct val="100000"/>
            </a:lnSpc>
          </a:pPr>
          <a:r>
            <a:rPr lang="en-US" b="0" dirty="0">
              <a:latin typeface="Times New Roman" panose="02020603050405020304" pitchFamily="18" charset="0"/>
              <a:cs typeface="Times New Roman" panose="02020603050405020304" pitchFamily="18" charset="0"/>
            </a:rPr>
            <a:t>Serving: NVIDIA Triton (GPU) or ONNX Runtime/</a:t>
          </a:r>
          <a:r>
            <a:rPr lang="en-US" b="0" dirty="0" err="1">
              <a:latin typeface="Times New Roman" panose="02020603050405020304" pitchFamily="18" charset="0"/>
              <a:cs typeface="Times New Roman" panose="02020603050405020304" pitchFamily="18" charset="0"/>
            </a:rPr>
            <a:t>TFLite</a:t>
          </a:r>
          <a:r>
            <a:rPr lang="en-US" b="0" dirty="0">
              <a:latin typeface="Times New Roman" panose="02020603050405020304" pitchFamily="18" charset="0"/>
              <a:cs typeface="Times New Roman" panose="02020603050405020304" pitchFamily="18" charset="0"/>
            </a:rPr>
            <a:t> (edge)</a:t>
          </a:r>
        </a:p>
      </dgm:t>
    </dgm:pt>
    <dgm:pt modelId="{8012AA94-B631-408F-8A21-3FDA2C08ED3B}" type="parTrans" cxnId="{24174C28-3EB1-4E9B-B72C-CEA75CBAAF40}">
      <dgm:prSet/>
      <dgm:spPr/>
      <dgm:t>
        <a:bodyPr/>
        <a:lstStyle/>
        <a:p>
          <a:endParaRPr lang="en-US"/>
        </a:p>
      </dgm:t>
    </dgm:pt>
    <dgm:pt modelId="{05406251-63BB-460A-8256-2DEB3E0F98BA}" type="sibTrans" cxnId="{24174C28-3EB1-4E9B-B72C-CEA75CBAAF40}">
      <dgm:prSet/>
      <dgm:spPr/>
      <dgm:t>
        <a:bodyPr/>
        <a:lstStyle/>
        <a:p>
          <a:pPr>
            <a:lnSpc>
              <a:spcPct val="100000"/>
            </a:lnSpc>
          </a:pPr>
          <a:endParaRPr lang="en-US"/>
        </a:p>
      </dgm:t>
    </dgm:pt>
    <dgm:pt modelId="{ECB6885C-B55E-48C5-AB69-8BAF62EF0DFC}">
      <dgm:prSet/>
      <dgm:spPr/>
      <dgm:t>
        <a:bodyPr/>
        <a:lstStyle/>
        <a:p>
          <a:pPr>
            <a:lnSpc>
              <a:spcPct val="100000"/>
            </a:lnSpc>
          </a:pPr>
          <a:r>
            <a:rPr lang="en-US" b="0" dirty="0">
              <a:latin typeface="Times New Roman" panose="02020603050405020304" pitchFamily="18" charset="0"/>
              <a:cs typeface="Times New Roman" panose="02020603050405020304" pitchFamily="18" charset="0"/>
            </a:rPr>
            <a:t>Streaming: Streamlit &amp; GitHub</a:t>
          </a:r>
        </a:p>
        <a:p>
          <a:pPr>
            <a:lnSpc>
              <a:spcPct val="100000"/>
            </a:lnSpc>
          </a:pPr>
          <a:endParaRPr lang="en-US" dirty="0"/>
        </a:p>
      </dgm:t>
    </dgm:pt>
    <dgm:pt modelId="{729CE13D-D42F-47A4-BA74-3EFE1AD9263D}" type="parTrans" cxnId="{BBF6AC90-09FB-4A56-AFEE-7E79EA307E20}">
      <dgm:prSet/>
      <dgm:spPr/>
      <dgm:t>
        <a:bodyPr/>
        <a:lstStyle/>
        <a:p>
          <a:endParaRPr lang="en-US"/>
        </a:p>
      </dgm:t>
    </dgm:pt>
    <dgm:pt modelId="{50E320DD-CCF1-4DED-9FE8-D638141042D8}" type="sibTrans" cxnId="{BBF6AC90-09FB-4A56-AFEE-7E79EA307E20}">
      <dgm:prSet/>
      <dgm:spPr/>
      <dgm:t>
        <a:bodyPr/>
        <a:lstStyle/>
        <a:p>
          <a:pPr>
            <a:lnSpc>
              <a:spcPct val="100000"/>
            </a:lnSpc>
          </a:pPr>
          <a:endParaRPr lang="en-US"/>
        </a:p>
      </dgm:t>
    </dgm:pt>
    <dgm:pt modelId="{3C426BE0-D066-4430-9B18-6A439CEB4D83}">
      <dgm:prSet/>
      <dgm:spPr/>
      <dgm:t>
        <a:bodyPr/>
        <a:lstStyle/>
        <a:p>
          <a:pPr>
            <a:lnSpc>
              <a:spcPct val="100000"/>
            </a:lnSpc>
          </a:pPr>
          <a:r>
            <a:rPr lang="en-US" b="0" dirty="0">
              <a:latin typeface="Times New Roman" panose="02020603050405020304" pitchFamily="18" charset="0"/>
              <a:cs typeface="Times New Roman" panose="02020603050405020304" pitchFamily="18" charset="0"/>
            </a:rPr>
            <a:t>APIs/UI: </a:t>
          </a:r>
          <a:r>
            <a:rPr lang="en-US" b="0" dirty="0" err="1">
              <a:latin typeface="Times New Roman" panose="02020603050405020304" pitchFamily="18" charset="0"/>
              <a:cs typeface="Times New Roman" panose="02020603050405020304" pitchFamily="18" charset="0"/>
            </a:rPr>
            <a:t>FastAPI</a:t>
          </a:r>
          <a:r>
            <a:rPr lang="en-US" b="0" dirty="0">
              <a:latin typeface="Times New Roman" panose="02020603050405020304" pitchFamily="18" charset="0"/>
              <a:cs typeface="Times New Roman" panose="02020603050405020304" pitchFamily="18" charset="0"/>
            </a:rPr>
            <a:t> (REST + SSE), React/</a:t>
          </a:r>
          <a:r>
            <a:rPr lang="en-US" b="0" dirty="0" err="1">
              <a:latin typeface="Times New Roman" panose="02020603050405020304" pitchFamily="18" charset="0"/>
              <a:cs typeface="Times New Roman" panose="02020603050405020304" pitchFamily="18" charset="0"/>
            </a:rPr>
            <a:t>Next.js</a:t>
          </a:r>
          <a:r>
            <a:rPr lang="en-US" b="0" dirty="0">
              <a:latin typeface="Times New Roman" panose="02020603050405020304" pitchFamily="18" charset="0"/>
              <a:cs typeface="Times New Roman" panose="02020603050405020304" pitchFamily="18" charset="0"/>
            </a:rPr>
            <a:t> (dashboard)</a:t>
          </a:r>
        </a:p>
      </dgm:t>
    </dgm:pt>
    <dgm:pt modelId="{6F27E4DF-BCB0-4196-B18A-A6876FC1918E}" type="parTrans" cxnId="{DE08D809-1965-443D-8099-EE6C708A18D6}">
      <dgm:prSet/>
      <dgm:spPr/>
      <dgm:t>
        <a:bodyPr/>
        <a:lstStyle/>
        <a:p>
          <a:endParaRPr lang="en-US"/>
        </a:p>
      </dgm:t>
    </dgm:pt>
    <dgm:pt modelId="{4FC992DE-8CC7-4E2E-933A-151B16280FAB}" type="sibTrans" cxnId="{DE08D809-1965-443D-8099-EE6C708A18D6}">
      <dgm:prSet/>
      <dgm:spPr/>
      <dgm:t>
        <a:bodyPr/>
        <a:lstStyle/>
        <a:p>
          <a:pPr>
            <a:lnSpc>
              <a:spcPct val="100000"/>
            </a:lnSpc>
          </a:pPr>
          <a:endParaRPr lang="en-US"/>
        </a:p>
      </dgm:t>
    </dgm:pt>
    <dgm:pt modelId="{D925AB20-FAF0-47F6-B4A9-886B7C4428F1}">
      <dgm:prSet/>
      <dgm:spPr/>
      <dgm:t>
        <a:bodyPr/>
        <a:lstStyle/>
        <a:p>
          <a:pPr>
            <a:lnSpc>
              <a:spcPct val="100000"/>
            </a:lnSpc>
          </a:pPr>
          <a:r>
            <a:rPr lang="en-US" b="0" dirty="0">
              <a:latin typeface="Times New Roman" panose="02020603050405020304" pitchFamily="18" charset="0"/>
              <a:cs typeface="Times New Roman" panose="02020603050405020304" pitchFamily="18" charset="0"/>
            </a:rPr>
            <a:t>EHR: SMART on FHIR bridge (Observations, Detected Issues)</a:t>
          </a:r>
        </a:p>
      </dgm:t>
    </dgm:pt>
    <dgm:pt modelId="{C1457B99-86B7-4349-85C3-B2E5EC7C9D77}" type="parTrans" cxnId="{1B02D8AE-14F3-494D-857D-A26C7D8649A1}">
      <dgm:prSet/>
      <dgm:spPr/>
      <dgm:t>
        <a:bodyPr/>
        <a:lstStyle/>
        <a:p>
          <a:endParaRPr lang="en-US"/>
        </a:p>
      </dgm:t>
    </dgm:pt>
    <dgm:pt modelId="{AE5F9B69-2862-4A0F-B5F9-3C4A0C550FE4}" type="sibTrans" cxnId="{1B02D8AE-14F3-494D-857D-A26C7D8649A1}">
      <dgm:prSet/>
      <dgm:spPr/>
      <dgm:t>
        <a:bodyPr/>
        <a:lstStyle/>
        <a:p>
          <a:endParaRPr lang="en-US"/>
        </a:p>
      </dgm:t>
    </dgm:pt>
    <dgm:pt modelId="{3D0BE665-FDA3-0C46-8B54-C55CBCB16476}">
      <dgm:prSet/>
      <dgm:spPr/>
      <dgm:t>
        <a:bodyPr/>
        <a:lstStyle/>
        <a:p>
          <a:pPr>
            <a:lnSpc>
              <a:spcPct val="100000"/>
            </a:lnSpc>
          </a:pPr>
          <a:r>
            <a:rPr lang="en-US" dirty="0">
              <a:latin typeface="Times New Roman" panose="02020603050405020304" pitchFamily="18" charset="0"/>
              <a:cs typeface="Times New Roman" panose="02020603050405020304" pitchFamily="18" charset="0"/>
            </a:rPr>
            <a:t> Virtual Studio Code</a:t>
          </a:r>
        </a:p>
      </dgm:t>
    </dgm:pt>
    <dgm:pt modelId="{947D7739-E83A-0C4A-8E7A-173B4D3C24CF}" type="parTrans" cxnId="{794CEE10-5864-B047-B87D-EC2E9FA2227E}">
      <dgm:prSet/>
      <dgm:spPr/>
      <dgm:t>
        <a:bodyPr/>
        <a:lstStyle/>
        <a:p>
          <a:endParaRPr lang="en-US"/>
        </a:p>
      </dgm:t>
    </dgm:pt>
    <dgm:pt modelId="{354237DD-6992-C346-ADDB-2EA5FFC5C388}" type="sibTrans" cxnId="{794CEE10-5864-B047-B87D-EC2E9FA2227E}">
      <dgm:prSet/>
      <dgm:spPr/>
      <dgm:t>
        <a:bodyPr/>
        <a:lstStyle/>
        <a:p>
          <a:pPr>
            <a:lnSpc>
              <a:spcPct val="100000"/>
            </a:lnSpc>
          </a:pPr>
          <a:endParaRPr lang="en-US"/>
        </a:p>
      </dgm:t>
    </dgm:pt>
    <dgm:pt modelId="{949CFB69-B811-4CE0-B41A-F7F3E085B76D}" type="pres">
      <dgm:prSet presAssocID="{CDFF855F-96D4-44DC-9584-705C6F126BE7}" presName="root" presStyleCnt="0">
        <dgm:presLayoutVars>
          <dgm:dir/>
          <dgm:resizeHandles val="exact"/>
        </dgm:presLayoutVars>
      </dgm:prSet>
      <dgm:spPr/>
    </dgm:pt>
    <dgm:pt modelId="{ED04AAF1-8E1E-42A9-9566-8C12C8C8D63C}" type="pres">
      <dgm:prSet presAssocID="{CDFF855F-96D4-44DC-9584-705C6F126BE7}" presName="container" presStyleCnt="0">
        <dgm:presLayoutVars>
          <dgm:dir/>
          <dgm:resizeHandles val="exact"/>
        </dgm:presLayoutVars>
      </dgm:prSet>
      <dgm:spPr/>
    </dgm:pt>
    <dgm:pt modelId="{39FB9347-933C-4C49-B083-F5343110BCB9}" type="pres">
      <dgm:prSet presAssocID="{3BCDDF8B-3710-4E65-8E3F-6DBD255852A4}" presName="compNode" presStyleCnt="0"/>
      <dgm:spPr/>
    </dgm:pt>
    <dgm:pt modelId="{DC8AFECA-11AC-4DEC-AAE2-110B8B4A8403}" type="pres">
      <dgm:prSet presAssocID="{3BCDDF8B-3710-4E65-8E3F-6DBD255852A4}" presName="iconBgRect" presStyleLbl="bgShp" presStyleIdx="0" presStyleCnt="6"/>
      <dgm:spPr>
        <a:solidFill>
          <a:schemeClr val="bg1">
            <a:lumMod val="75000"/>
          </a:schemeClr>
        </a:solidFill>
      </dgm:spPr>
    </dgm:pt>
    <dgm:pt modelId="{513880F2-AC83-4B53-A333-EE82C331B948}" type="pres">
      <dgm:prSet presAssocID="{3BCDDF8B-3710-4E65-8E3F-6DBD255852A4}"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odcast"/>
        </a:ext>
      </dgm:extLst>
    </dgm:pt>
    <dgm:pt modelId="{C72711CA-CCF5-4C92-871C-B86560B697B2}" type="pres">
      <dgm:prSet presAssocID="{3BCDDF8B-3710-4E65-8E3F-6DBD255852A4}" presName="spaceRect" presStyleCnt="0"/>
      <dgm:spPr/>
    </dgm:pt>
    <dgm:pt modelId="{F6129AE9-0B0B-4293-B2BC-245683761B19}" type="pres">
      <dgm:prSet presAssocID="{3BCDDF8B-3710-4E65-8E3F-6DBD255852A4}" presName="textRect" presStyleLbl="revTx" presStyleIdx="0" presStyleCnt="6">
        <dgm:presLayoutVars>
          <dgm:chMax val="1"/>
          <dgm:chPref val="1"/>
        </dgm:presLayoutVars>
      </dgm:prSet>
      <dgm:spPr/>
    </dgm:pt>
    <dgm:pt modelId="{6C2FAE80-8732-4148-B3A6-7F26BA2BF056}" type="pres">
      <dgm:prSet presAssocID="{941E1393-149C-4E97-BDE7-5CCF1D2E2C5E}" presName="sibTrans" presStyleLbl="sibTrans2D1" presStyleIdx="0" presStyleCnt="0"/>
      <dgm:spPr/>
    </dgm:pt>
    <dgm:pt modelId="{568885BB-6FB0-EC4A-8828-28713EC855F6}" type="pres">
      <dgm:prSet presAssocID="{3D0BE665-FDA3-0C46-8B54-C55CBCB16476}" presName="compNode" presStyleCnt="0"/>
      <dgm:spPr/>
    </dgm:pt>
    <dgm:pt modelId="{47B0561B-123C-524D-94CA-755377CEB95C}" type="pres">
      <dgm:prSet presAssocID="{3D0BE665-FDA3-0C46-8B54-C55CBCB16476}" presName="iconBgRect" presStyleLbl="bgShp" presStyleIdx="1" presStyleCnt="6"/>
      <dgm:spPr>
        <a:solidFill>
          <a:schemeClr val="bg1">
            <a:lumMod val="75000"/>
          </a:schemeClr>
        </a:solidFill>
      </dgm:spPr>
    </dgm:pt>
    <dgm:pt modelId="{FDE39B48-3F6A-F244-A24C-67A65F7D10D1}" type="pres">
      <dgm:prSet presAssocID="{3D0BE665-FDA3-0C46-8B54-C55CBCB16476}" presName="iconRect" presStyleLbl="node1" presStyleIdx="1" presStyleCnt="6" custScaleX="101661"/>
      <dgm:spPr>
        <a:blipFill>
          <a:blip xmlns:r="http://schemas.openxmlformats.org/officeDocument/2006/relationships" r:embed="rId3"/>
          <a:srcRect/>
          <a:stretch>
            <a:fillRect l="-29000" r="-29000"/>
          </a:stretch>
        </a:blipFill>
      </dgm:spPr>
    </dgm:pt>
    <dgm:pt modelId="{1846DD01-779F-2B48-8DC2-F55AEAFB097A}" type="pres">
      <dgm:prSet presAssocID="{3D0BE665-FDA3-0C46-8B54-C55CBCB16476}" presName="spaceRect" presStyleCnt="0"/>
      <dgm:spPr/>
    </dgm:pt>
    <dgm:pt modelId="{99FA2420-E20B-B34F-9E9C-0227DF88C6DF}" type="pres">
      <dgm:prSet presAssocID="{3D0BE665-FDA3-0C46-8B54-C55CBCB16476}" presName="textRect" presStyleLbl="revTx" presStyleIdx="1" presStyleCnt="6">
        <dgm:presLayoutVars>
          <dgm:chMax val="1"/>
          <dgm:chPref val="1"/>
        </dgm:presLayoutVars>
      </dgm:prSet>
      <dgm:spPr/>
    </dgm:pt>
    <dgm:pt modelId="{AA1D6EBE-CBA8-BE45-BF55-8AEC9D959EFB}" type="pres">
      <dgm:prSet presAssocID="{354237DD-6992-C346-ADDB-2EA5FFC5C388}" presName="sibTrans" presStyleLbl="sibTrans2D1" presStyleIdx="0" presStyleCnt="0"/>
      <dgm:spPr/>
    </dgm:pt>
    <dgm:pt modelId="{0EFB75C7-647F-4A49-89B7-9EEF00A047AF}" type="pres">
      <dgm:prSet presAssocID="{23D2C7F1-C5B8-48A6-BB2A-8F464BAA006B}" presName="compNode" presStyleCnt="0"/>
      <dgm:spPr/>
    </dgm:pt>
    <dgm:pt modelId="{7999EC68-9D40-46CC-8FEF-80E49AE8A9E0}" type="pres">
      <dgm:prSet presAssocID="{23D2C7F1-C5B8-48A6-BB2A-8F464BAA006B}" presName="iconBgRect" presStyleLbl="bgShp" presStyleIdx="2" presStyleCnt="6"/>
      <dgm:spPr>
        <a:solidFill>
          <a:schemeClr val="bg1">
            <a:lumMod val="75000"/>
          </a:schemeClr>
        </a:solidFill>
      </dgm:spPr>
    </dgm:pt>
    <dgm:pt modelId="{7ABB208F-EA57-481F-8D57-C860EB22AD34}" type="pres">
      <dgm:prSet presAssocID="{23D2C7F1-C5B8-48A6-BB2A-8F464BAA006B}" presName="iconRect" presStyleLbl="node1" presStyleIdx="2" presStyleCnt="6"/>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Processor"/>
        </a:ext>
      </dgm:extLst>
    </dgm:pt>
    <dgm:pt modelId="{D593AE4E-DCFE-42B9-8BD0-7180428856BF}" type="pres">
      <dgm:prSet presAssocID="{23D2C7F1-C5B8-48A6-BB2A-8F464BAA006B}" presName="spaceRect" presStyleCnt="0"/>
      <dgm:spPr/>
    </dgm:pt>
    <dgm:pt modelId="{E07BC5C9-EDF7-449C-BCFD-27EA5F18F1D4}" type="pres">
      <dgm:prSet presAssocID="{23D2C7F1-C5B8-48A6-BB2A-8F464BAA006B}" presName="textRect" presStyleLbl="revTx" presStyleIdx="2" presStyleCnt="6">
        <dgm:presLayoutVars>
          <dgm:chMax val="1"/>
          <dgm:chPref val="1"/>
        </dgm:presLayoutVars>
      </dgm:prSet>
      <dgm:spPr/>
    </dgm:pt>
    <dgm:pt modelId="{FB776D01-2D5B-4851-8FCC-FD507FD721BF}" type="pres">
      <dgm:prSet presAssocID="{05406251-63BB-460A-8256-2DEB3E0F98BA}" presName="sibTrans" presStyleLbl="sibTrans2D1" presStyleIdx="0" presStyleCnt="0"/>
      <dgm:spPr/>
    </dgm:pt>
    <dgm:pt modelId="{F8F0DC24-4058-44C4-9549-B4E8BCCCE921}" type="pres">
      <dgm:prSet presAssocID="{ECB6885C-B55E-48C5-AB69-8BAF62EF0DFC}" presName="compNode" presStyleCnt="0"/>
      <dgm:spPr/>
    </dgm:pt>
    <dgm:pt modelId="{F0379356-C5D3-4A6C-A430-3B3777AC483B}" type="pres">
      <dgm:prSet presAssocID="{ECB6885C-B55E-48C5-AB69-8BAF62EF0DFC}" presName="iconBgRect" presStyleLbl="bgShp" presStyleIdx="3" presStyleCnt="6"/>
      <dgm:spPr>
        <a:solidFill>
          <a:schemeClr val="bg1">
            <a:lumMod val="75000"/>
          </a:schemeClr>
        </a:solidFill>
      </dgm:spPr>
    </dgm:pt>
    <dgm:pt modelId="{19AB4830-A118-437A-8DE4-CEC1E7F2B0DB}" type="pres">
      <dgm:prSet presAssocID="{ECB6885C-B55E-48C5-AB69-8BAF62EF0DFC}" presName="iconRect" presStyleLbl="node1" presStyleIdx="3" presStyleCnt="6"/>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Subtitles"/>
        </a:ext>
      </dgm:extLst>
    </dgm:pt>
    <dgm:pt modelId="{FFC9145A-F73C-41F2-B5D3-617902302B50}" type="pres">
      <dgm:prSet presAssocID="{ECB6885C-B55E-48C5-AB69-8BAF62EF0DFC}" presName="spaceRect" presStyleCnt="0"/>
      <dgm:spPr/>
    </dgm:pt>
    <dgm:pt modelId="{43AD0110-D205-4CB5-8631-C3AE118A8D70}" type="pres">
      <dgm:prSet presAssocID="{ECB6885C-B55E-48C5-AB69-8BAF62EF0DFC}" presName="textRect" presStyleLbl="revTx" presStyleIdx="3" presStyleCnt="6">
        <dgm:presLayoutVars>
          <dgm:chMax val="1"/>
          <dgm:chPref val="1"/>
        </dgm:presLayoutVars>
      </dgm:prSet>
      <dgm:spPr/>
    </dgm:pt>
    <dgm:pt modelId="{1173B46F-967E-45BA-8BE2-CF3476124E23}" type="pres">
      <dgm:prSet presAssocID="{50E320DD-CCF1-4DED-9FE8-D638141042D8}" presName="sibTrans" presStyleLbl="sibTrans2D1" presStyleIdx="0" presStyleCnt="0"/>
      <dgm:spPr/>
    </dgm:pt>
    <dgm:pt modelId="{6ECC997C-3372-4241-9FFD-7893DC6BA73A}" type="pres">
      <dgm:prSet presAssocID="{3C426BE0-D066-4430-9B18-6A439CEB4D83}" presName="compNode" presStyleCnt="0"/>
      <dgm:spPr/>
    </dgm:pt>
    <dgm:pt modelId="{3FE385AE-1C3A-46A7-B560-57D9D566500F}" type="pres">
      <dgm:prSet presAssocID="{3C426BE0-D066-4430-9B18-6A439CEB4D83}" presName="iconBgRect" presStyleLbl="bgShp" presStyleIdx="4" presStyleCnt="6"/>
      <dgm:spPr>
        <a:solidFill>
          <a:schemeClr val="bg1">
            <a:lumMod val="75000"/>
          </a:schemeClr>
        </a:solidFill>
      </dgm:spPr>
    </dgm:pt>
    <dgm:pt modelId="{04B0A5D7-18AF-4A0E-B95A-2B4475445341}" type="pres">
      <dgm:prSet presAssocID="{3C426BE0-D066-4430-9B18-6A439CEB4D83}" presName="iconRect" presStyleLbl="node1" presStyleIdx="4" presStyleCnt="6"/>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Web Design"/>
        </a:ext>
      </dgm:extLst>
    </dgm:pt>
    <dgm:pt modelId="{FAD9545E-BEBF-4245-B1E8-287D2FC439BA}" type="pres">
      <dgm:prSet presAssocID="{3C426BE0-D066-4430-9B18-6A439CEB4D83}" presName="spaceRect" presStyleCnt="0"/>
      <dgm:spPr/>
    </dgm:pt>
    <dgm:pt modelId="{C01CCA47-ECA0-4703-8EF6-D84FE9FA4994}" type="pres">
      <dgm:prSet presAssocID="{3C426BE0-D066-4430-9B18-6A439CEB4D83}" presName="textRect" presStyleLbl="revTx" presStyleIdx="4" presStyleCnt="6">
        <dgm:presLayoutVars>
          <dgm:chMax val="1"/>
          <dgm:chPref val="1"/>
        </dgm:presLayoutVars>
      </dgm:prSet>
      <dgm:spPr/>
    </dgm:pt>
    <dgm:pt modelId="{919C4BC1-5469-42E0-8A49-A8DB403E4675}" type="pres">
      <dgm:prSet presAssocID="{4FC992DE-8CC7-4E2E-933A-151B16280FAB}" presName="sibTrans" presStyleLbl="sibTrans2D1" presStyleIdx="0" presStyleCnt="0"/>
      <dgm:spPr/>
    </dgm:pt>
    <dgm:pt modelId="{938AD7B4-06D9-4172-8FE6-B23DB80890B8}" type="pres">
      <dgm:prSet presAssocID="{D925AB20-FAF0-47F6-B4A9-886B7C4428F1}" presName="compNode" presStyleCnt="0"/>
      <dgm:spPr/>
    </dgm:pt>
    <dgm:pt modelId="{DC03B542-E6C7-4548-A3A7-0AD2B9FD58C2}" type="pres">
      <dgm:prSet presAssocID="{D925AB20-FAF0-47F6-B4A9-886B7C4428F1}" presName="iconBgRect" presStyleLbl="bgShp" presStyleIdx="5" presStyleCnt="6"/>
      <dgm:spPr>
        <a:solidFill>
          <a:schemeClr val="bg1">
            <a:lumMod val="75000"/>
          </a:schemeClr>
        </a:solidFill>
      </dgm:spPr>
    </dgm:pt>
    <dgm:pt modelId="{4A5D70EF-A153-4687-8D83-53674D365D48}" type="pres">
      <dgm:prSet presAssocID="{D925AB20-FAF0-47F6-B4A9-886B7C4428F1}" presName="iconRect" presStyleLbl="node1" presStyleIdx="5" presStyleCnt="6"/>
      <dgm:spPr>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dgm:spPr>
      <dgm:extLst>
        <a:ext uri="{E40237B7-FDA0-4F09-8148-C483321AD2D9}">
          <dgm14:cNvPr xmlns:dgm14="http://schemas.microsoft.com/office/drawing/2010/diagram" id="0" name="" descr="Bridge scene"/>
        </a:ext>
      </dgm:extLst>
    </dgm:pt>
    <dgm:pt modelId="{A6EE39DA-1D4A-47F6-8E34-920732627A85}" type="pres">
      <dgm:prSet presAssocID="{D925AB20-FAF0-47F6-B4A9-886B7C4428F1}" presName="spaceRect" presStyleCnt="0"/>
      <dgm:spPr/>
    </dgm:pt>
    <dgm:pt modelId="{121A6228-D885-4CBA-8653-4CC40C82615F}" type="pres">
      <dgm:prSet presAssocID="{D925AB20-FAF0-47F6-B4A9-886B7C4428F1}" presName="textRect" presStyleLbl="revTx" presStyleIdx="5" presStyleCnt="6">
        <dgm:presLayoutVars>
          <dgm:chMax val="1"/>
          <dgm:chPref val="1"/>
        </dgm:presLayoutVars>
      </dgm:prSet>
      <dgm:spPr/>
    </dgm:pt>
  </dgm:ptLst>
  <dgm:cxnLst>
    <dgm:cxn modelId="{DE08D809-1965-443D-8099-EE6C708A18D6}" srcId="{CDFF855F-96D4-44DC-9584-705C6F126BE7}" destId="{3C426BE0-D066-4430-9B18-6A439CEB4D83}" srcOrd="4" destOrd="0" parTransId="{6F27E4DF-BCB0-4196-B18A-A6876FC1918E}" sibTransId="{4FC992DE-8CC7-4E2E-933A-151B16280FAB}"/>
    <dgm:cxn modelId="{7907910E-D847-4E37-AA99-5A4AD6627087}" type="presOf" srcId="{50E320DD-CCF1-4DED-9FE8-D638141042D8}" destId="{1173B46F-967E-45BA-8BE2-CF3476124E23}" srcOrd="0" destOrd="0" presId="urn:microsoft.com/office/officeart/2018/2/layout/IconCircleList"/>
    <dgm:cxn modelId="{794CEE10-5864-B047-B87D-EC2E9FA2227E}" srcId="{CDFF855F-96D4-44DC-9584-705C6F126BE7}" destId="{3D0BE665-FDA3-0C46-8B54-C55CBCB16476}" srcOrd="1" destOrd="0" parTransId="{947D7739-E83A-0C4A-8E7A-173B4D3C24CF}" sibTransId="{354237DD-6992-C346-ADDB-2EA5FFC5C388}"/>
    <dgm:cxn modelId="{2C88B219-B38E-7746-B8BB-42C463EB5CE8}" type="presOf" srcId="{3D0BE665-FDA3-0C46-8B54-C55CBCB16476}" destId="{99FA2420-E20B-B34F-9E9C-0227DF88C6DF}" srcOrd="0" destOrd="0" presId="urn:microsoft.com/office/officeart/2018/2/layout/IconCircleList"/>
    <dgm:cxn modelId="{B6D81624-D8A2-41DA-A808-4DF6582E05E2}" type="presOf" srcId="{4FC992DE-8CC7-4E2E-933A-151B16280FAB}" destId="{919C4BC1-5469-42E0-8A49-A8DB403E4675}" srcOrd="0" destOrd="0" presId="urn:microsoft.com/office/officeart/2018/2/layout/IconCircleList"/>
    <dgm:cxn modelId="{24174C28-3EB1-4E9B-B72C-CEA75CBAAF40}" srcId="{CDFF855F-96D4-44DC-9584-705C6F126BE7}" destId="{23D2C7F1-C5B8-48A6-BB2A-8F464BAA006B}" srcOrd="2" destOrd="0" parTransId="{8012AA94-B631-408F-8A21-3FDA2C08ED3B}" sibTransId="{05406251-63BB-460A-8256-2DEB3E0F98BA}"/>
    <dgm:cxn modelId="{897C3A2D-364E-47AC-A9C7-1131BF0C51D8}" type="presOf" srcId="{3BCDDF8B-3710-4E65-8E3F-6DBD255852A4}" destId="{F6129AE9-0B0B-4293-B2BC-245683761B19}" srcOrd="0" destOrd="0" presId="urn:microsoft.com/office/officeart/2018/2/layout/IconCircleList"/>
    <dgm:cxn modelId="{98DDC52F-F58B-40E1-A1EC-7FDDFC3E5291}" type="presOf" srcId="{941E1393-149C-4E97-BDE7-5CCF1D2E2C5E}" destId="{6C2FAE80-8732-4148-B3A6-7F26BA2BF056}" srcOrd="0" destOrd="0" presId="urn:microsoft.com/office/officeart/2018/2/layout/IconCircleList"/>
    <dgm:cxn modelId="{A48B843E-CBB4-4ECF-A0CB-C48DA5D9E9FC}" type="presOf" srcId="{CDFF855F-96D4-44DC-9584-705C6F126BE7}" destId="{949CFB69-B811-4CE0-B41A-F7F3E085B76D}" srcOrd="0" destOrd="0" presId="urn:microsoft.com/office/officeart/2018/2/layout/IconCircleList"/>
    <dgm:cxn modelId="{44E69849-84A5-4C66-B996-B04C1AE6BFED}" type="presOf" srcId="{05406251-63BB-460A-8256-2DEB3E0F98BA}" destId="{FB776D01-2D5B-4851-8FCC-FD507FD721BF}" srcOrd="0" destOrd="0" presId="urn:microsoft.com/office/officeart/2018/2/layout/IconCircleList"/>
    <dgm:cxn modelId="{A9FC0457-468C-CE47-9082-5CE35393EF91}" type="presOf" srcId="{354237DD-6992-C346-ADDB-2EA5FFC5C388}" destId="{AA1D6EBE-CBA8-BE45-BF55-8AEC9D959EFB}" srcOrd="0" destOrd="0" presId="urn:microsoft.com/office/officeart/2018/2/layout/IconCircleList"/>
    <dgm:cxn modelId="{D18D0B6B-759D-4567-A1F0-A543B1C611FD}" type="presOf" srcId="{3C426BE0-D066-4430-9B18-6A439CEB4D83}" destId="{C01CCA47-ECA0-4703-8EF6-D84FE9FA4994}" srcOrd="0" destOrd="0" presId="urn:microsoft.com/office/officeart/2018/2/layout/IconCircleList"/>
    <dgm:cxn modelId="{BBF6AC90-09FB-4A56-AFEE-7E79EA307E20}" srcId="{CDFF855F-96D4-44DC-9584-705C6F126BE7}" destId="{ECB6885C-B55E-48C5-AB69-8BAF62EF0DFC}" srcOrd="3" destOrd="0" parTransId="{729CE13D-D42F-47A4-BA74-3EFE1AD9263D}" sibTransId="{50E320DD-CCF1-4DED-9FE8-D638141042D8}"/>
    <dgm:cxn modelId="{012E7EA6-543F-4524-8988-B40F69428E33}" type="presOf" srcId="{D925AB20-FAF0-47F6-B4A9-886B7C4428F1}" destId="{121A6228-D885-4CBA-8653-4CC40C82615F}" srcOrd="0" destOrd="0" presId="urn:microsoft.com/office/officeart/2018/2/layout/IconCircleList"/>
    <dgm:cxn modelId="{1DC883AE-EE58-441D-87BB-6E330964B125}" type="presOf" srcId="{ECB6885C-B55E-48C5-AB69-8BAF62EF0DFC}" destId="{43AD0110-D205-4CB5-8631-C3AE118A8D70}" srcOrd="0" destOrd="0" presId="urn:microsoft.com/office/officeart/2018/2/layout/IconCircleList"/>
    <dgm:cxn modelId="{1B02D8AE-14F3-494D-857D-A26C7D8649A1}" srcId="{CDFF855F-96D4-44DC-9584-705C6F126BE7}" destId="{D925AB20-FAF0-47F6-B4A9-886B7C4428F1}" srcOrd="5" destOrd="0" parTransId="{C1457B99-86B7-4349-85C3-B2E5EC7C9D77}" sibTransId="{AE5F9B69-2862-4A0F-B5F9-3C4A0C550FE4}"/>
    <dgm:cxn modelId="{A242C9D6-5608-480C-BB15-755A08998488}" type="presOf" srcId="{23D2C7F1-C5B8-48A6-BB2A-8F464BAA006B}" destId="{E07BC5C9-EDF7-449C-BCFD-27EA5F18F1D4}" srcOrd="0" destOrd="0" presId="urn:microsoft.com/office/officeart/2018/2/layout/IconCircleList"/>
    <dgm:cxn modelId="{479D05E4-B8FA-44F1-B00C-A065977A210A}" srcId="{CDFF855F-96D4-44DC-9584-705C6F126BE7}" destId="{3BCDDF8B-3710-4E65-8E3F-6DBD255852A4}" srcOrd="0" destOrd="0" parTransId="{20A9E973-8BD1-49B3-9D09-BF05D2FCECC5}" sibTransId="{941E1393-149C-4E97-BDE7-5CCF1D2E2C5E}"/>
    <dgm:cxn modelId="{04C3E145-6D64-4C6F-AB07-FF03726D145A}" type="presParOf" srcId="{949CFB69-B811-4CE0-B41A-F7F3E085B76D}" destId="{ED04AAF1-8E1E-42A9-9566-8C12C8C8D63C}" srcOrd="0" destOrd="0" presId="urn:microsoft.com/office/officeart/2018/2/layout/IconCircleList"/>
    <dgm:cxn modelId="{1F955E17-4880-4A8B-BBCC-8EAAB198F892}" type="presParOf" srcId="{ED04AAF1-8E1E-42A9-9566-8C12C8C8D63C}" destId="{39FB9347-933C-4C49-B083-F5343110BCB9}" srcOrd="0" destOrd="0" presId="urn:microsoft.com/office/officeart/2018/2/layout/IconCircleList"/>
    <dgm:cxn modelId="{C9948BA6-509F-4D39-A3AD-ED6D2EA4DBA6}" type="presParOf" srcId="{39FB9347-933C-4C49-B083-F5343110BCB9}" destId="{DC8AFECA-11AC-4DEC-AAE2-110B8B4A8403}" srcOrd="0" destOrd="0" presId="urn:microsoft.com/office/officeart/2018/2/layout/IconCircleList"/>
    <dgm:cxn modelId="{F0CE80F2-FCBE-4502-A5E4-0451E4445C97}" type="presParOf" srcId="{39FB9347-933C-4C49-B083-F5343110BCB9}" destId="{513880F2-AC83-4B53-A333-EE82C331B948}" srcOrd="1" destOrd="0" presId="urn:microsoft.com/office/officeart/2018/2/layout/IconCircleList"/>
    <dgm:cxn modelId="{24C02192-7E73-4E32-AAAE-6AA4F1AE10C4}" type="presParOf" srcId="{39FB9347-933C-4C49-B083-F5343110BCB9}" destId="{C72711CA-CCF5-4C92-871C-B86560B697B2}" srcOrd="2" destOrd="0" presId="urn:microsoft.com/office/officeart/2018/2/layout/IconCircleList"/>
    <dgm:cxn modelId="{9645B26B-F160-447C-9F2F-326D85E2B9AB}" type="presParOf" srcId="{39FB9347-933C-4C49-B083-F5343110BCB9}" destId="{F6129AE9-0B0B-4293-B2BC-245683761B19}" srcOrd="3" destOrd="0" presId="urn:microsoft.com/office/officeart/2018/2/layout/IconCircleList"/>
    <dgm:cxn modelId="{CBBE4405-079A-42AE-B3E2-B182C15FCAC1}" type="presParOf" srcId="{ED04AAF1-8E1E-42A9-9566-8C12C8C8D63C}" destId="{6C2FAE80-8732-4148-B3A6-7F26BA2BF056}" srcOrd="1" destOrd="0" presId="urn:microsoft.com/office/officeart/2018/2/layout/IconCircleList"/>
    <dgm:cxn modelId="{128D4AF0-F98D-1842-AB52-A2C767A2DEAB}" type="presParOf" srcId="{ED04AAF1-8E1E-42A9-9566-8C12C8C8D63C}" destId="{568885BB-6FB0-EC4A-8828-28713EC855F6}" srcOrd="2" destOrd="0" presId="urn:microsoft.com/office/officeart/2018/2/layout/IconCircleList"/>
    <dgm:cxn modelId="{7ADCFC07-B2F1-0D43-9498-AB9609D9B243}" type="presParOf" srcId="{568885BB-6FB0-EC4A-8828-28713EC855F6}" destId="{47B0561B-123C-524D-94CA-755377CEB95C}" srcOrd="0" destOrd="0" presId="urn:microsoft.com/office/officeart/2018/2/layout/IconCircleList"/>
    <dgm:cxn modelId="{60C36498-54D1-094E-A97E-ECE1AF320A34}" type="presParOf" srcId="{568885BB-6FB0-EC4A-8828-28713EC855F6}" destId="{FDE39B48-3F6A-F244-A24C-67A65F7D10D1}" srcOrd="1" destOrd="0" presId="urn:microsoft.com/office/officeart/2018/2/layout/IconCircleList"/>
    <dgm:cxn modelId="{1FBA2407-2B6D-E247-A254-74A6D9EC6124}" type="presParOf" srcId="{568885BB-6FB0-EC4A-8828-28713EC855F6}" destId="{1846DD01-779F-2B48-8DC2-F55AEAFB097A}" srcOrd="2" destOrd="0" presId="urn:microsoft.com/office/officeart/2018/2/layout/IconCircleList"/>
    <dgm:cxn modelId="{C3B357CB-7B32-C04D-9560-7A3B1E4F40A4}" type="presParOf" srcId="{568885BB-6FB0-EC4A-8828-28713EC855F6}" destId="{99FA2420-E20B-B34F-9E9C-0227DF88C6DF}" srcOrd="3" destOrd="0" presId="urn:microsoft.com/office/officeart/2018/2/layout/IconCircleList"/>
    <dgm:cxn modelId="{335E5C27-5866-FE49-B317-EBB53165A2FC}" type="presParOf" srcId="{ED04AAF1-8E1E-42A9-9566-8C12C8C8D63C}" destId="{AA1D6EBE-CBA8-BE45-BF55-8AEC9D959EFB}" srcOrd="3" destOrd="0" presId="urn:microsoft.com/office/officeart/2018/2/layout/IconCircleList"/>
    <dgm:cxn modelId="{9E8596F6-0423-48DC-8E4E-393757C92365}" type="presParOf" srcId="{ED04AAF1-8E1E-42A9-9566-8C12C8C8D63C}" destId="{0EFB75C7-647F-4A49-89B7-9EEF00A047AF}" srcOrd="4" destOrd="0" presId="urn:microsoft.com/office/officeart/2018/2/layout/IconCircleList"/>
    <dgm:cxn modelId="{C82588E1-59A8-45BC-B4BE-D4E425A9757B}" type="presParOf" srcId="{0EFB75C7-647F-4A49-89B7-9EEF00A047AF}" destId="{7999EC68-9D40-46CC-8FEF-80E49AE8A9E0}" srcOrd="0" destOrd="0" presId="urn:microsoft.com/office/officeart/2018/2/layout/IconCircleList"/>
    <dgm:cxn modelId="{C393F977-DD8B-4649-B0A8-D3BAC9D5F7AA}" type="presParOf" srcId="{0EFB75C7-647F-4A49-89B7-9EEF00A047AF}" destId="{7ABB208F-EA57-481F-8D57-C860EB22AD34}" srcOrd="1" destOrd="0" presId="urn:microsoft.com/office/officeart/2018/2/layout/IconCircleList"/>
    <dgm:cxn modelId="{33E70064-06AF-4542-B5FA-96EB02AACDE4}" type="presParOf" srcId="{0EFB75C7-647F-4A49-89B7-9EEF00A047AF}" destId="{D593AE4E-DCFE-42B9-8BD0-7180428856BF}" srcOrd="2" destOrd="0" presId="urn:microsoft.com/office/officeart/2018/2/layout/IconCircleList"/>
    <dgm:cxn modelId="{F608DF8B-D672-4966-B089-CC55E8941825}" type="presParOf" srcId="{0EFB75C7-647F-4A49-89B7-9EEF00A047AF}" destId="{E07BC5C9-EDF7-449C-BCFD-27EA5F18F1D4}" srcOrd="3" destOrd="0" presId="urn:microsoft.com/office/officeart/2018/2/layout/IconCircleList"/>
    <dgm:cxn modelId="{27D5D093-C222-4B01-A588-A426753DEA64}" type="presParOf" srcId="{ED04AAF1-8E1E-42A9-9566-8C12C8C8D63C}" destId="{FB776D01-2D5B-4851-8FCC-FD507FD721BF}" srcOrd="5" destOrd="0" presId="urn:microsoft.com/office/officeart/2018/2/layout/IconCircleList"/>
    <dgm:cxn modelId="{06D3F14F-1AD6-4B3E-B0F1-3B1967FCEF33}" type="presParOf" srcId="{ED04AAF1-8E1E-42A9-9566-8C12C8C8D63C}" destId="{F8F0DC24-4058-44C4-9549-B4E8BCCCE921}" srcOrd="6" destOrd="0" presId="urn:microsoft.com/office/officeart/2018/2/layout/IconCircleList"/>
    <dgm:cxn modelId="{5FEBEEDF-0972-42C7-AE5B-0C9FCF90D51B}" type="presParOf" srcId="{F8F0DC24-4058-44C4-9549-B4E8BCCCE921}" destId="{F0379356-C5D3-4A6C-A430-3B3777AC483B}" srcOrd="0" destOrd="0" presId="urn:microsoft.com/office/officeart/2018/2/layout/IconCircleList"/>
    <dgm:cxn modelId="{41228ED1-8CBC-4B02-9358-69289FF63D8A}" type="presParOf" srcId="{F8F0DC24-4058-44C4-9549-B4E8BCCCE921}" destId="{19AB4830-A118-437A-8DE4-CEC1E7F2B0DB}" srcOrd="1" destOrd="0" presId="urn:microsoft.com/office/officeart/2018/2/layout/IconCircleList"/>
    <dgm:cxn modelId="{43C483B8-96C7-4334-BCE3-A0C20BFF694F}" type="presParOf" srcId="{F8F0DC24-4058-44C4-9549-B4E8BCCCE921}" destId="{FFC9145A-F73C-41F2-B5D3-617902302B50}" srcOrd="2" destOrd="0" presId="urn:microsoft.com/office/officeart/2018/2/layout/IconCircleList"/>
    <dgm:cxn modelId="{B856076F-BCA4-423D-8AE6-628A5BE67C9A}" type="presParOf" srcId="{F8F0DC24-4058-44C4-9549-B4E8BCCCE921}" destId="{43AD0110-D205-4CB5-8631-C3AE118A8D70}" srcOrd="3" destOrd="0" presId="urn:microsoft.com/office/officeart/2018/2/layout/IconCircleList"/>
    <dgm:cxn modelId="{97EAC330-AD92-45C5-AF39-42B33E04098B}" type="presParOf" srcId="{ED04AAF1-8E1E-42A9-9566-8C12C8C8D63C}" destId="{1173B46F-967E-45BA-8BE2-CF3476124E23}" srcOrd="7" destOrd="0" presId="urn:microsoft.com/office/officeart/2018/2/layout/IconCircleList"/>
    <dgm:cxn modelId="{D6C835D1-DF17-4019-BE03-3AB6C1442123}" type="presParOf" srcId="{ED04AAF1-8E1E-42A9-9566-8C12C8C8D63C}" destId="{6ECC997C-3372-4241-9FFD-7893DC6BA73A}" srcOrd="8" destOrd="0" presId="urn:microsoft.com/office/officeart/2018/2/layout/IconCircleList"/>
    <dgm:cxn modelId="{B2D48AB2-BB44-47ED-84A7-276A9FE35B55}" type="presParOf" srcId="{6ECC997C-3372-4241-9FFD-7893DC6BA73A}" destId="{3FE385AE-1C3A-46A7-B560-57D9D566500F}" srcOrd="0" destOrd="0" presId="urn:microsoft.com/office/officeart/2018/2/layout/IconCircleList"/>
    <dgm:cxn modelId="{1E106689-264A-4B0F-B73C-35BC5AAE1B64}" type="presParOf" srcId="{6ECC997C-3372-4241-9FFD-7893DC6BA73A}" destId="{04B0A5D7-18AF-4A0E-B95A-2B4475445341}" srcOrd="1" destOrd="0" presId="urn:microsoft.com/office/officeart/2018/2/layout/IconCircleList"/>
    <dgm:cxn modelId="{C853909A-A058-4F93-9341-6D9785DD4FCA}" type="presParOf" srcId="{6ECC997C-3372-4241-9FFD-7893DC6BA73A}" destId="{FAD9545E-BEBF-4245-B1E8-287D2FC439BA}" srcOrd="2" destOrd="0" presId="urn:microsoft.com/office/officeart/2018/2/layout/IconCircleList"/>
    <dgm:cxn modelId="{9B5AFC94-0FCC-4465-924B-04978EA44C9C}" type="presParOf" srcId="{6ECC997C-3372-4241-9FFD-7893DC6BA73A}" destId="{C01CCA47-ECA0-4703-8EF6-D84FE9FA4994}" srcOrd="3" destOrd="0" presId="urn:microsoft.com/office/officeart/2018/2/layout/IconCircleList"/>
    <dgm:cxn modelId="{A4487BE2-D2CF-4AC6-988E-B4643C83855D}" type="presParOf" srcId="{ED04AAF1-8E1E-42A9-9566-8C12C8C8D63C}" destId="{919C4BC1-5469-42E0-8A49-A8DB403E4675}" srcOrd="9" destOrd="0" presId="urn:microsoft.com/office/officeart/2018/2/layout/IconCircleList"/>
    <dgm:cxn modelId="{D4BED85C-1196-4DF8-9FDE-FD307876FF7C}" type="presParOf" srcId="{ED04AAF1-8E1E-42A9-9566-8C12C8C8D63C}" destId="{938AD7B4-06D9-4172-8FE6-B23DB80890B8}" srcOrd="10" destOrd="0" presId="urn:microsoft.com/office/officeart/2018/2/layout/IconCircleList"/>
    <dgm:cxn modelId="{05BDC570-1761-4F55-BF2D-BB65B941A3A8}" type="presParOf" srcId="{938AD7B4-06D9-4172-8FE6-B23DB80890B8}" destId="{DC03B542-E6C7-4548-A3A7-0AD2B9FD58C2}" srcOrd="0" destOrd="0" presId="urn:microsoft.com/office/officeart/2018/2/layout/IconCircleList"/>
    <dgm:cxn modelId="{74A50FF1-6D51-4D30-8F70-34C26A288FFA}" type="presParOf" srcId="{938AD7B4-06D9-4172-8FE6-B23DB80890B8}" destId="{4A5D70EF-A153-4687-8D83-53674D365D48}" srcOrd="1" destOrd="0" presId="urn:microsoft.com/office/officeart/2018/2/layout/IconCircleList"/>
    <dgm:cxn modelId="{38D6E15A-CA9C-4801-85C8-87550AC39B2F}" type="presParOf" srcId="{938AD7B4-06D9-4172-8FE6-B23DB80890B8}" destId="{A6EE39DA-1D4A-47F6-8E34-920732627A85}" srcOrd="2" destOrd="0" presId="urn:microsoft.com/office/officeart/2018/2/layout/IconCircleList"/>
    <dgm:cxn modelId="{6A698E0D-9E97-4902-877F-E8EDA50E95DB}" type="presParOf" srcId="{938AD7B4-06D9-4172-8FE6-B23DB80890B8}" destId="{121A6228-D885-4CBA-8653-4CC40C82615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B6DE4FE-D382-41C6-A0EC-327F0EF00E48}"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D0ADC20-F7C4-4FBB-B9DD-49D9F47737CF}">
      <dgm:prSet custT="1"/>
      <dgm:spPr/>
      <dgm:t>
        <a:bodyPr/>
        <a:lstStyle/>
        <a:p>
          <a:pPr>
            <a:lnSpc>
              <a:spcPct val="100000"/>
            </a:lnSpc>
            <a:defRPr cap="all"/>
          </a:pPr>
          <a:r>
            <a:rPr lang="en-US" sz="1200">
              <a:solidFill>
                <a:schemeClr val="tx1"/>
              </a:solidFill>
              <a:latin typeface="Times New Roman" panose="02020603050405020304" pitchFamily="18" charset="0"/>
              <a:cs typeface="Times New Roman" panose="02020603050405020304" pitchFamily="18" charset="0"/>
            </a:rPr>
            <a:t>This project entails the development of a multi-modal and the ML-based and real-time monitoring system, which is superior to the one used in fall detection technology at present.</a:t>
          </a:r>
          <a:endParaRPr lang="en-US" sz="1200" dirty="0">
            <a:solidFill>
              <a:schemeClr val="tx1"/>
            </a:solidFill>
            <a:latin typeface="Times New Roman" panose="02020603050405020304" pitchFamily="18" charset="0"/>
            <a:cs typeface="Times New Roman" panose="02020603050405020304" pitchFamily="18" charset="0"/>
          </a:endParaRPr>
        </a:p>
      </dgm:t>
    </dgm:pt>
    <dgm:pt modelId="{4205F64A-0FB3-40BA-BBD2-1DCC060A09EB}" type="parTrans" cxnId="{C8FD1EB9-7519-4144-B0BF-6276DFC8F4A0}">
      <dgm:prSet/>
      <dgm:spPr/>
      <dgm:t>
        <a:bodyPr/>
        <a:lstStyle/>
        <a:p>
          <a:endParaRPr lang="en-US"/>
        </a:p>
      </dgm:t>
    </dgm:pt>
    <dgm:pt modelId="{DA8DE55B-B5DD-4E0A-BB09-58A66C126DF9}" type="sibTrans" cxnId="{C8FD1EB9-7519-4144-B0BF-6276DFC8F4A0}">
      <dgm:prSet/>
      <dgm:spPr/>
      <dgm:t>
        <a:bodyPr/>
        <a:lstStyle/>
        <a:p>
          <a:endParaRPr lang="en-US"/>
        </a:p>
      </dgm:t>
    </dgm:pt>
    <dgm:pt modelId="{F35D05F1-A923-4FEE-BB29-CF92549080FC}">
      <dgm:prSet custT="1"/>
      <dgm:spPr/>
      <dgm:t>
        <a:bodyPr/>
        <a:lstStyle/>
        <a:p>
          <a:pPr>
            <a:lnSpc>
              <a:spcPct val="100000"/>
            </a:lnSpc>
            <a:defRPr cap="all"/>
          </a:pPr>
          <a:r>
            <a:rPr lang="en-US" sz="1200">
              <a:solidFill>
                <a:schemeClr val="tx1"/>
              </a:solidFill>
              <a:latin typeface="Times New Roman" panose="02020603050405020304" pitchFamily="18" charset="0"/>
              <a:cs typeface="Times New Roman" panose="02020603050405020304" pitchFamily="18" charset="0"/>
            </a:rPr>
            <a:t>We are incorporating wearables, environment sensors, glove cameras that are privacy friendly and vital signs tracking to provide all-day care to seniors.</a:t>
          </a:r>
          <a:endParaRPr lang="en-US" sz="1200" dirty="0">
            <a:solidFill>
              <a:schemeClr val="tx1"/>
            </a:solidFill>
            <a:latin typeface="Times New Roman" panose="02020603050405020304" pitchFamily="18" charset="0"/>
            <a:cs typeface="Times New Roman" panose="02020603050405020304" pitchFamily="18" charset="0"/>
          </a:endParaRPr>
        </a:p>
      </dgm:t>
    </dgm:pt>
    <dgm:pt modelId="{385EBFDC-8F02-4C3B-9338-6ABAAE9C1155}" type="parTrans" cxnId="{103C248A-2D07-42FB-9DF3-D5C17CFEB70B}">
      <dgm:prSet/>
      <dgm:spPr/>
      <dgm:t>
        <a:bodyPr/>
        <a:lstStyle/>
        <a:p>
          <a:endParaRPr lang="en-US"/>
        </a:p>
      </dgm:t>
    </dgm:pt>
    <dgm:pt modelId="{3D44C87E-0801-41B8-B5F3-029F779F28B9}" type="sibTrans" cxnId="{103C248A-2D07-42FB-9DF3-D5C17CFEB70B}">
      <dgm:prSet/>
      <dgm:spPr/>
      <dgm:t>
        <a:bodyPr/>
        <a:lstStyle/>
        <a:p>
          <a:endParaRPr lang="en-US"/>
        </a:p>
      </dgm:t>
    </dgm:pt>
    <dgm:pt modelId="{109B2C35-606D-4ADC-B8C8-B30B4D92A644}">
      <dgm:prSet custT="1"/>
      <dgm:spPr/>
      <dgm:t>
        <a:bodyPr/>
        <a:lstStyle/>
        <a:p>
          <a:pPr>
            <a:lnSpc>
              <a:spcPct val="100000"/>
            </a:lnSpc>
            <a:defRPr cap="all"/>
          </a:pPr>
          <a:r>
            <a:rPr lang="en-US" sz="1200">
              <a:solidFill>
                <a:schemeClr val="tx1"/>
              </a:solidFill>
              <a:latin typeface="Times New Roman" panose="02020603050405020304" pitchFamily="18" charset="0"/>
              <a:cs typeface="Times New Roman" panose="02020603050405020304" pitchFamily="18" charset="0"/>
            </a:rPr>
            <a:t>With sensor fusion, edge computing and the connection to electronic health records, quicker response, fewer false alerts, and improved overall experience of care in assisted living and hospitals are realized.</a:t>
          </a:r>
          <a:endParaRPr lang="en-US" sz="1200" dirty="0">
            <a:solidFill>
              <a:schemeClr val="tx1"/>
            </a:solidFill>
            <a:latin typeface="Times New Roman" panose="02020603050405020304" pitchFamily="18" charset="0"/>
            <a:cs typeface="Times New Roman" panose="02020603050405020304" pitchFamily="18" charset="0"/>
          </a:endParaRPr>
        </a:p>
      </dgm:t>
    </dgm:pt>
    <dgm:pt modelId="{567CD26A-6D93-403A-A380-3EBE94BBCE2C}" type="parTrans" cxnId="{514AC451-1A7F-4A2A-8611-4A6A5F59EB19}">
      <dgm:prSet/>
      <dgm:spPr/>
      <dgm:t>
        <a:bodyPr/>
        <a:lstStyle/>
        <a:p>
          <a:endParaRPr lang="en-US"/>
        </a:p>
      </dgm:t>
    </dgm:pt>
    <dgm:pt modelId="{BE05D132-44A8-4B4D-A80A-355799DB547F}" type="sibTrans" cxnId="{514AC451-1A7F-4A2A-8611-4A6A5F59EB19}">
      <dgm:prSet/>
      <dgm:spPr/>
      <dgm:t>
        <a:bodyPr/>
        <a:lstStyle/>
        <a:p>
          <a:endParaRPr lang="en-US"/>
        </a:p>
      </dgm:t>
    </dgm:pt>
    <dgm:pt modelId="{144B6987-CB09-4AD9-A176-FB035697163B}" type="pres">
      <dgm:prSet presAssocID="{EB6DE4FE-D382-41C6-A0EC-327F0EF00E48}" presName="root" presStyleCnt="0">
        <dgm:presLayoutVars>
          <dgm:dir/>
          <dgm:resizeHandles val="exact"/>
        </dgm:presLayoutVars>
      </dgm:prSet>
      <dgm:spPr/>
    </dgm:pt>
    <dgm:pt modelId="{93299348-0AE1-412B-9E7D-A42222DE8540}" type="pres">
      <dgm:prSet presAssocID="{9D0ADC20-F7C4-4FBB-B9DD-49D9F47737CF}" presName="compNode" presStyleCnt="0"/>
      <dgm:spPr/>
    </dgm:pt>
    <dgm:pt modelId="{DB1FAF9E-8C5A-45BF-A22A-0AF3AE21BE20}" type="pres">
      <dgm:prSet presAssocID="{9D0ADC20-F7C4-4FBB-B9DD-49D9F47737CF}" presName="iconBgRect" presStyleLbl="bgShp" presStyleIdx="0" presStyleCnt="3"/>
      <dgm:spPr>
        <a:prstGeom prst="round2DiagRect">
          <a:avLst>
            <a:gd name="adj1" fmla="val 29727"/>
            <a:gd name="adj2" fmla="val 0"/>
          </a:avLst>
        </a:prstGeom>
        <a:blipFill rotWithShape="0">
          <a:blip xmlns:r="http://schemas.openxmlformats.org/officeDocument/2006/relationships" r:embed="rId1"/>
          <a:tile tx="0" ty="0" sx="100000" sy="100000" flip="none" algn="tl"/>
        </a:blipFill>
        <a:ln w="38100">
          <a:solidFill>
            <a:schemeClr val="tx1"/>
          </a:solidFill>
        </a:ln>
      </dgm:spPr>
    </dgm:pt>
    <dgm:pt modelId="{BC038372-2E71-4550-892D-733C0DFC907D}" type="pres">
      <dgm:prSet presAssocID="{9D0ADC20-F7C4-4FBB-B9DD-49D9F47737CF}" presName="iconRect" presStyleLbl="node1" presStyleIdx="0"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cessor"/>
        </a:ext>
      </dgm:extLst>
    </dgm:pt>
    <dgm:pt modelId="{9DCBEED3-7408-4561-980D-2073C4B37753}" type="pres">
      <dgm:prSet presAssocID="{9D0ADC20-F7C4-4FBB-B9DD-49D9F47737CF}" presName="spaceRect" presStyleCnt="0"/>
      <dgm:spPr/>
    </dgm:pt>
    <dgm:pt modelId="{23351F89-99EA-441F-B340-92A6FE4BB5F7}" type="pres">
      <dgm:prSet presAssocID="{9D0ADC20-F7C4-4FBB-B9DD-49D9F47737CF}" presName="textRect" presStyleLbl="revTx" presStyleIdx="0" presStyleCnt="3" custLinFactNeighborX="12985" custLinFactNeighborY="-6517">
        <dgm:presLayoutVars>
          <dgm:chMax val="1"/>
          <dgm:chPref val="1"/>
        </dgm:presLayoutVars>
      </dgm:prSet>
      <dgm:spPr/>
    </dgm:pt>
    <dgm:pt modelId="{2CF3E082-0EC0-41FD-B759-E0E4A4EC398C}" type="pres">
      <dgm:prSet presAssocID="{DA8DE55B-B5DD-4E0A-BB09-58A66C126DF9}" presName="sibTrans" presStyleCnt="0"/>
      <dgm:spPr/>
    </dgm:pt>
    <dgm:pt modelId="{345F6952-CEFC-454D-957E-CDC29D8CC06E}" type="pres">
      <dgm:prSet presAssocID="{F35D05F1-A923-4FEE-BB29-CF92549080FC}" presName="compNode" presStyleCnt="0"/>
      <dgm:spPr/>
    </dgm:pt>
    <dgm:pt modelId="{F1877F9A-50CC-4C28-9080-E9A2EB47741A}" type="pres">
      <dgm:prSet presAssocID="{F35D05F1-A923-4FEE-BB29-CF92549080FC}" presName="iconBgRect" presStyleLbl="bgShp" presStyleIdx="1" presStyleCnt="3"/>
      <dgm:spPr>
        <a:prstGeom prst="round2DiagRect">
          <a:avLst>
            <a:gd name="adj1" fmla="val 29727"/>
            <a:gd name="adj2" fmla="val 0"/>
          </a:avLst>
        </a:prstGeom>
        <a:blipFill rotWithShape="0">
          <a:blip xmlns:r="http://schemas.openxmlformats.org/officeDocument/2006/relationships" r:embed="rId1"/>
          <a:tile tx="0" ty="0" sx="100000" sy="100000" flip="none" algn="tl"/>
        </a:blipFill>
        <a:ln w="38100">
          <a:solidFill>
            <a:schemeClr val="tx1"/>
          </a:solidFill>
        </a:ln>
      </dgm:spPr>
    </dgm:pt>
    <dgm:pt modelId="{96C6C682-61C7-46D7-8240-98A72FBA3A6E}" type="pres">
      <dgm:prSet presAssocID="{F35D05F1-A923-4FEE-BB29-CF92549080FC}" presName="iconRect" presStyleLbl="node1" presStyleIdx="1"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ecurity Camera Sign"/>
        </a:ext>
      </dgm:extLst>
    </dgm:pt>
    <dgm:pt modelId="{4627398E-AC4F-43C4-B339-FDBE64BD4F67}" type="pres">
      <dgm:prSet presAssocID="{F35D05F1-A923-4FEE-BB29-CF92549080FC}" presName="spaceRect" presStyleCnt="0"/>
      <dgm:spPr/>
    </dgm:pt>
    <dgm:pt modelId="{B43A978A-DE8F-43F4-9290-3735BAE8284D}" type="pres">
      <dgm:prSet presAssocID="{F35D05F1-A923-4FEE-BB29-CF92549080FC}" presName="textRect" presStyleLbl="revTx" presStyleIdx="1" presStyleCnt="3" custLinFactNeighborX="-10" custLinFactNeighborY="-8437">
        <dgm:presLayoutVars>
          <dgm:chMax val="1"/>
          <dgm:chPref val="1"/>
        </dgm:presLayoutVars>
      </dgm:prSet>
      <dgm:spPr/>
    </dgm:pt>
    <dgm:pt modelId="{CED2B67E-9223-4E6C-AA35-A6EDE1A3D36E}" type="pres">
      <dgm:prSet presAssocID="{3D44C87E-0801-41B8-B5F3-029F779F28B9}" presName="sibTrans" presStyleCnt="0"/>
      <dgm:spPr/>
    </dgm:pt>
    <dgm:pt modelId="{1E13D6C2-CFAE-4739-8172-0E0E72AD1C7E}" type="pres">
      <dgm:prSet presAssocID="{109B2C35-606D-4ADC-B8C8-B30B4D92A644}" presName="compNode" presStyleCnt="0"/>
      <dgm:spPr/>
    </dgm:pt>
    <dgm:pt modelId="{CAFE6449-6F82-4D97-9CE9-133383509D43}" type="pres">
      <dgm:prSet presAssocID="{109B2C35-606D-4ADC-B8C8-B30B4D92A644}" presName="iconBgRect" presStyleLbl="bgShp" presStyleIdx="2" presStyleCnt="3"/>
      <dgm:spPr>
        <a:prstGeom prst="round2DiagRect">
          <a:avLst>
            <a:gd name="adj1" fmla="val 29727"/>
            <a:gd name="adj2" fmla="val 0"/>
          </a:avLst>
        </a:prstGeom>
        <a:blipFill rotWithShape="0">
          <a:blip xmlns:r="http://schemas.openxmlformats.org/officeDocument/2006/relationships" r:embed="rId1"/>
          <a:tile tx="0" ty="0" sx="100000" sy="100000" flip="none" algn="tl"/>
        </a:blipFill>
        <a:ln w="38100">
          <a:solidFill>
            <a:schemeClr val="tx1"/>
          </a:solidFill>
        </a:ln>
      </dgm:spPr>
    </dgm:pt>
    <dgm:pt modelId="{75F2EF03-99FB-47FD-B4F8-FE38D74EDB21}" type="pres">
      <dgm:prSet presAssocID="{109B2C35-606D-4ADC-B8C8-B30B4D92A644}" presName="iconRect" presStyleLbl="node1" presStyleIdx="2"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Stream"/>
        </a:ext>
      </dgm:extLst>
    </dgm:pt>
    <dgm:pt modelId="{D37C6124-C3A8-45A1-B20B-75E334159A23}" type="pres">
      <dgm:prSet presAssocID="{109B2C35-606D-4ADC-B8C8-B30B4D92A644}" presName="spaceRect" presStyleCnt="0"/>
      <dgm:spPr/>
    </dgm:pt>
    <dgm:pt modelId="{5D4A22C0-56B1-4156-93D7-BC400497DECA}" type="pres">
      <dgm:prSet presAssocID="{109B2C35-606D-4ADC-B8C8-B30B4D92A644}" presName="textRect" presStyleLbl="revTx" presStyleIdx="2" presStyleCnt="3" custLinFactNeighborX="652" custLinFactNeighborY="-8437">
        <dgm:presLayoutVars>
          <dgm:chMax val="1"/>
          <dgm:chPref val="1"/>
        </dgm:presLayoutVars>
      </dgm:prSet>
      <dgm:spPr/>
    </dgm:pt>
  </dgm:ptLst>
  <dgm:cxnLst>
    <dgm:cxn modelId="{387F8D47-5933-C540-8081-DAA957D153D2}" type="presOf" srcId="{9D0ADC20-F7C4-4FBB-B9DD-49D9F47737CF}" destId="{23351F89-99EA-441F-B340-92A6FE4BB5F7}" srcOrd="0" destOrd="0" presId="urn:microsoft.com/office/officeart/2018/5/layout/IconLeafLabelList"/>
    <dgm:cxn modelId="{76B43048-0CEA-6644-B1A5-46DB2D833FF9}" type="presOf" srcId="{F35D05F1-A923-4FEE-BB29-CF92549080FC}" destId="{B43A978A-DE8F-43F4-9290-3735BAE8284D}" srcOrd="0" destOrd="0" presId="urn:microsoft.com/office/officeart/2018/5/layout/IconLeafLabelList"/>
    <dgm:cxn modelId="{514AC451-1A7F-4A2A-8611-4A6A5F59EB19}" srcId="{EB6DE4FE-D382-41C6-A0EC-327F0EF00E48}" destId="{109B2C35-606D-4ADC-B8C8-B30B4D92A644}" srcOrd="2" destOrd="0" parTransId="{567CD26A-6D93-403A-A380-3EBE94BBCE2C}" sibTransId="{BE05D132-44A8-4B4D-A80A-355799DB547F}"/>
    <dgm:cxn modelId="{74C0B16B-6EE6-3449-A879-BDE3A9FA5FBC}" type="presOf" srcId="{109B2C35-606D-4ADC-B8C8-B30B4D92A644}" destId="{5D4A22C0-56B1-4156-93D7-BC400497DECA}" srcOrd="0" destOrd="0" presId="urn:microsoft.com/office/officeart/2018/5/layout/IconLeafLabelList"/>
    <dgm:cxn modelId="{CF1CBC76-9C29-5247-A333-ECDF139AD27A}" type="presOf" srcId="{EB6DE4FE-D382-41C6-A0EC-327F0EF00E48}" destId="{144B6987-CB09-4AD9-A176-FB035697163B}" srcOrd="0" destOrd="0" presId="urn:microsoft.com/office/officeart/2018/5/layout/IconLeafLabelList"/>
    <dgm:cxn modelId="{103C248A-2D07-42FB-9DF3-D5C17CFEB70B}" srcId="{EB6DE4FE-D382-41C6-A0EC-327F0EF00E48}" destId="{F35D05F1-A923-4FEE-BB29-CF92549080FC}" srcOrd="1" destOrd="0" parTransId="{385EBFDC-8F02-4C3B-9338-6ABAAE9C1155}" sibTransId="{3D44C87E-0801-41B8-B5F3-029F779F28B9}"/>
    <dgm:cxn modelId="{C8FD1EB9-7519-4144-B0BF-6276DFC8F4A0}" srcId="{EB6DE4FE-D382-41C6-A0EC-327F0EF00E48}" destId="{9D0ADC20-F7C4-4FBB-B9DD-49D9F47737CF}" srcOrd="0" destOrd="0" parTransId="{4205F64A-0FB3-40BA-BBD2-1DCC060A09EB}" sibTransId="{DA8DE55B-B5DD-4E0A-BB09-58A66C126DF9}"/>
    <dgm:cxn modelId="{53F25D27-E0F2-E14A-9DB0-7CBA00F37E9E}" type="presParOf" srcId="{144B6987-CB09-4AD9-A176-FB035697163B}" destId="{93299348-0AE1-412B-9E7D-A42222DE8540}" srcOrd="0" destOrd="0" presId="urn:microsoft.com/office/officeart/2018/5/layout/IconLeafLabelList"/>
    <dgm:cxn modelId="{83E987F0-4D70-0545-8244-F57FEA03CABD}" type="presParOf" srcId="{93299348-0AE1-412B-9E7D-A42222DE8540}" destId="{DB1FAF9E-8C5A-45BF-A22A-0AF3AE21BE20}" srcOrd="0" destOrd="0" presId="urn:microsoft.com/office/officeart/2018/5/layout/IconLeafLabelList"/>
    <dgm:cxn modelId="{40A845E4-7BED-354B-B9FB-E34381344355}" type="presParOf" srcId="{93299348-0AE1-412B-9E7D-A42222DE8540}" destId="{BC038372-2E71-4550-892D-733C0DFC907D}" srcOrd="1" destOrd="0" presId="urn:microsoft.com/office/officeart/2018/5/layout/IconLeafLabelList"/>
    <dgm:cxn modelId="{7D80B9CD-67DA-F04A-911B-56654915E9E8}" type="presParOf" srcId="{93299348-0AE1-412B-9E7D-A42222DE8540}" destId="{9DCBEED3-7408-4561-980D-2073C4B37753}" srcOrd="2" destOrd="0" presId="urn:microsoft.com/office/officeart/2018/5/layout/IconLeafLabelList"/>
    <dgm:cxn modelId="{BE8C15D5-88CF-F747-87B8-92B2CBDDA85F}" type="presParOf" srcId="{93299348-0AE1-412B-9E7D-A42222DE8540}" destId="{23351F89-99EA-441F-B340-92A6FE4BB5F7}" srcOrd="3" destOrd="0" presId="urn:microsoft.com/office/officeart/2018/5/layout/IconLeafLabelList"/>
    <dgm:cxn modelId="{83811735-1748-A74D-A4C8-04573330A3EB}" type="presParOf" srcId="{144B6987-CB09-4AD9-A176-FB035697163B}" destId="{2CF3E082-0EC0-41FD-B759-E0E4A4EC398C}" srcOrd="1" destOrd="0" presId="urn:microsoft.com/office/officeart/2018/5/layout/IconLeafLabelList"/>
    <dgm:cxn modelId="{D1BC446D-0F72-9043-A007-74D31D22F489}" type="presParOf" srcId="{144B6987-CB09-4AD9-A176-FB035697163B}" destId="{345F6952-CEFC-454D-957E-CDC29D8CC06E}" srcOrd="2" destOrd="0" presId="urn:microsoft.com/office/officeart/2018/5/layout/IconLeafLabelList"/>
    <dgm:cxn modelId="{57A6AFAB-074C-B048-846B-62DE1F8EB4D9}" type="presParOf" srcId="{345F6952-CEFC-454D-957E-CDC29D8CC06E}" destId="{F1877F9A-50CC-4C28-9080-E9A2EB47741A}" srcOrd="0" destOrd="0" presId="urn:microsoft.com/office/officeart/2018/5/layout/IconLeafLabelList"/>
    <dgm:cxn modelId="{9391F54E-627D-FF44-A6B8-D13451AAE50E}" type="presParOf" srcId="{345F6952-CEFC-454D-957E-CDC29D8CC06E}" destId="{96C6C682-61C7-46D7-8240-98A72FBA3A6E}" srcOrd="1" destOrd="0" presId="urn:microsoft.com/office/officeart/2018/5/layout/IconLeafLabelList"/>
    <dgm:cxn modelId="{DE051A9F-FC7A-DD41-8628-B75B35D82F67}" type="presParOf" srcId="{345F6952-CEFC-454D-957E-CDC29D8CC06E}" destId="{4627398E-AC4F-43C4-B339-FDBE64BD4F67}" srcOrd="2" destOrd="0" presId="urn:microsoft.com/office/officeart/2018/5/layout/IconLeafLabelList"/>
    <dgm:cxn modelId="{2EF2FFA1-51DE-C643-89ED-1AD802A541EB}" type="presParOf" srcId="{345F6952-CEFC-454D-957E-CDC29D8CC06E}" destId="{B43A978A-DE8F-43F4-9290-3735BAE8284D}" srcOrd="3" destOrd="0" presId="urn:microsoft.com/office/officeart/2018/5/layout/IconLeafLabelList"/>
    <dgm:cxn modelId="{8596C7AA-4104-1041-B487-5EBDFA8BA237}" type="presParOf" srcId="{144B6987-CB09-4AD9-A176-FB035697163B}" destId="{CED2B67E-9223-4E6C-AA35-A6EDE1A3D36E}" srcOrd="3" destOrd="0" presId="urn:microsoft.com/office/officeart/2018/5/layout/IconLeafLabelList"/>
    <dgm:cxn modelId="{F22F7068-398B-4841-A32F-8D8A23546751}" type="presParOf" srcId="{144B6987-CB09-4AD9-A176-FB035697163B}" destId="{1E13D6C2-CFAE-4739-8172-0E0E72AD1C7E}" srcOrd="4" destOrd="0" presId="urn:microsoft.com/office/officeart/2018/5/layout/IconLeafLabelList"/>
    <dgm:cxn modelId="{DF2F08BF-73CA-3A4A-B5E0-B7EEF80A0481}" type="presParOf" srcId="{1E13D6C2-CFAE-4739-8172-0E0E72AD1C7E}" destId="{CAFE6449-6F82-4D97-9CE9-133383509D43}" srcOrd="0" destOrd="0" presId="urn:microsoft.com/office/officeart/2018/5/layout/IconLeafLabelList"/>
    <dgm:cxn modelId="{6B8A57D8-99B3-1F4A-91F2-74E2D00D6586}" type="presParOf" srcId="{1E13D6C2-CFAE-4739-8172-0E0E72AD1C7E}" destId="{75F2EF03-99FB-47FD-B4F8-FE38D74EDB21}" srcOrd="1" destOrd="0" presId="urn:microsoft.com/office/officeart/2018/5/layout/IconLeafLabelList"/>
    <dgm:cxn modelId="{8DE086E3-2D03-7045-B5DF-47F9A4D38A5D}" type="presParOf" srcId="{1E13D6C2-CFAE-4739-8172-0E0E72AD1C7E}" destId="{D37C6124-C3A8-45A1-B20B-75E334159A23}" srcOrd="2" destOrd="0" presId="urn:microsoft.com/office/officeart/2018/5/layout/IconLeafLabelList"/>
    <dgm:cxn modelId="{7A39FC26-F853-4C40-8D86-D35A79DCF004}" type="presParOf" srcId="{1E13D6C2-CFAE-4739-8172-0E0E72AD1C7E}" destId="{5D4A22C0-56B1-4156-93D7-BC400497DECA}"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ED419-C8E2-3148-B63A-9E4D1AB312A3}">
      <dsp:nvSpPr>
        <dsp:cNvPr id="0" name=""/>
        <dsp:cNvSpPr/>
      </dsp:nvSpPr>
      <dsp:spPr>
        <a:xfrm>
          <a:off x="950084" y="3285"/>
          <a:ext cx="2892744" cy="1735646"/>
        </a:xfrm>
        <a:prstGeom prst="roundRect">
          <a:avLst/>
        </a:prstGeom>
        <a:solidFill>
          <a:schemeClr val="bg1">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tx1"/>
              </a:solidFill>
              <a:latin typeface="Times New Roman" panose="02020603050405020304" pitchFamily="18" charset="0"/>
              <a:cs typeface="Times New Roman" panose="02020603050405020304" pitchFamily="18" charset="0"/>
            </a:rPr>
            <a:t>Project Focus</a:t>
          </a:r>
          <a:br>
            <a:rPr lang="en-US" sz="1900" kern="1200" dirty="0">
              <a:solidFill>
                <a:schemeClr val="tx1"/>
              </a:solidFill>
              <a:latin typeface="Times New Roman" panose="02020603050405020304" pitchFamily="18" charset="0"/>
              <a:cs typeface="Times New Roman" panose="02020603050405020304" pitchFamily="18" charset="0"/>
            </a:rPr>
          </a:br>
          <a:r>
            <a:rPr lang="en-US" sz="1900" kern="1200" dirty="0">
              <a:solidFill>
                <a:schemeClr val="tx1"/>
              </a:solidFill>
              <a:latin typeface="Times New Roman" panose="02020603050405020304" pitchFamily="18" charset="0"/>
              <a:cs typeface="Times New Roman" panose="02020603050405020304" pitchFamily="18" charset="0"/>
            </a:rPr>
            <a:t>Design and evaluation of a privacy-preserving real-time monitoring system.</a:t>
          </a:r>
        </a:p>
      </dsp:txBody>
      <dsp:txXfrm>
        <a:off x="1034811" y="88012"/>
        <a:ext cx="2723290" cy="1566192"/>
      </dsp:txXfrm>
    </dsp:sp>
    <dsp:sp modelId="{1B5FEFE0-24AF-3B4D-AC41-A8104FBAB788}">
      <dsp:nvSpPr>
        <dsp:cNvPr id="0" name=""/>
        <dsp:cNvSpPr/>
      </dsp:nvSpPr>
      <dsp:spPr>
        <a:xfrm>
          <a:off x="4132102" y="3285"/>
          <a:ext cx="2892744" cy="1735646"/>
        </a:xfrm>
        <a:prstGeom prst="roundRect">
          <a:avLst/>
        </a:prstGeom>
        <a:solidFill>
          <a:schemeClr val="bg1">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tx1"/>
              </a:solidFill>
              <a:latin typeface="Times New Roman" panose="02020603050405020304" pitchFamily="18" charset="0"/>
              <a:cs typeface="Times New Roman" panose="02020603050405020304" pitchFamily="18" charset="0"/>
            </a:rPr>
            <a:t>Problem Context</a:t>
          </a:r>
          <a:br>
            <a:rPr lang="en-US" sz="1900" kern="1200" dirty="0">
              <a:solidFill>
                <a:schemeClr val="tx1"/>
              </a:solidFill>
              <a:latin typeface="Times New Roman" panose="02020603050405020304" pitchFamily="18" charset="0"/>
              <a:cs typeface="Times New Roman" panose="02020603050405020304" pitchFamily="18" charset="0"/>
            </a:rPr>
          </a:br>
          <a:r>
            <a:rPr lang="en-US" sz="1900" kern="1200" dirty="0">
              <a:solidFill>
                <a:schemeClr val="tx1"/>
              </a:solidFill>
              <a:latin typeface="Times New Roman" panose="02020603050405020304" pitchFamily="18" charset="0"/>
              <a:cs typeface="Times New Roman" panose="02020603050405020304" pitchFamily="18" charset="0"/>
            </a:rPr>
            <a:t>Seniors in assisted care are prone to falls, confusion, and unnoticed health issues.</a:t>
          </a:r>
        </a:p>
      </dsp:txBody>
      <dsp:txXfrm>
        <a:off x="4216829" y="88012"/>
        <a:ext cx="2723290" cy="1566192"/>
      </dsp:txXfrm>
    </dsp:sp>
    <dsp:sp modelId="{E6F03123-17F5-AD4D-B13D-D38A8C70671C}">
      <dsp:nvSpPr>
        <dsp:cNvPr id="0" name=""/>
        <dsp:cNvSpPr/>
      </dsp:nvSpPr>
      <dsp:spPr>
        <a:xfrm>
          <a:off x="7314121" y="3285"/>
          <a:ext cx="2892744" cy="1735646"/>
        </a:xfrm>
        <a:prstGeom prst="roundRect">
          <a:avLst/>
        </a:prstGeom>
        <a:solidFill>
          <a:schemeClr val="bg1">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Times New Roman" panose="02020603050405020304" pitchFamily="18" charset="0"/>
              <a:cs typeface="Times New Roman" panose="02020603050405020304" pitchFamily="18" charset="0"/>
            </a:rPr>
            <a:t> </a:t>
          </a:r>
          <a:r>
            <a:rPr lang="en-US" sz="1900" b="1" kern="1200" dirty="0">
              <a:solidFill>
                <a:schemeClr val="tx1"/>
              </a:solidFill>
              <a:latin typeface="Times New Roman" panose="02020603050405020304" pitchFamily="18" charset="0"/>
              <a:cs typeface="Times New Roman" panose="02020603050405020304" pitchFamily="18" charset="0"/>
            </a:rPr>
            <a:t>System Capability</a:t>
          </a:r>
          <a:br>
            <a:rPr lang="en-US" sz="1900" kern="1200" dirty="0">
              <a:solidFill>
                <a:schemeClr val="tx1"/>
              </a:solidFill>
              <a:latin typeface="Times New Roman" panose="02020603050405020304" pitchFamily="18" charset="0"/>
              <a:cs typeface="Times New Roman" panose="02020603050405020304" pitchFamily="18" charset="0"/>
            </a:rPr>
          </a:br>
          <a:r>
            <a:rPr lang="en-US" sz="1900" kern="1200" dirty="0">
              <a:solidFill>
                <a:schemeClr val="tx1"/>
              </a:solidFill>
              <a:latin typeface="Times New Roman" panose="02020603050405020304" pitchFamily="18" charset="0"/>
              <a:cs typeface="Times New Roman" panose="02020603050405020304" pitchFamily="18" charset="0"/>
            </a:rPr>
            <a:t>Multi-modal ML system for continuous detection and rapid, precise responses.</a:t>
          </a:r>
        </a:p>
      </dsp:txBody>
      <dsp:txXfrm>
        <a:off x="7398848" y="88012"/>
        <a:ext cx="2723290" cy="1566192"/>
      </dsp:txXfrm>
    </dsp:sp>
    <dsp:sp modelId="{838D5ED9-411F-DA42-BB5D-2DD41DC40FAC}">
      <dsp:nvSpPr>
        <dsp:cNvPr id="0" name=""/>
        <dsp:cNvSpPr/>
      </dsp:nvSpPr>
      <dsp:spPr>
        <a:xfrm>
          <a:off x="2541093" y="2028206"/>
          <a:ext cx="2892744" cy="1735646"/>
        </a:xfrm>
        <a:prstGeom prst="roundRect">
          <a:avLst/>
        </a:prstGeom>
        <a:solidFill>
          <a:schemeClr val="bg1">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Times New Roman" panose="02020603050405020304" pitchFamily="18" charset="0"/>
              <a:cs typeface="Times New Roman" panose="02020603050405020304" pitchFamily="18" charset="0"/>
            </a:rPr>
            <a:t> </a:t>
          </a:r>
          <a:r>
            <a:rPr lang="en-US" sz="1900" b="1" kern="1200" dirty="0">
              <a:solidFill>
                <a:schemeClr val="tx1"/>
              </a:solidFill>
              <a:latin typeface="Times New Roman" panose="02020603050405020304" pitchFamily="18" charset="0"/>
              <a:cs typeface="Times New Roman" panose="02020603050405020304" pitchFamily="18" charset="0"/>
            </a:rPr>
            <a:t>False Alarm Reduction</a:t>
          </a:r>
          <a:br>
            <a:rPr lang="en-US" sz="1900" kern="1200" dirty="0">
              <a:solidFill>
                <a:schemeClr val="tx1"/>
              </a:solidFill>
              <a:latin typeface="Times New Roman" panose="02020603050405020304" pitchFamily="18" charset="0"/>
              <a:cs typeface="Times New Roman" panose="02020603050405020304" pitchFamily="18" charset="0"/>
            </a:rPr>
          </a:br>
          <a:r>
            <a:rPr lang="en-US" sz="1900" kern="1200" dirty="0">
              <a:solidFill>
                <a:schemeClr val="tx1"/>
              </a:solidFill>
              <a:latin typeface="Times New Roman" panose="02020603050405020304" pitchFamily="18" charset="0"/>
              <a:cs typeface="Times New Roman" panose="02020603050405020304" pitchFamily="18" charset="0"/>
            </a:rPr>
            <a:t>Delivers accurate, actionable insights to minimize false triggers.</a:t>
          </a:r>
        </a:p>
      </dsp:txBody>
      <dsp:txXfrm>
        <a:off x="2625820" y="2112933"/>
        <a:ext cx="2723290" cy="1566192"/>
      </dsp:txXfrm>
    </dsp:sp>
    <dsp:sp modelId="{4095528B-A03A-6046-99FD-C80359998399}">
      <dsp:nvSpPr>
        <dsp:cNvPr id="0" name=""/>
        <dsp:cNvSpPr/>
      </dsp:nvSpPr>
      <dsp:spPr>
        <a:xfrm>
          <a:off x="5723112" y="2028206"/>
          <a:ext cx="2892744" cy="1735646"/>
        </a:xfrm>
        <a:prstGeom prst="roundRect">
          <a:avLst/>
        </a:prstGeom>
        <a:solidFill>
          <a:schemeClr val="bg1">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Times New Roman" panose="02020603050405020304" pitchFamily="18" charset="0"/>
              <a:cs typeface="Times New Roman" panose="02020603050405020304" pitchFamily="18" charset="0"/>
            </a:rPr>
            <a:t> </a:t>
          </a:r>
          <a:r>
            <a:rPr lang="en-US" sz="1900" b="1" kern="1200" dirty="0">
              <a:solidFill>
                <a:schemeClr val="tx1"/>
              </a:solidFill>
              <a:latin typeface="Times New Roman" panose="02020603050405020304" pitchFamily="18" charset="0"/>
              <a:cs typeface="Times New Roman" panose="02020603050405020304" pitchFamily="18" charset="0"/>
            </a:rPr>
            <a:t>Secure EHR Integration</a:t>
          </a:r>
          <a:br>
            <a:rPr lang="en-US" sz="1900" kern="1200" dirty="0">
              <a:solidFill>
                <a:schemeClr val="tx1"/>
              </a:solidFill>
              <a:latin typeface="Times New Roman" panose="02020603050405020304" pitchFamily="18" charset="0"/>
              <a:cs typeface="Times New Roman" panose="02020603050405020304" pitchFamily="18" charset="0"/>
            </a:rPr>
          </a:br>
          <a:r>
            <a:rPr lang="en-US" sz="1900" kern="1200" dirty="0">
              <a:solidFill>
                <a:schemeClr val="tx1"/>
              </a:solidFill>
              <a:latin typeface="Times New Roman" panose="02020603050405020304" pitchFamily="18" charset="0"/>
              <a:cs typeface="Times New Roman" panose="02020603050405020304" pitchFamily="18" charset="0"/>
            </a:rPr>
            <a:t>Uses SMART to preserve EHR privacy while ensuring reliable outcomes.</a:t>
          </a:r>
        </a:p>
      </dsp:txBody>
      <dsp:txXfrm>
        <a:off x="5807839" y="2112933"/>
        <a:ext cx="2723290" cy="1566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03E2A-792E-AF4C-A3E2-D24865E755C8}">
      <dsp:nvSpPr>
        <dsp:cNvPr id="0" name=""/>
        <dsp:cNvSpPr/>
      </dsp:nvSpPr>
      <dsp:spPr>
        <a:xfrm>
          <a:off x="0" y="721677"/>
          <a:ext cx="3137892" cy="1992561"/>
        </a:xfrm>
        <a:prstGeom prst="roundRect">
          <a:avLst>
            <a:gd name="adj" fmla="val 10000"/>
          </a:avLst>
        </a:prstGeom>
        <a:solidFill>
          <a:schemeClr val="bg1">
            <a:lumMod val="75000"/>
          </a:schemeClr>
        </a:solidFill>
        <a:ln w="12700" cap="flat" cmpd="sng" algn="in">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95440FE2-4C67-A048-88C3-233707F5368C}">
      <dsp:nvSpPr>
        <dsp:cNvPr id="0" name=""/>
        <dsp:cNvSpPr/>
      </dsp:nvSpPr>
      <dsp:spPr>
        <a:xfrm>
          <a:off x="348654" y="1052899"/>
          <a:ext cx="3137892" cy="1992561"/>
        </a:xfrm>
        <a:prstGeom prst="roundRect">
          <a:avLst>
            <a:gd name="adj" fmla="val 10000"/>
          </a:avLst>
        </a:prstGeom>
        <a:solidFill>
          <a:schemeClr val="lt1">
            <a:alpha val="90000"/>
            <a:hueOff val="0"/>
            <a:satOff val="0"/>
            <a:lumOff val="0"/>
            <a:alphaOff val="0"/>
          </a:schemeClr>
        </a:solidFill>
        <a:ln w="12700" cap="flat" cmpd="sng" algn="in">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Times New Roman" panose="02020603050405020304" pitchFamily="18" charset="0"/>
              <a:cs typeface="Times New Roman" panose="02020603050405020304" pitchFamily="18" charset="0"/>
            </a:rPr>
            <a:t>The elderly in assisted homes continue to be victims of falls they can avoid, stumbling and fall hurts, coupled with unproven cases of poor health conditions. </a:t>
          </a:r>
        </a:p>
      </dsp:txBody>
      <dsp:txXfrm>
        <a:off x="407014" y="1111259"/>
        <a:ext cx="3021172" cy="1875841"/>
      </dsp:txXfrm>
    </dsp:sp>
    <dsp:sp modelId="{13A3B444-140A-9E48-A300-8EE2362F5786}">
      <dsp:nvSpPr>
        <dsp:cNvPr id="0" name=""/>
        <dsp:cNvSpPr/>
      </dsp:nvSpPr>
      <dsp:spPr>
        <a:xfrm>
          <a:off x="3835201" y="721677"/>
          <a:ext cx="3137892" cy="1992561"/>
        </a:xfrm>
        <a:prstGeom prst="roundRect">
          <a:avLst>
            <a:gd name="adj" fmla="val 10000"/>
          </a:avLst>
        </a:prstGeom>
        <a:solidFill>
          <a:schemeClr val="bg1">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7D9E7E-91BC-3A42-9956-CAC270D79D78}">
      <dsp:nvSpPr>
        <dsp:cNvPr id="0" name=""/>
        <dsp:cNvSpPr/>
      </dsp:nvSpPr>
      <dsp:spPr>
        <a:xfrm>
          <a:off x="4183856" y="1052899"/>
          <a:ext cx="3137892" cy="1992561"/>
        </a:xfrm>
        <a:prstGeom prst="roundRect">
          <a:avLst>
            <a:gd name="adj" fmla="val 10000"/>
          </a:avLst>
        </a:prstGeom>
        <a:solidFill>
          <a:schemeClr val="lt1">
            <a:alpha val="90000"/>
            <a:hueOff val="0"/>
            <a:satOff val="0"/>
            <a:lumOff val="0"/>
            <a:alphaOff val="0"/>
          </a:schemeClr>
        </a:solidFill>
        <a:ln w="12700" cap="flat" cmpd="sng" algn="in">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Times New Roman" panose="02020603050405020304" pitchFamily="18" charset="0"/>
              <a:cs typeface="Times New Roman" panose="02020603050405020304" pitchFamily="18" charset="0"/>
            </a:rPr>
            <a:t>The existing systems are fragile and very loud and so tend to make a multitude of alerts that individuals have long since learning to ignore and result in the fatigue of being alerted.</a:t>
          </a:r>
        </a:p>
      </dsp:txBody>
      <dsp:txXfrm>
        <a:off x="4242216" y="1111259"/>
        <a:ext cx="3021172" cy="1875841"/>
      </dsp:txXfrm>
    </dsp:sp>
    <dsp:sp modelId="{E59F019D-AB4C-1947-A94C-94E3C87405C3}">
      <dsp:nvSpPr>
        <dsp:cNvPr id="0" name=""/>
        <dsp:cNvSpPr/>
      </dsp:nvSpPr>
      <dsp:spPr>
        <a:xfrm>
          <a:off x="7670403" y="721677"/>
          <a:ext cx="3137892" cy="1992561"/>
        </a:xfrm>
        <a:prstGeom prst="roundRect">
          <a:avLst>
            <a:gd name="adj" fmla="val 10000"/>
          </a:avLst>
        </a:prstGeom>
        <a:solidFill>
          <a:schemeClr val="bg1">
            <a:lumMod val="7500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97D039-749F-274A-BB2E-E3F88C7BA6EE}">
      <dsp:nvSpPr>
        <dsp:cNvPr id="0" name=""/>
        <dsp:cNvSpPr/>
      </dsp:nvSpPr>
      <dsp:spPr>
        <a:xfrm>
          <a:off x="8019057" y="1052899"/>
          <a:ext cx="3137892" cy="1992561"/>
        </a:xfrm>
        <a:prstGeom prst="roundRect">
          <a:avLst>
            <a:gd name="adj" fmla="val 10000"/>
          </a:avLst>
        </a:prstGeom>
        <a:solidFill>
          <a:schemeClr val="lt1">
            <a:alpha val="90000"/>
            <a:hueOff val="0"/>
            <a:satOff val="0"/>
            <a:lumOff val="0"/>
            <a:alphaOff val="0"/>
          </a:schemeClr>
        </a:solidFill>
        <a:ln w="12700" cap="flat" cmpd="sng" algn="in">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Times New Roman" panose="02020603050405020304" pitchFamily="18" charset="0"/>
              <a:cs typeface="Times New Roman" panose="02020603050405020304" pitchFamily="18" charset="0"/>
            </a:rPr>
            <a:t>ML based solutions make it more accurate, reduces the cases of false alarms, and causes the caregivers to feel confident with the alerts that it indicates.</a:t>
          </a:r>
        </a:p>
      </dsp:txBody>
      <dsp:txXfrm>
        <a:off x="8077417" y="1111259"/>
        <a:ext cx="3021172" cy="18758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8AFECA-11AC-4DEC-AAE2-110B8B4A8403}">
      <dsp:nvSpPr>
        <dsp:cNvPr id="0" name=""/>
        <dsp:cNvSpPr/>
      </dsp:nvSpPr>
      <dsp:spPr>
        <a:xfrm>
          <a:off x="273815" y="643669"/>
          <a:ext cx="919693" cy="919693"/>
        </a:xfrm>
        <a:prstGeom prst="ellipse">
          <a:avLst/>
        </a:prstGeom>
        <a:solidFill>
          <a:schemeClr val="bg1">
            <a:lumMod val="75000"/>
          </a:schemeClr>
        </a:solidFill>
        <a:ln>
          <a:noFill/>
        </a:ln>
        <a:effectLst/>
      </dsp:spPr>
      <dsp:style>
        <a:lnRef idx="0">
          <a:scrgbClr r="0" g="0" b="0"/>
        </a:lnRef>
        <a:fillRef idx="1">
          <a:scrgbClr r="0" g="0" b="0"/>
        </a:fillRef>
        <a:effectRef idx="0">
          <a:scrgbClr r="0" g="0" b="0"/>
        </a:effectRef>
        <a:fontRef idx="minor"/>
      </dsp:style>
    </dsp:sp>
    <dsp:sp modelId="{513880F2-AC83-4B53-A333-EE82C331B948}">
      <dsp:nvSpPr>
        <dsp:cNvPr id="0" name=""/>
        <dsp:cNvSpPr/>
      </dsp:nvSpPr>
      <dsp:spPr>
        <a:xfrm>
          <a:off x="466951" y="836804"/>
          <a:ext cx="533422" cy="5334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F6129AE9-0B0B-4293-B2BC-245683761B19}">
      <dsp:nvSpPr>
        <dsp:cNvPr id="0" name=""/>
        <dsp:cNvSpPr/>
      </dsp:nvSpPr>
      <dsp:spPr>
        <a:xfrm>
          <a:off x="1390586" y="643669"/>
          <a:ext cx="2167848" cy="91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0" kern="1200" dirty="0">
              <a:latin typeface="Times New Roman" panose="02020603050405020304" pitchFamily="18" charset="0"/>
              <a:cs typeface="Times New Roman" panose="02020603050405020304" pitchFamily="18" charset="0"/>
            </a:rPr>
            <a:t>ML/DL, </a:t>
          </a:r>
          <a:r>
            <a:rPr lang="en-US" sz="1600" b="0" kern="1200" dirty="0" err="1">
              <a:latin typeface="Times New Roman" panose="02020603050405020304" pitchFamily="18" charset="0"/>
              <a:cs typeface="Times New Roman" panose="02020603050405020304" pitchFamily="18" charset="0"/>
            </a:rPr>
            <a:t>Numpy</a:t>
          </a:r>
          <a:r>
            <a:rPr lang="en-US" sz="1600" b="0" kern="1200" dirty="0">
              <a:latin typeface="Times New Roman" panose="02020603050405020304" pitchFamily="18" charset="0"/>
              <a:cs typeface="Times New Roman" panose="02020603050405020304" pitchFamily="18" charset="0"/>
            </a:rPr>
            <a:t>/Pandas,</a:t>
          </a:r>
        </a:p>
        <a:p>
          <a:pPr marL="0" lvl="0" indent="0" algn="l" defTabSz="711200">
            <a:lnSpc>
              <a:spcPct val="100000"/>
            </a:lnSpc>
            <a:spcBef>
              <a:spcPct val="0"/>
            </a:spcBef>
            <a:spcAft>
              <a:spcPct val="35000"/>
            </a:spcAft>
            <a:buNone/>
          </a:pPr>
          <a:r>
            <a:rPr lang="en-US" sz="1600" kern="1200" dirty="0"/>
            <a:t> </a:t>
          </a:r>
        </a:p>
      </dsp:txBody>
      <dsp:txXfrm>
        <a:off x="1390586" y="643669"/>
        <a:ext cx="2167848" cy="919693"/>
      </dsp:txXfrm>
    </dsp:sp>
    <dsp:sp modelId="{47B0561B-123C-524D-94CA-755377CEB95C}">
      <dsp:nvSpPr>
        <dsp:cNvPr id="0" name=""/>
        <dsp:cNvSpPr/>
      </dsp:nvSpPr>
      <dsp:spPr>
        <a:xfrm>
          <a:off x="3936165" y="643669"/>
          <a:ext cx="919693" cy="919693"/>
        </a:xfrm>
        <a:prstGeom prst="ellipse">
          <a:avLst/>
        </a:prstGeom>
        <a:solidFill>
          <a:schemeClr val="bg1">
            <a:lumMod val="75000"/>
          </a:schemeClr>
        </a:solidFill>
        <a:ln>
          <a:noFill/>
        </a:ln>
        <a:effectLst/>
      </dsp:spPr>
      <dsp:style>
        <a:lnRef idx="0">
          <a:scrgbClr r="0" g="0" b="0"/>
        </a:lnRef>
        <a:fillRef idx="1">
          <a:scrgbClr r="0" g="0" b="0"/>
        </a:fillRef>
        <a:effectRef idx="0">
          <a:scrgbClr r="0" g="0" b="0"/>
        </a:effectRef>
        <a:fontRef idx="minor"/>
      </dsp:style>
    </dsp:sp>
    <dsp:sp modelId="{FDE39B48-3F6A-F244-A24C-67A65F7D10D1}">
      <dsp:nvSpPr>
        <dsp:cNvPr id="0" name=""/>
        <dsp:cNvSpPr/>
      </dsp:nvSpPr>
      <dsp:spPr>
        <a:xfrm>
          <a:off x="4124871" y="836804"/>
          <a:ext cx="542282" cy="533422"/>
        </a:xfrm>
        <a:prstGeom prst="rect">
          <a:avLst/>
        </a:prstGeom>
        <a:blipFill>
          <a:blip xmlns:r="http://schemas.openxmlformats.org/officeDocument/2006/relationships" r:embed="rId3"/>
          <a:srcRect/>
          <a:stretch>
            <a:fillRect l="-29000" r="-29000"/>
          </a:stretch>
        </a:blipFill>
        <a:ln w="12700" cap="flat" cmpd="sng" algn="in">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FA2420-E20B-B34F-9E9C-0227DF88C6DF}">
      <dsp:nvSpPr>
        <dsp:cNvPr id="0" name=""/>
        <dsp:cNvSpPr/>
      </dsp:nvSpPr>
      <dsp:spPr>
        <a:xfrm>
          <a:off x="5052936" y="643669"/>
          <a:ext cx="2167848" cy="91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 Virtual Studio Code</a:t>
          </a:r>
        </a:p>
      </dsp:txBody>
      <dsp:txXfrm>
        <a:off x="5052936" y="643669"/>
        <a:ext cx="2167848" cy="919693"/>
      </dsp:txXfrm>
    </dsp:sp>
    <dsp:sp modelId="{7999EC68-9D40-46CC-8FEF-80E49AE8A9E0}">
      <dsp:nvSpPr>
        <dsp:cNvPr id="0" name=""/>
        <dsp:cNvSpPr/>
      </dsp:nvSpPr>
      <dsp:spPr>
        <a:xfrm>
          <a:off x="7598515" y="643669"/>
          <a:ext cx="919693" cy="919693"/>
        </a:xfrm>
        <a:prstGeom prst="ellipse">
          <a:avLst/>
        </a:prstGeom>
        <a:solidFill>
          <a:schemeClr val="bg1">
            <a:lumMod val="75000"/>
          </a:schemeClr>
        </a:solidFill>
        <a:ln>
          <a:noFill/>
        </a:ln>
        <a:effectLst/>
      </dsp:spPr>
      <dsp:style>
        <a:lnRef idx="0">
          <a:scrgbClr r="0" g="0" b="0"/>
        </a:lnRef>
        <a:fillRef idx="1">
          <a:scrgbClr r="0" g="0" b="0"/>
        </a:fillRef>
        <a:effectRef idx="0">
          <a:scrgbClr r="0" g="0" b="0"/>
        </a:effectRef>
        <a:fontRef idx="minor"/>
      </dsp:style>
    </dsp:sp>
    <dsp:sp modelId="{7ABB208F-EA57-481F-8D57-C860EB22AD34}">
      <dsp:nvSpPr>
        <dsp:cNvPr id="0" name=""/>
        <dsp:cNvSpPr/>
      </dsp:nvSpPr>
      <dsp:spPr>
        <a:xfrm>
          <a:off x="7791651" y="836804"/>
          <a:ext cx="533422" cy="533422"/>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E07BC5C9-EDF7-449C-BCFD-27EA5F18F1D4}">
      <dsp:nvSpPr>
        <dsp:cNvPr id="0" name=""/>
        <dsp:cNvSpPr/>
      </dsp:nvSpPr>
      <dsp:spPr>
        <a:xfrm>
          <a:off x="8715285" y="643669"/>
          <a:ext cx="2167848" cy="91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0" kern="1200" dirty="0">
              <a:latin typeface="Times New Roman" panose="02020603050405020304" pitchFamily="18" charset="0"/>
              <a:cs typeface="Times New Roman" panose="02020603050405020304" pitchFamily="18" charset="0"/>
            </a:rPr>
            <a:t>Serving: NVIDIA Triton (GPU) or ONNX Runtime/</a:t>
          </a:r>
          <a:r>
            <a:rPr lang="en-US" sz="1600" b="0" kern="1200" dirty="0" err="1">
              <a:latin typeface="Times New Roman" panose="02020603050405020304" pitchFamily="18" charset="0"/>
              <a:cs typeface="Times New Roman" panose="02020603050405020304" pitchFamily="18" charset="0"/>
            </a:rPr>
            <a:t>TFLite</a:t>
          </a:r>
          <a:r>
            <a:rPr lang="en-US" sz="1600" b="0" kern="1200" dirty="0">
              <a:latin typeface="Times New Roman" panose="02020603050405020304" pitchFamily="18" charset="0"/>
              <a:cs typeface="Times New Roman" panose="02020603050405020304" pitchFamily="18" charset="0"/>
            </a:rPr>
            <a:t> (edge)</a:t>
          </a:r>
        </a:p>
      </dsp:txBody>
      <dsp:txXfrm>
        <a:off x="8715285" y="643669"/>
        <a:ext cx="2167848" cy="919693"/>
      </dsp:txXfrm>
    </dsp:sp>
    <dsp:sp modelId="{F0379356-C5D3-4A6C-A430-3B3777AC483B}">
      <dsp:nvSpPr>
        <dsp:cNvPr id="0" name=""/>
        <dsp:cNvSpPr/>
      </dsp:nvSpPr>
      <dsp:spPr>
        <a:xfrm>
          <a:off x="273815" y="2203775"/>
          <a:ext cx="919693" cy="919693"/>
        </a:xfrm>
        <a:prstGeom prst="ellipse">
          <a:avLst/>
        </a:prstGeom>
        <a:solidFill>
          <a:schemeClr val="bg1">
            <a:lumMod val="75000"/>
          </a:schemeClr>
        </a:solidFill>
        <a:ln>
          <a:noFill/>
        </a:ln>
        <a:effectLst/>
      </dsp:spPr>
      <dsp:style>
        <a:lnRef idx="0">
          <a:scrgbClr r="0" g="0" b="0"/>
        </a:lnRef>
        <a:fillRef idx="1">
          <a:scrgbClr r="0" g="0" b="0"/>
        </a:fillRef>
        <a:effectRef idx="0">
          <a:scrgbClr r="0" g="0" b="0"/>
        </a:effectRef>
        <a:fontRef idx="minor"/>
      </dsp:style>
    </dsp:sp>
    <dsp:sp modelId="{19AB4830-A118-437A-8DE4-CEC1E7F2B0DB}">
      <dsp:nvSpPr>
        <dsp:cNvPr id="0" name=""/>
        <dsp:cNvSpPr/>
      </dsp:nvSpPr>
      <dsp:spPr>
        <a:xfrm>
          <a:off x="466951" y="2396911"/>
          <a:ext cx="533422" cy="533422"/>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43AD0110-D205-4CB5-8631-C3AE118A8D70}">
      <dsp:nvSpPr>
        <dsp:cNvPr id="0" name=""/>
        <dsp:cNvSpPr/>
      </dsp:nvSpPr>
      <dsp:spPr>
        <a:xfrm>
          <a:off x="1390586" y="2203775"/>
          <a:ext cx="2167848" cy="91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0" kern="1200" dirty="0">
              <a:latin typeface="Times New Roman" panose="02020603050405020304" pitchFamily="18" charset="0"/>
              <a:cs typeface="Times New Roman" panose="02020603050405020304" pitchFamily="18" charset="0"/>
            </a:rPr>
            <a:t>Streaming: Streamlit &amp; GitHub</a:t>
          </a:r>
        </a:p>
        <a:p>
          <a:pPr marL="0" lvl="0" indent="0" algn="l" defTabSz="711200">
            <a:lnSpc>
              <a:spcPct val="100000"/>
            </a:lnSpc>
            <a:spcBef>
              <a:spcPct val="0"/>
            </a:spcBef>
            <a:spcAft>
              <a:spcPct val="35000"/>
            </a:spcAft>
            <a:buNone/>
          </a:pPr>
          <a:endParaRPr lang="en-US" sz="1600" kern="1200" dirty="0"/>
        </a:p>
      </dsp:txBody>
      <dsp:txXfrm>
        <a:off x="1390586" y="2203775"/>
        <a:ext cx="2167848" cy="919693"/>
      </dsp:txXfrm>
    </dsp:sp>
    <dsp:sp modelId="{3FE385AE-1C3A-46A7-B560-57D9D566500F}">
      <dsp:nvSpPr>
        <dsp:cNvPr id="0" name=""/>
        <dsp:cNvSpPr/>
      </dsp:nvSpPr>
      <dsp:spPr>
        <a:xfrm>
          <a:off x="3936165" y="2203775"/>
          <a:ext cx="919693" cy="919693"/>
        </a:xfrm>
        <a:prstGeom prst="ellipse">
          <a:avLst/>
        </a:prstGeom>
        <a:solidFill>
          <a:schemeClr val="bg1">
            <a:lumMod val="75000"/>
          </a:schemeClr>
        </a:solidFill>
        <a:ln>
          <a:noFill/>
        </a:ln>
        <a:effectLst/>
      </dsp:spPr>
      <dsp:style>
        <a:lnRef idx="0">
          <a:scrgbClr r="0" g="0" b="0"/>
        </a:lnRef>
        <a:fillRef idx="1">
          <a:scrgbClr r="0" g="0" b="0"/>
        </a:fillRef>
        <a:effectRef idx="0">
          <a:scrgbClr r="0" g="0" b="0"/>
        </a:effectRef>
        <a:fontRef idx="minor"/>
      </dsp:style>
    </dsp:sp>
    <dsp:sp modelId="{04B0A5D7-18AF-4A0E-B95A-2B4475445341}">
      <dsp:nvSpPr>
        <dsp:cNvPr id="0" name=""/>
        <dsp:cNvSpPr/>
      </dsp:nvSpPr>
      <dsp:spPr>
        <a:xfrm>
          <a:off x="4129301" y="2396911"/>
          <a:ext cx="533422" cy="533422"/>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C01CCA47-ECA0-4703-8EF6-D84FE9FA4994}">
      <dsp:nvSpPr>
        <dsp:cNvPr id="0" name=""/>
        <dsp:cNvSpPr/>
      </dsp:nvSpPr>
      <dsp:spPr>
        <a:xfrm>
          <a:off x="5052936" y="2203775"/>
          <a:ext cx="2167848" cy="91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0" kern="1200" dirty="0">
              <a:latin typeface="Times New Roman" panose="02020603050405020304" pitchFamily="18" charset="0"/>
              <a:cs typeface="Times New Roman" panose="02020603050405020304" pitchFamily="18" charset="0"/>
            </a:rPr>
            <a:t>APIs/UI: </a:t>
          </a:r>
          <a:r>
            <a:rPr lang="en-US" sz="1600" b="0" kern="1200" dirty="0" err="1">
              <a:latin typeface="Times New Roman" panose="02020603050405020304" pitchFamily="18" charset="0"/>
              <a:cs typeface="Times New Roman" panose="02020603050405020304" pitchFamily="18" charset="0"/>
            </a:rPr>
            <a:t>FastAPI</a:t>
          </a:r>
          <a:r>
            <a:rPr lang="en-US" sz="1600" b="0" kern="1200" dirty="0">
              <a:latin typeface="Times New Roman" panose="02020603050405020304" pitchFamily="18" charset="0"/>
              <a:cs typeface="Times New Roman" panose="02020603050405020304" pitchFamily="18" charset="0"/>
            </a:rPr>
            <a:t> (REST + SSE), React/</a:t>
          </a:r>
          <a:r>
            <a:rPr lang="en-US" sz="1600" b="0" kern="1200" dirty="0" err="1">
              <a:latin typeface="Times New Roman" panose="02020603050405020304" pitchFamily="18" charset="0"/>
              <a:cs typeface="Times New Roman" panose="02020603050405020304" pitchFamily="18" charset="0"/>
            </a:rPr>
            <a:t>Next.js</a:t>
          </a:r>
          <a:r>
            <a:rPr lang="en-US" sz="1600" b="0" kern="1200" dirty="0">
              <a:latin typeface="Times New Roman" panose="02020603050405020304" pitchFamily="18" charset="0"/>
              <a:cs typeface="Times New Roman" panose="02020603050405020304" pitchFamily="18" charset="0"/>
            </a:rPr>
            <a:t> (dashboard)</a:t>
          </a:r>
        </a:p>
      </dsp:txBody>
      <dsp:txXfrm>
        <a:off x="5052936" y="2203775"/>
        <a:ext cx="2167848" cy="919693"/>
      </dsp:txXfrm>
    </dsp:sp>
    <dsp:sp modelId="{DC03B542-E6C7-4548-A3A7-0AD2B9FD58C2}">
      <dsp:nvSpPr>
        <dsp:cNvPr id="0" name=""/>
        <dsp:cNvSpPr/>
      </dsp:nvSpPr>
      <dsp:spPr>
        <a:xfrm>
          <a:off x="7598515" y="2203775"/>
          <a:ext cx="919693" cy="919693"/>
        </a:xfrm>
        <a:prstGeom prst="ellipse">
          <a:avLst/>
        </a:prstGeom>
        <a:solidFill>
          <a:schemeClr val="bg1">
            <a:lumMod val="75000"/>
          </a:schemeClr>
        </a:solidFill>
        <a:ln>
          <a:noFill/>
        </a:ln>
        <a:effectLst/>
      </dsp:spPr>
      <dsp:style>
        <a:lnRef idx="0">
          <a:scrgbClr r="0" g="0" b="0"/>
        </a:lnRef>
        <a:fillRef idx="1">
          <a:scrgbClr r="0" g="0" b="0"/>
        </a:fillRef>
        <a:effectRef idx="0">
          <a:scrgbClr r="0" g="0" b="0"/>
        </a:effectRef>
        <a:fontRef idx="minor"/>
      </dsp:style>
    </dsp:sp>
    <dsp:sp modelId="{4A5D70EF-A153-4687-8D83-53674D365D48}">
      <dsp:nvSpPr>
        <dsp:cNvPr id="0" name=""/>
        <dsp:cNvSpPr/>
      </dsp:nvSpPr>
      <dsp:spPr>
        <a:xfrm>
          <a:off x="7791651" y="2396911"/>
          <a:ext cx="533422" cy="533422"/>
        </a:xfrm>
        <a:prstGeom prst="rect">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121A6228-D885-4CBA-8653-4CC40C82615F}">
      <dsp:nvSpPr>
        <dsp:cNvPr id="0" name=""/>
        <dsp:cNvSpPr/>
      </dsp:nvSpPr>
      <dsp:spPr>
        <a:xfrm>
          <a:off x="8715285" y="2203775"/>
          <a:ext cx="2167848" cy="91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0" kern="1200" dirty="0">
              <a:latin typeface="Times New Roman" panose="02020603050405020304" pitchFamily="18" charset="0"/>
              <a:cs typeface="Times New Roman" panose="02020603050405020304" pitchFamily="18" charset="0"/>
            </a:rPr>
            <a:t>EHR: SMART on FHIR bridge (Observations, Detected Issues)</a:t>
          </a:r>
        </a:p>
      </dsp:txBody>
      <dsp:txXfrm>
        <a:off x="8715285" y="2203775"/>
        <a:ext cx="2167848" cy="9196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1FAF9E-8C5A-45BF-A22A-0AF3AE21BE20}">
      <dsp:nvSpPr>
        <dsp:cNvPr id="0" name=""/>
        <dsp:cNvSpPr/>
      </dsp:nvSpPr>
      <dsp:spPr>
        <a:xfrm>
          <a:off x="916474" y="32801"/>
          <a:ext cx="1921500" cy="1921500"/>
        </a:xfrm>
        <a:prstGeom prst="round2DiagRect">
          <a:avLst>
            <a:gd name="adj1" fmla="val 29727"/>
            <a:gd name="adj2" fmla="val 0"/>
          </a:avLst>
        </a:prstGeom>
        <a:blipFill rotWithShape="0">
          <a:blip xmlns:r="http://schemas.openxmlformats.org/officeDocument/2006/relationships" r:embed="rId1"/>
          <a:tile tx="0" ty="0" sx="100000" sy="100000" flip="none" algn="tl"/>
        </a:blipFill>
        <a:ln w="38100">
          <a:solidFill>
            <a:schemeClr val="tx1"/>
          </a:solidFill>
        </a:ln>
        <a:effectLst/>
      </dsp:spPr>
      <dsp:style>
        <a:lnRef idx="0">
          <a:scrgbClr r="0" g="0" b="0"/>
        </a:lnRef>
        <a:fillRef idx="1">
          <a:scrgbClr r="0" g="0" b="0"/>
        </a:fillRef>
        <a:effectRef idx="0">
          <a:scrgbClr r="0" g="0" b="0"/>
        </a:effectRef>
        <a:fontRef idx="minor"/>
      </dsp:style>
    </dsp:sp>
    <dsp:sp modelId="{BC038372-2E71-4550-892D-733C0DFC907D}">
      <dsp:nvSpPr>
        <dsp:cNvPr id="0" name=""/>
        <dsp:cNvSpPr/>
      </dsp:nvSpPr>
      <dsp:spPr>
        <a:xfrm>
          <a:off x="1325974" y="442301"/>
          <a:ext cx="1102499" cy="1102499"/>
        </a:xfrm>
        <a:prstGeom prst="rect">
          <a:avLst/>
        </a:prstGeom>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23351F89-99EA-441F-B340-92A6FE4BB5F7}">
      <dsp:nvSpPr>
        <dsp:cNvPr id="0" name=""/>
        <dsp:cNvSpPr/>
      </dsp:nvSpPr>
      <dsp:spPr>
        <a:xfrm>
          <a:off x="711252" y="2475800"/>
          <a:ext cx="3150000" cy="1181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solidFill>
                <a:schemeClr val="tx1"/>
              </a:solidFill>
              <a:latin typeface="Times New Roman" panose="02020603050405020304" pitchFamily="18" charset="0"/>
              <a:cs typeface="Times New Roman" panose="02020603050405020304" pitchFamily="18" charset="0"/>
            </a:rPr>
            <a:t>This project entails the development of a multi-modal and the ML-based and real-time monitoring system, which is superior to the one used in fall detection technology at present.</a:t>
          </a:r>
          <a:endParaRPr lang="en-US" sz="1200" kern="1200" dirty="0">
            <a:solidFill>
              <a:schemeClr val="tx1"/>
            </a:solidFill>
            <a:latin typeface="Times New Roman" panose="02020603050405020304" pitchFamily="18" charset="0"/>
            <a:cs typeface="Times New Roman" panose="02020603050405020304" pitchFamily="18" charset="0"/>
          </a:endParaRPr>
        </a:p>
      </dsp:txBody>
      <dsp:txXfrm>
        <a:off x="711252" y="2475800"/>
        <a:ext cx="3150000" cy="1181535"/>
      </dsp:txXfrm>
    </dsp:sp>
    <dsp:sp modelId="{F1877F9A-50CC-4C28-9080-E9A2EB47741A}">
      <dsp:nvSpPr>
        <dsp:cNvPr id="0" name=""/>
        <dsp:cNvSpPr/>
      </dsp:nvSpPr>
      <dsp:spPr>
        <a:xfrm>
          <a:off x="4617725" y="32801"/>
          <a:ext cx="1921500" cy="1921500"/>
        </a:xfrm>
        <a:prstGeom prst="round2DiagRect">
          <a:avLst>
            <a:gd name="adj1" fmla="val 29727"/>
            <a:gd name="adj2" fmla="val 0"/>
          </a:avLst>
        </a:prstGeom>
        <a:blipFill rotWithShape="0">
          <a:blip xmlns:r="http://schemas.openxmlformats.org/officeDocument/2006/relationships" r:embed="rId1"/>
          <a:tile tx="0" ty="0" sx="100000" sy="100000" flip="none" algn="tl"/>
        </a:blipFill>
        <a:ln w="38100">
          <a:solidFill>
            <a:schemeClr val="tx1"/>
          </a:solidFill>
        </a:ln>
        <a:effectLst/>
      </dsp:spPr>
      <dsp:style>
        <a:lnRef idx="0">
          <a:scrgbClr r="0" g="0" b="0"/>
        </a:lnRef>
        <a:fillRef idx="1">
          <a:scrgbClr r="0" g="0" b="0"/>
        </a:fillRef>
        <a:effectRef idx="0">
          <a:scrgbClr r="0" g="0" b="0"/>
        </a:effectRef>
        <a:fontRef idx="minor"/>
      </dsp:style>
    </dsp:sp>
    <dsp:sp modelId="{96C6C682-61C7-46D7-8240-98A72FBA3A6E}">
      <dsp:nvSpPr>
        <dsp:cNvPr id="0" name=""/>
        <dsp:cNvSpPr/>
      </dsp:nvSpPr>
      <dsp:spPr>
        <a:xfrm>
          <a:off x="5027225" y="442301"/>
          <a:ext cx="1102499" cy="1102499"/>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B43A978A-DE8F-43F4-9290-3735BAE8284D}">
      <dsp:nvSpPr>
        <dsp:cNvPr id="0" name=""/>
        <dsp:cNvSpPr/>
      </dsp:nvSpPr>
      <dsp:spPr>
        <a:xfrm>
          <a:off x="4003159" y="2453115"/>
          <a:ext cx="3150000" cy="1181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solidFill>
                <a:schemeClr val="tx1"/>
              </a:solidFill>
              <a:latin typeface="Times New Roman" panose="02020603050405020304" pitchFamily="18" charset="0"/>
              <a:cs typeface="Times New Roman" panose="02020603050405020304" pitchFamily="18" charset="0"/>
            </a:rPr>
            <a:t>We are incorporating wearables, environment sensors, glove cameras that are privacy friendly and vital signs tracking to provide all-day care to seniors.</a:t>
          </a:r>
          <a:endParaRPr lang="en-US" sz="1200" kern="1200" dirty="0">
            <a:solidFill>
              <a:schemeClr val="tx1"/>
            </a:solidFill>
            <a:latin typeface="Times New Roman" panose="02020603050405020304" pitchFamily="18" charset="0"/>
            <a:cs typeface="Times New Roman" panose="02020603050405020304" pitchFamily="18" charset="0"/>
          </a:endParaRPr>
        </a:p>
      </dsp:txBody>
      <dsp:txXfrm>
        <a:off x="4003159" y="2453115"/>
        <a:ext cx="3150000" cy="1181535"/>
      </dsp:txXfrm>
    </dsp:sp>
    <dsp:sp modelId="{CAFE6449-6F82-4D97-9CE9-133383509D43}">
      <dsp:nvSpPr>
        <dsp:cNvPr id="0" name=""/>
        <dsp:cNvSpPr/>
      </dsp:nvSpPr>
      <dsp:spPr>
        <a:xfrm>
          <a:off x="8318975" y="32801"/>
          <a:ext cx="1921500" cy="1921500"/>
        </a:xfrm>
        <a:prstGeom prst="round2DiagRect">
          <a:avLst>
            <a:gd name="adj1" fmla="val 29727"/>
            <a:gd name="adj2" fmla="val 0"/>
          </a:avLst>
        </a:prstGeom>
        <a:blipFill rotWithShape="0">
          <a:blip xmlns:r="http://schemas.openxmlformats.org/officeDocument/2006/relationships" r:embed="rId1"/>
          <a:tile tx="0" ty="0" sx="100000" sy="100000" flip="none" algn="tl"/>
        </a:blipFill>
        <a:ln w="38100">
          <a:solidFill>
            <a:schemeClr val="tx1"/>
          </a:solidFill>
        </a:ln>
        <a:effectLst/>
      </dsp:spPr>
      <dsp:style>
        <a:lnRef idx="0">
          <a:scrgbClr r="0" g="0" b="0"/>
        </a:lnRef>
        <a:fillRef idx="1">
          <a:scrgbClr r="0" g="0" b="0"/>
        </a:fillRef>
        <a:effectRef idx="0">
          <a:scrgbClr r="0" g="0" b="0"/>
        </a:effectRef>
        <a:fontRef idx="minor"/>
      </dsp:style>
    </dsp:sp>
    <dsp:sp modelId="{75F2EF03-99FB-47FD-B4F8-FE38D74EDB21}">
      <dsp:nvSpPr>
        <dsp:cNvPr id="0" name=""/>
        <dsp:cNvSpPr/>
      </dsp:nvSpPr>
      <dsp:spPr>
        <a:xfrm>
          <a:off x="8728475" y="442301"/>
          <a:ext cx="1102499" cy="1102499"/>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5D4A22C0-56B1-4156-93D7-BC400497DECA}">
      <dsp:nvSpPr>
        <dsp:cNvPr id="0" name=""/>
        <dsp:cNvSpPr/>
      </dsp:nvSpPr>
      <dsp:spPr>
        <a:xfrm>
          <a:off x="7725263" y="2453115"/>
          <a:ext cx="3150000" cy="1181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solidFill>
                <a:schemeClr val="tx1"/>
              </a:solidFill>
              <a:latin typeface="Times New Roman" panose="02020603050405020304" pitchFamily="18" charset="0"/>
              <a:cs typeface="Times New Roman" panose="02020603050405020304" pitchFamily="18" charset="0"/>
            </a:rPr>
            <a:t>With sensor fusion, edge computing and the connection to electronic health records, quicker response, fewer false alerts, and improved overall experience of care in assisted living and hospitals are realized.</a:t>
          </a:r>
          <a:endParaRPr lang="en-US" sz="1200" kern="1200" dirty="0">
            <a:solidFill>
              <a:schemeClr val="tx1"/>
            </a:solidFill>
            <a:latin typeface="Times New Roman" panose="02020603050405020304" pitchFamily="18" charset="0"/>
            <a:cs typeface="Times New Roman" panose="02020603050405020304" pitchFamily="18" charset="0"/>
          </a:endParaRPr>
        </a:p>
      </dsp:txBody>
      <dsp:txXfrm>
        <a:off x="7725263" y="2453115"/>
        <a:ext cx="3150000" cy="118153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9A86F-745B-CC44-93FD-CDB3D00FB79A}" type="datetimeFigureOut">
              <a:rPr lang="en-US" smtClean="0"/>
              <a:t>12/5/25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D65F91-D34C-6B4A-9AD5-88C6ED571587}" type="slidenum">
              <a:rPr lang="en-US" smtClean="0"/>
              <a:t>‹#›</a:t>
            </a:fld>
            <a:endParaRPr lang="en-US"/>
          </a:p>
        </p:txBody>
      </p:sp>
    </p:spTree>
    <p:extLst>
      <p:ext uri="{BB962C8B-B14F-4D97-AF65-F5344CB8AC3E}">
        <p14:creationId xmlns:p14="http://schemas.microsoft.com/office/powerpoint/2010/main" val="1079704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207D2D-C40F-B340-AA6C-83143B0BC2F8}" type="slidenum">
              <a:rPr lang="en-US" smtClean="0"/>
              <a:t>1</a:t>
            </a:fld>
            <a:endParaRPr lang="en-US"/>
          </a:p>
        </p:txBody>
      </p:sp>
    </p:spTree>
    <p:extLst>
      <p:ext uri="{BB962C8B-B14F-4D97-AF65-F5344CB8AC3E}">
        <p14:creationId xmlns:p14="http://schemas.microsoft.com/office/powerpoint/2010/main" val="895279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Alarm fatigue is real sometimes the response time is slow and maybe short staff. </a:t>
            </a:r>
          </a:p>
          <a:p>
            <a:r>
              <a:rPr lang="en-US" dirty="0"/>
              <a:t>Fusion plus calibrations can raise precision without losing recall.</a:t>
            </a:r>
          </a:p>
          <a:p>
            <a:r>
              <a:rPr lang="en-US" dirty="0"/>
              <a:t>Using ML can provide better results and can reduce the cases of false alarms and improve the quality of life.</a:t>
            </a:r>
          </a:p>
          <a:p>
            <a:endParaRPr lang="en-US" dirty="0"/>
          </a:p>
          <a:p>
            <a:endParaRPr lang="en-US" dirty="0"/>
          </a:p>
        </p:txBody>
      </p:sp>
      <p:sp>
        <p:nvSpPr>
          <p:cNvPr id="4" name="Slide Number Placeholder 3"/>
          <p:cNvSpPr>
            <a:spLocks noGrp="1"/>
          </p:cNvSpPr>
          <p:nvPr>
            <p:ph type="sldNum" sz="quarter" idx="5"/>
          </p:nvPr>
        </p:nvSpPr>
        <p:spPr/>
        <p:txBody>
          <a:bodyPr/>
          <a:lstStyle/>
          <a:p>
            <a:fld id="{40207D2D-C40F-B340-AA6C-83143B0BC2F8}" type="slidenum">
              <a:rPr lang="en-US" smtClean="0"/>
              <a:t>4</a:t>
            </a:fld>
            <a:endParaRPr lang="en-US"/>
          </a:p>
        </p:txBody>
      </p:sp>
    </p:spTree>
    <p:extLst>
      <p:ext uri="{BB962C8B-B14F-4D97-AF65-F5344CB8AC3E}">
        <p14:creationId xmlns:p14="http://schemas.microsoft.com/office/powerpoint/2010/main" val="3216101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207D2D-C40F-B340-AA6C-83143B0BC2F8}" type="slidenum">
              <a:rPr lang="en-US" smtClean="0"/>
              <a:t>8</a:t>
            </a:fld>
            <a:endParaRPr lang="en-US"/>
          </a:p>
        </p:txBody>
      </p:sp>
    </p:spTree>
    <p:extLst>
      <p:ext uri="{BB962C8B-B14F-4D97-AF65-F5344CB8AC3E}">
        <p14:creationId xmlns:p14="http://schemas.microsoft.com/office/powerpoint/2010/main" val="2989328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RTMMS provides privacy-first, real-time safety with measurable SLAs. (Service level Agreements)</a:t>
            </a:r>
          </a:p>
          <a:p>
            <a:r>
              <a:rPr lang="en-US" dirty="0"/>
              <a:t>Fusion + calibration reduce alarm burden while preserving recall.</a:t>
            </a:r>
          </a:p>
          <a:p>
            <a:r>
              <a:rPr lang="en-US" dirty="0"/>
              <a:t>EHR integration enables auditability and clinical handoff.</a:t>
            </a:r>
          </a:p>
          <a:p>
            <a:r>
              <a:rPr lang="en-US" dirty="0"/>
              <a:t>By maintaining the PHI as a bridge to protect the EHR  can guarantee the privacy.</a:t>
            </a:r>
          </a:p>
        </p:txBody>
      </p:sp>
      <p:sp>
        <p:nvSpPr>
          <p:cNvPr id="4" name="Slide Number Placeholder 3"/>
          <p:cNvSpPr>
            <a:spLocks noGrp="1"/>
          </p:cNvSpPr>
          <p:nvPr>
            <p:ph type="sldNum" sz="quarter" idx="5"/>
          </p:nvPr>
        </p:nvSpPr>
        <p:spPr/>
        <p:txBody>
          <a:bodyPr/>
          <a:lstStyle/>
          <a:p>
            <a:fld id="{40207D2D-C40F-B340-AA6C-83143B0BC2F8}" type="slidenum">
              <a:rPr lang="en-US" smtClean="0"/>
              <a:t>25</a:t>
            </a:fld>
            <a:endParaRPr lang="en-US"/>
          </a:p>
        </p:txBody>
      </p:sp>
    </p:spTree>
    <p:extLst>
      <p:ext uri="{BB962C8B-B14F-4D97-AF65-F5344CB8AC3E}">
        <p14:creationId xmlns:p14="http://schemas.microsoft.com/office/powerpoint/2010/main" val="3504014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CE4848C6-C633-2F42-B2DC-99D76560DF0D}" type="datetime1">
              <a:rPr lang="en-US" smtClean="0"/>
              <a:t>12/5/25</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r>
              <a:rPr lang="en-US"/>
              <a:t>CS699B_FA25 - Professional Seminar</a:t>
            </a:r>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6C37529B-A776-F94F-942C-67A2A3940E8A}"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24723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F523B4-DD44-224D-BBBB-E1D78607DF51}" type="datetime1">
              <a:rPr lang="en-US" smtClean="0"/>
              <a:t>12/5/25</a:t>
            </a:fld>
            <a:endParaRPr lang="en-US"/>
          </a:p>
        </p:txBody>
      </p:sp>
      <p:sp>
        <p:nvSpPr>
          <p:cNvPr id="5" name="Footer Placeholder 4"/>
          <p:cNvSpPr>
            <a:spLocks noGrp="1"/>
          </p:cNvSpPr>
          <p:nvPr>
            <p:ph type="ftr" sz="quarter" idx="11"/>
          </p:nvPr>
        </p:nvSpPr>
        <p:spPr/>
        <p:txBody>
          <a:bodyPr/>
          <a:lstStyle/>
          <a:p>
            <a:r>
              <a:rPr lang="en-US"/>
              <a:t>CS699B_FA25 - Professional Seminar</a:t>
            </a:r>
          </a:p>
        </p:txBody>
      </p:sp>
      <p:sp>
        <p:nvSpPr>
          <p:cNvPr id="6" name="Slide Number Placeholder 5"/>
          <p:cNvSpPr>
            <a:spLocks noGrp="1"/>
          </p:cNvSpPr>
          <p:nvPr>
            <p:ph type="sldNum" sz="quarter" idx="12"/>
          </p:nvPr>
        </p:nvSpPr>
        <p:spPr/>
        <p:txBody>
          <a:bodyPr/>
          <a:lstStyle/>
          <a:p>
            <a:fld id="{6C37529B-A776-F94F-942C-67A2A3940E8A}" type="slidenum">
              <a:rPr lang="en-US" smtClean="0"/>
              <a:t>‹#›</a:t>
            </a:fld>
            <a:endParaRPr lang="en-US"/>
          </a:p>
        </p:txBody>
      </p:sp>
    </p:spTree>
    <p:extLst>
      <p:ext uri="{BB962C8B-B14F-4D97-AF65-F5344CB8AC3E}">
        <p14:creationId xmlns:p14="http://schemas.microsoft.com/office/powerpoint/2010/main" val="639480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15E384DE-F535-3247-BB6D-A6D547C9E10C}" type="datetime1">
              <a:rPr lang="en-US" smtClean="0"/>
              <a:t>12/5/25</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r>
              <a:rPr lang="en-US"/>
              <a:t>CS699B_FA25 - Professional Seminar</a:t>
            </a:r>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6C37529B-A776-F94F-942C-67A2A3940E8A}"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131551890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2D728B-1CCC-0F4B-93E9-A42466E233AC}" type="datetime1">
              <a:rPr lang="en-US" smtClean="0"/>
              <a:t>12/5/25</a:t>
            </a:fld>
            <a:endParaRPr lang="en-US"/>
          </a:p>
        </p:txBody>
      </p:sp>
      <p:sp>
        <p:nvSpPr>
          <p:cNvPr id="6" name="Footer Placeholder 5"/>
          <p:cNvSpPr>
            <a:spLocks noGrp="1"/>
          </p:cNvSpPr>
          <p:nvPr>
            <p:ph type="ftr" sz="quarter" idx="11"/>
          </p:nvPr>
        </p:nvSpPr>
        <p:spPr/>
        <p:txBody>
          <a:bodyPr/>
          <a:lstStyle/>
          <a:p>
            <a:r>
              <a:rPr lang="en-US"/>
              <a:t>CS699B_FA25 - Professional Seminar</a:t>
            </a:r>
          </a:p>
        </p:txBody>
      </p:sp>
      <p:sp>
        <p:nvSpPr>
          <p:cNvPr id="7" name="Slide Number Placeholder 6"/>
          <p:cNvSpPr>
            <a:spLocks noGrp="1"/>
          </p:cNvSpPr>
          <p:nvPr>
            <p:ph type="sldNum" sz="quarter" idx="12"/>
          </p:nvPr>
        </p:nvSpPr>
        <p:spPr/>
        <p:txBody>
          <a:bodyPr/>
          <a:lstStyle/>
          <a:p>
            <a:fld id="{6C37529B-A776-F94F-942C-67A2A3940E8A}" type="slidenum">
              <a:rPr lang="en-US" smtClean="0"/>
              <a:t>‹#›</a:t>
            </a:fld>
            <a:endParaRPr lang="en-US"/>
          </a:p>
        </p:txBody>
      </p:sp>
    </p:spTree>
    <p:extLst>
      <p:ext uri="{BB962C8B-B14F-4D97-AF65-F5344CB8AC3E}">
        <p14:creationId xmlns:p14="http://schemas.microsoft.com/office/powerpoint/2010/main" val="127686550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16CD02-DEF4-E345-B6C0-91580AB579F9}" type="datetime1">
              <a:rPr lang="en-US" smtClean="0"/>
              <a:t>12/5/25</a:t>
            </a:fld>
            <a:endParaRPr lang="en-US"/>
          </a:p>
        </p:txBody>
      </p:sp>
      <p:sp>
        <p:nvSpPr>
          <p:cNvPr id="8" name="Footer Placeholder 7"/>
          <p:cNvSpPr>
            <a:spLocks noGrp="1"/>
          </p:cNvSpPr>
          <p:nvPr>
            <p:ph type="ftr" sz="quarter" idx="11"/>
          </p:nvPr>
        </p:nvSpPr>
        <p:spPr/>
        <p:txBody>
          <a:bodyPr/>
          <a:lstStyle/>
          <a:p>
            <a:r>
              <a:rPr lang="en-US"/>
              <a:t>CS699B_FA25 - Professional Seminar</a:t>
            </a:r>
          </a:p>
        </p:txBody>
      </p:sp>
      <p:sp>
        <p:nvSpPr>
          <p:cNvPr id="9" name="Slide Number Placeholder 8"/>
          <p:cNvSpPr>
            <a:spLocks noGrp="1"/>
          </p:cNvSpPr>
          <p:nvPr>
            <p:ph type="sldNum" sz="quarter" idx="12"/>
          </p:nvPr>
        </p:nvSpPr>
        <p:spPr/>
        <p:txBody>
          <a:bodyPr/>
          <a:lstStyle/>
          <a:p>
            <a:fld id="{6C37529B-A776-F94F-942C-67A2A3940E8A}" type="slidenum">
              <a:rPr lang="en-US" smtClean="0"/>
              <a:t>‹#›</a:t>
            </a:fld>
            <a:endParaRPr lang="en-US"/>
          </a:p>
        </p:txBody>
      </p:sp>
    </p:spTree>
    <p:extLst>
      <p:ext uri="{BB962C8B-B14F-4D97-AF65-F5344CB8AC3E}">
        <p14:creationId xmlns:p14="http://schemas.microsoft.com/office/powerpoint/2010/main" val="389548341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538AD2-E985-0744-BE4F-30D82CDE7E91}" type="datetime1">
              <a:rPr lang="en-US" smtClean="0"/>
              <a:t>12/5/25</a:t>
            </a:fld>
            <a:endParaRPr lang="en-US"/>
          </a:p>
        </p:txBody>
      </p:sp>
      <p:sp>
        <p:nvSpPr>
          <p:cNvPr id="4" name="Footer Placeholder 3"/>
          <p:cNvSpPr>
            <a:spLocks noGrp="1"/>
          </p:cNvSpPr>
          <p:nvPr>
            <p:ph type="ftr" sz="quarter" idx="11"/>
          </p:nvPr>
        </p:nvSpPr>
        <p:spPr/>
        <p:txBody>
          <a:bodyPr/>
          <a:lstStyle/>
          <a:p>
            <a:r>
              <a:rPr lang="en-US"/>
              <a:t>CS699B_FA25 - Professional Seminar</a:t>
            </a:r>
          </a:p>
        </p:txBody>
      </p:sp>
      <p:sp>
        <p:nvSpPr>
          <p:cNvPr id="5" name="Slide Number Placeholder 4"/>
          <p:cNvSpPr>
            <a:spLocks noGrp="1"/>
          </p:cNvSpPr>
          <p:nvPr>
            <p:ph type="sldNum" sz="quarter" idx="12"/>
          </p:nvPr>
        </p:nvSpPr>
        <p:spPr/>
        <p:txBody>
          <a:bodyPr/>
          <a:lstStyle/>
          <a:p>
            <a:fld id="{6C37529B-A776-F94F-942C-67A2A3940E8A}" type="slidenum">
              <a:rPr lang="en-US" smtClean="0"/>
              <a:t>‹#›</a:t>
            </a:fld>
            <a:endParaRPr lang="en-US"/>
          </a:p>
        </p:txBody>
      </p:sp>
    </p:spTree>
    <p:extLst>
      <p:ext uri="{BB962C8B-B14F-4D97-AF65-F5344CB8AC3E}">
        <p14:creationId xmlns:p14="http://schemas.microsoft.com/office/powerpoint/2010/main" val="2539383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B2930F-FD14-3647-8B04-EB769DB97EEE}" type="datetime1">
              <a:rPr lang="en-US" smtClean="0"/>
              <a:t>12/5/25</a:t>
            </a:fld>
            <a:endParaRPr lang="en-US"/>
          </a:p>
        </p:txBody>
      </p:sp>
      <p:sp>
        <p:nvSpPr>
          <p:cNvPr id="3" name="Footer Placeholder 2"/>
          <p:cNvSpPr>
            <a:spLocks noGrp="1"/>
          </p:cNvSpPr>
          <p:nvPr>
            <p:ph type="ftr" sz="quarter" idx="11"/>
          </p:nvPr>
        </p:nvSpPr>
        <p:spPr/>
        <p:txBody>
          <a:bodyPr/>
          <a:lstStyle/>
          <a:p>
            <a:r>
              <a:rPr lang="en-US"/>
              <a:t>CS699B_FA25 - Professional Seminar</a:t>
            </a:r>
          </a:p>
        </p:txBody>
      </p:sp>
      <p:sp>
        <p:nvSpPr>
          <p:cNvPr id="4" name="Slide Number Placeholder 3"/>
          <p:cNvSpPr>
            <a:spLocks noGrp="1"/>
          </p:cNvSpPr>
          <p:nvPr>
            <p:ph type="sldNum" sz="quarter" idx="12"/>
          </p:nvPr>
        </p:nvSpPr>
        <p:spPr/>
        <p:txBody>
          <a:bodyPr/>
          <a:lstStyle/>
          <a:p>
            <a:fld id="{6C37529B-A776-F94F-942C-67A2A3940E8A}" type="slidenum">
              <a:rPr lang="en-US" smtClean="0"/>
              <a:t>‹#›</a:t>
            </a:fld>
            <a:endParaRPr lang="en-US"/>
          </a:p>
        </p:txBody>
      </p:sp>
    </p:spTree>
    <p:extLst>
      <p:ext uri="{BB962C8B-B14F-4D97-AF65-F5344CB8AC3E}">
        <p14:creationId xmlns:p14="http://schemas.microsoft.com/office/powerpoint/2010/main" val="2469599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US"/>
          </a:p>
        </p:txBody>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AB34978E-0C29-9440-BFF2-E0CDD612FFB3}" type="datetime1">
              <a:rPr lang="en-US" smtClean="0"/>
              <a:t>12/5/25</a:t>
            </a:fld>
            <a:endParaRPr lang="en-US"/>
          </a:p>
        </p:txBody>
      </p:sp>
      <p:sp>
        <p:nvSpPr>
          <p:cNvPr id="6" name="Footer Placeholder 5"/>
          <p:cNvSpPr>
            <a:spLocks noGrp="1"/>
          </p:cNvSpPr>
          <p:nvPr>
            <p:ph type="ftr" sz="quarter" idx="11"/>
          </p:nvPr>
        </p:nvSpPr>
        <p:spPr>
          <a:xfrm>
            <a:off x="2103620" y="6375679"/>
            <a:ext cx="3482179" cy="345796"/>
          </a:xfrm>
        </p:spPr>
        <p:txBody>
          <a:bodyPr/>
          <a:lstStyle/>
          <a:p>
            <a:r>
              <a:rPr lang="en-US"/>
              <a:t>CS699B_FA25 - Professional Seminar</a:t>
            </a:r>
          </a:p>
        </p:txBody>
      </p:sp>
      <p:sp>
        <p:nvSpPr>
          <p:cNvPr id="7" name="Slide Number Placeholder 6"/>
          <p:cNvSpPr>
            <a:spLocks noGrp="1"/>
          </p:cNvSpPr>
          <p:nvPr>
            <p:ph type="sldNum" sz="quarter" idx="12"/>
          </p:nvPr>
        </p:nvSpPr>
        <p:spPr>
          <a:xfrm>
            <a:off x="5691014" y="6375679"/>
            <a:ext cx="1232456" cy="345796"/>
          </a:xfrm>
        </p:spPr>
        <p:txBody>
          <a:bodyPr/>
          <a:lstStyle/>
          <a:p>
            <a:fld id="{6C37529B-A776-F94F-942C-67A2A3940E8A}"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9858114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B271F3D9-2B5E-964E-905B-FBDAC3D711F5}" type="datetime1">
              <a:rPr lang="en-US" smtClean="0"/>
              <a:t>12/5/25</a:t>
            </a:fld>
            <a:endParaRPr lang="en-US"/>
          </a:p>
        </p:txBody>
      </p:sp>
      <p:sp>
        <p:nvSpPr>
          <p:cNvPr id="6" name="Footer Placeholder 5"/>
          <p:cNvSpPr>
            <a:spLocks noGrp="1"/>
          </p:cNvSpPr>
          <p:nvPr>
            <p:ph type="ftr" sz="quarter" idx="11"/>
          </p:nvPr>
        </p:nvSpPr>
        <p:spPr>
          <a:xfrm>
            <a:off x="2103621" y="6375679"/>
            <a:ext cx="3482178" cy="345796"/>
          </a:xfrm>
        </p:spPr>
        <p:txBody>
          <a:bodyPr/>
          <a:lstStyle/>
          <a:p>
            <a:r>
              <a:rPr lang="en-US"/>
              <a:t>CS699B_FA25 - Professional Seminar</a:t>
            </a:r>
          </a:p>
        </p:txBody>
      </p:sp>
      <p:sp>
        <p:nvSpPr>
          <p:cNvPr id="7" name="Slide Number Placeholder 6"/>
          <p:cNvSpPr>
            <a:spLocks noGrp="1"/>
          </p:cNvSpPr>
          <p:nvPr>
            <p:ph type="sldNum" sz="quarter" idx="12"/>
          </p:nvPr>
        </p:nvSpPr>
        <p:spPr>
          <a:xfrm>
            <a:off x="5687568" y="6375679"/>
            <a:ext cx="1234440" cy="345796"/>
          </a:xfrm>
        </p:spPr>
        <p:txBody>
          <a:bodyPr/>
          <a:lstStyle/>
          <a:p>
            <a:fld id="{6C37529B-A776-F94F-942C-67A2A3940E8A}" type="slidenum">
              <a:rPr lang="en-US" smtClean="0"/>
              <a:t>‹#›</a:t>
            </a:fld>
            <a:endParaRPr lang="en-US"/>
          </a:p>
        </p:txBody>
      </p:sp>
    </p:spTree>
    <p:extLst>
      <p:ext uri="{BB962C8B-B14F-4D97-AF65-F5344CB8AC3E}">
        <p14:creationId xmlns:p14="http://schemas.microsoft.com/office/powerpoint/2010/main" val="4217713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33727B-1718-C642-BFB2-BA330981DDAF}" type="datetime1">
              <a:rPr lang="en-US" smtClean="0"/>
              <a:t>12/5/25</a:t>
            </a:fld>
            <a:endParaRPr lang="en-US"/>
          </a:p>
        </p:txBody>
      </p:sp>
      <p:sp>
        <p:nvSpPr>
          <p:cNvPr id="5" name="Footer Placeholder 4"/>
          <p:cNvSpPr>
            <a:spLocks noGrp="1"/>
          </p:cNvSpPr>
          <p:nvPr>
            <p:ph type="ftr" sz="quarter" idx="11"/>
          </p:nvPr>
        </p:nvSpPr>
        <p:spPr/>
        <p:txBody>
          <a:bodyPr/>
          <a:lstStyle/>
          <a:p>
            <a:r>
              <a:rPr lang="en-US"/>
              <a:t>CS699B_FA25 - Professional Seminar</a:t>
            </a:r>
          </a:p>
        </p:txBody>
      </p:sp>
      <p:sp>
        <p:nvSpPr>
          <p:cNvPr id="6" name="Slide Number Placeholder 5"/>
          <p:cNvSpPr>
            <a:spLocks noGrp="1"/>
          </p:cNvSpPr>
          <p:nvPr>
            <p:ph type="sldNum" sz="quarter" idx="12"/>
          </p:nvPr>
        </p:nvSpPr>
        <p:spPr/>
        <p:txBody>
          <a:bodyPr/>
          <a:lstStyle/>
          <a:p>
            <a:fld id="{6C37529B-A776-F94F-942C-67A2A3940E8A}" type="slidenum">
              <a:rPr lang="en-US" smtClean="0"/>
              <a:t>‹#›</a:t>
            </a:fld>
            <a:endParaRPr lang="en-US"/>
          </a:p>
        </p:txBody>
      </p:sp>
    </p:spTree>
    <p:extLst>
      <p:ext uri="{BB962C8B-B14F-4D97-AF65-F5344CB8AC3E}">
        <p14:creationId xmlns:p14="http://schemas.microsoft.com/office/powerpoint/2010/main" val="1255467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8CA13F-4B8B-014E-8363-055DEB21C106}" type="datetime1">
              <a:rPr lang="en-US" smtClean="0"/>
              <a:t>12/5/25</a:t>
            </a:fld>
            <a:endParaRPr lang="en-US"/>
          </a:p>
        </p:txBody>
      </p:sp>
      <p:sp>
        <p:nvSpPr>
          <p:cNvPr id="5" name="Footer Placeholder 4"/>
          <p:cNvSpPr>
            <a:spLocks noGrp="1"/>
          </p:cNvSpPr>
          <p:nvPr>
            <p:ph type="ftr" sz="quarter" idx="11"/>
          </p:nvPr>
        </p:nvSpPr>
        <p:spPr/>
        <p:txBody>
          <a:bodyPr/>
          <a:lstStyle/>
          <a:p>
            <a:r>
              <a:rPr lang="en-US"/>
              <a:t>CS699B_FA25 - Professional Seminar</a:t>
            </a:r>
          </a:p>
        </p:txBody>
      </p:sp>
      <p:sp>
        <p:nvSpPr>
          <p:cNvPr id="6" name="Slide Number Placeholder 5"/>
          <p:cNvSpPr>
            <a:spLocks noGrp="1"/>
          </p:cNvSpPr>
          <p:nvPr>
            <p:ph type="sldNum" sz="quarter" idx="12"/>
          </p:nvPr>
        </p:nvSpPr>
        <p:spPr/>
        <p:txBody>
          <a:bodyPr/>
          <a:lstStyle/>
          <a:p>
            <a:fld id="{6C37529B-A776-F94F-942C-67A2A3940E8A}" type="slidenum">
              <a:rPr lang="en-US" smtClean="0"/>
              <a:t>‹#›</a:t>
            </a:fld>
            <a:endParaRPr lang="en-US"/>
          </a:p>
        </p:txBody>
      </p:sp>
    </p:spTree>
    <p:extLst>
      <p:ext uri="{BB962C8B-B14F-4D97-AF65-F5344CB8AC3E}">
        <p14:creationId xmlns:p14="http://schemas.microsoft.com/office/powerpoint/2010/main" val="4134281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EB0A3256-6FDE-EB4F-90B7-A55FEC8AECF2}" type="datetime1">
              <a:rPr lang="en-US" smtClean="0"/>
              <a:t>12/5/25</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r>
              <a:rPr lang="en-US"/>
              <a:t>CS699B_FA25 - Professional Seminar</a:t>
            </a:r>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6C37529B-A776-F94F-942C-67A2A3940E8A}"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23100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6.xml.rels><?xml version="1.0" encoding="UTF-8" standalone="yes"?>
<Relationships xmlns="http://schemas.openxmlformats.org/package/2006/relationships"><Relationship Id="rId3" Type="http://schemas.openxmlformats.org/officeDocument/2006/relationships/hyperlink" Target="https://pmc.ncbi.nlm.nih.gov/articles/PMC9019803/#Sec12" TargetMode="External"/><Relationship Id="rId2" Type="http://schemas.openxmlformats.org/officeDocument/2006/relationships/hyperlink" Target="https://www.mdpi.com/1424-8220/19/9/1988" TargetMode="External"/><Relationship Id="rId1" Type="http://schemas.openxmlformats.org/officeDocument/2006/relationships/slideLayout" Target="../slideLayouts/slideLayout2.xml"/><Relationship Id="rId4" Type="http://schemas.openxmlformats.org/officeDocument/2006/relationships/hyperlink" Target="https://ccforum.biomedcentral.com/articles/10.1186/s13054-021-03766-4"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89090F2-B101-458B-9AFF-27327443BB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ctrTitle"/>
          </p:nvPr>
        </p:nvSpPr>
        <p:spPr>
          <a:xfrm>
            <a:off x="5123688" y="1235847"/>
            <a:ext cx="6300215" cy="3325266"/>
          </a:xfrm>
        </p:spPr>
        <p:txBody>
          <a:bodyPr>
            <a:normAutofit/>
          </a:bodyPr>
          <a:lstStyle/>
          <a:p>
            <a:r>
              <a:rPr lang="en-US" sz="4000" b="1" dirty="0">
                <a:latin typeface="Times New Roman" panose="02020603050405020304" pitchFamily="18" charset="0"/>
                <a:cs typeface="Times New Roman" panose="02020603050405020304" pitchFamily="18" charset="0"/>
              </a:rPr>
              <a:t>Real-Time Multi-Modal Monitoring System for Assisted Living</a:t>
            </a:r>
          </a:p>
        </p:txBody>
      </p:sp>
      <p:sp>
        <p:nvSpPr>
          <p:cNvPr id="3" name="Subtitle 2"/>
          <p:cNvSpPr>
            <a:spLocks noGrp="1"/>
          </p:cNvSpPr>
          <p:nvPr>
            <p:ph type="subTitle" idx="1"/>
          </p:nvPr>
        </p:nvSpPr>
        <p:spPr>
          <a:xfrm>
            <a:off x="5123687" y="4881152"/>
            <a:ext cx="6300215" cy="1020027"/>
          </a:xfrm>
        </p:spPr>
        <p:txBody>
          <a:bodyPr>
            <a:normAutofit/>
          </a:bodyPr>
          <a:lstStyle/>
          <a:p>
            <a:pPr>
              <a:lnSpc>
                <a:spcPct val="90000"/>
              </a:lnSpc>
            </a:pPr>
            <a:endParaRPr lang="en-US" sz="1300" dirty="0">
              <a:latin typeface="Times New Roman" panose="02020603050405020304" pitchFamily="18" charset="0"/>
              <a:cs typeface="Times New Roman" panose="02020603050405020304" pitchFamily="18" charset="0"/>
            </a:endParaRPr>
          </a:p>
          <a:p>
            <a:pPr>
              <a:lnSpc>
                <a:spcPct val="90000"/>
              </a:lnSpc>
            </a:pPr>
            <a:r>
              <a:rPr lang="en-US" sz="1300" dirty="0">
                <a:latin typeface="Times New Roman" panose="02020603050405020304" pitchFamily="18" charset="0"/>
                <a:cs typeface="Times New Roman" panose="02020603050405020304" pitchFamily="18" charset="0"/>
              </a:rPr>
              <a:t>             CS699B_FA25 Final Presentation</a:t>
            </a:r>
          </a:p>
          <a:p>
            <a:pPr>
              <a:lnSpc>
                <a:spcPct val="90000"/>
              </a:lnSpc>
            </a:pPr>
            <a:r>
              <a:rPr lang="en-US" sz="1300" dirty="0">
                <a:latin typeface="Times New Roman" panose="02020603050405020304" pitchFamily="18" charset="0"/>
                <a:cs typeface="Times New Roman" panose="02020603050405020304" pitchFamily="18" charset="0"/>
              </a:rPr>
              <a:t>                               - Pavan Kumar Pekala                  </a:t>
            </a:r>
          </a:p>
        </p:txBody>
      </p:sp>
      <p:sp>
        <p:nvSpPr>
          <p:cNvPr id="15" name="Freeform 6">
            <a:extLst>
              <a:ext uri="{FF2B5EF4-FFF2-40B4-BE49-F238E27FC236}">
                <a16:creationId xmlns:a16="http://schemas.microsoft.com/office/drawing/2014/main" id="{526C103B-17BD-4B48-AB6F-0D9EF826AA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pic>
        <p:nvPicPr>
          <p:cNvPr id="5" name="Picture 4" descr="Digital financial graph">
            <a:extLst>
              <a:ext uri="{FF2B5EF4-FFF2-40B4-BE49-F238E27FC236}">
                <a16:creationId xmlns:a16="http://schemas.microsoft.com/office/drawing/2014/main" id="{6762E5D9-4B44-6545-F32B-C8EEF93DD455}"/>
              </a:ext>
            </a:extLst>
          </p:cNvPr>
          <p:cNvPicPr>
            <a:picLocks noChangeAspect="1"/>
          </p:cNvPicPr>
          <p:nvPr/>
        </p:nvPicPr>
        <p:blipFill>
          <a:blip r:embed="rId3"/>
          <a:srcRect l="35364" t="9091"/>
          <a:stretch>
            <a:fillRect/>
          </a:stretch>
        </p:blipFill>
        <p:spPr>
          <a:xfrm>
            <a:off x="1240971" y="2064460"/>
            <a:ext cx="3398085" cy="2688371"/>
          </a:xfrm>
          <a:prstGeom prst="rect">
            <a:avLst/>
          </a:prstGeom>
        </p:spPr>
      </p:pic>
      <p:sp>
        <p:nvSpPr>
          <p:cNvPr id="8" name="Footer Placeholder 7">
            <a:extLst>
              <a:ext uri="{FF2B5EF4-FFF2-40B4-BE49-F238E27FC236}">
                <a16:creationId xmlns:a16="http://schemas.microsoft.com/office/drawing/2014/main" id="{BBA1BC3C-0B01-FB13-EEC8-CE07A0317F13}"/>
              </a:ext>
            </a:extLst>
          </p:cNvPr>
          <p:cNvSpPr>
            <a:spLocks noGrp="1"/>
          </p:cNvSpPr>
          <p:nvPr>
            <p:ph type="ftr" sz="quarter" idx="11"/>
          </p:nvPr>
        </p:nvSpPr>
        <p:spPr>
          <a:xfrm>
            <a:off x="3902747" y="6375678"/>
            <a:ext cx="4669971" cy="366865"/>
          </a:xfrm>
        </p:spPr>
        <p:txBody>
          <a:bodyPr>
            <a:normAutofit/>
          </a:bodyPr>
          <a:lstStyle/>
          <a:p>
            <a:pPr>
              <a:spcAft>
                <a:spcPts val="600"/>
              </a:spcAft>
            </a:pPr>
            <a:r>
              <a:rPr lang="en-US">
                <a:solidFill>
                  <a:schemeClr val="tx1">
                    <a:lumMod val="50000"/>
                    <a:lumOff val="50000"/>
                  </a:schemeClr>
                </a:solidFill>
              </a:rPr>
              <a:t>CS699B_FA25 - Professional Seminar</a:t>
            </a:r>
          </a:p>
        </p:txBody>
      </p:sp>
      <p:sp>
        <p:nvSpPr>
          <p:cNvPr id="6" name="Slide Number Placeholder 5">
            <a:extLst>
              <a:ext uri="{FF2B5EF4-FFF2-40B4-BE49-F238E27FC236}">
                <a16:creationId xmlns:a16="http://schemas.microsoft.com/office/drawing/2014/main" id="{6F155E04-4F20-F3BF-5F79-83B04D6D70C9}"/>
              </a:ext>
            </a:extLst>
          </p:cNvPr>
          <p:cNvSpPr>
            <a:spLocks noGrp="1"/>
          </p:cNvSpPr>
          <p:nvPr>
            <p:ph type="sldNum" sz="quarter" idx="12"/>
          </p:nvPr>
        </p:nvSpPr>
        <p:spPr>
          <a:xfrm>
            <a:off x="9067218" y="6375679"/>
            <a:ext cx="2329723" cy="345796"/>
          </a:xfrm>
        </p:spPr>
        <p:txBody>
          <a:bodyPr>
            <a:normAutofit/>
          </a:bodyPr>
          <a:lstStyle/>
          <a:p>
            <a:pPr>
              <a:spcAft>
                <a:spcPts val="600"/>
              </a:spcAft>
            </a:pPr>
            <a:fld id="{148CC95F-0247-41B6-91CF-DC97C76A7088}" type="slidenum">
              <a:rPr lang="en-US">
                <a:solidFill>
                  <a:schemeClr val="tx1">
                    <a:lumMod val="50000"/>
                    <a:lumOff val="50000"/>
                  </a:schemeClr>
                </a:solidFill>
                <a:latin typeface="Times New Roman" panose="02020603050405020304" pitchFamily="18" charset="0"/>
                <a:cs typeface="Times New Roman" panose="02020603050405020304" pitchFamily="18" charset="0"/>
              </a:rPr>
              <a:pPr>
                <a:spcAft>
                  <a:spcPts val="600"/>
                </a:spcAft>
              </a:pPr>
              <a:t>1</a:t>
            </a:fld>
            <a:endParaRPr lang="en-US">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E9EC3243-CA25-4485-A7FE-8B0141923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160" y="327213"/>
            <a:ext cx="11155680" cy="1005136"/>
          </a:xfrm>
        </p:spPr>
        <p:txBody>
          <a:bodyPr/>
          <a:lstStyle/>
          <a:p>
            <a:pPr algn="ctr"/>
            <a:r>
              <a:rPr lang="en-US" sz="5000" b="1" dirty="0">
                <a:latin typeface="Times New Roman" panose="02020603050405020304" pitchFamily="18" charset="0"/>
                <a:cs typeface="Times New Roman" panose="02020603050405020304" pitchFamily="18" charset="0"/>
              </a:rPr>
              <a:t>Abstract</a:t>
            </a:r>
            <a:r>
              <a:rPr lang="en-US"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5224DEFF-8208-FEEA-F6BE-4C17114115A8}"/>
              </a:ext>
            </a:extLst>
          </p:cNvPr>
          <p:cNvSpPr>
            <a:spLocks noGrp="1"/>
          </p:cNvSpPr>
          <p:nvPr>
            <p:ph type="ftr" sz="quarter" idx="11"/>
          </p:nvPr>
        </p:nvSpPr>
        <p:spPr/>
        <p:txBody>
          <a:bodyPr/>
          <a:lstStyle/>
          <a:p>
            <a:r>
              <a:rPr lang="en-US"/>
              <a:t>CS699B_FA25 - Professional Seminar</a:t>
            </a:r>
          </a:p>
        </p:txBody>
      </p:sp>
      <p:sp>
        <p:nvSpPr>
          <p:cNvPr id="27" name="Slide Number Placeholder 26">
            <a:extLst>
              <a:ext uri="{FF2B5EF4-FFF2-40B4-BE49-F238E27FC236}">
                <a16:creationId xmlns:a16="http://schemas.microsoft.com/office/drawing/2014/main" id="{D92C8566-84B6-6D4C-A4D9-B14587D09306}"/>
              </a:ext>
            </a:extLst>
          </p:cNvPr>
          <p:cNvSpPr>
            <a:spLocks noGrp="1"/>
          </p:cNvSpPr>
          <p:nvPr>
            <p:ph type="sldNum" sz="quarter" idx="12"/>
          </p:nvPr>
        </p:nvSpPr>
        <p:spPr/>
        <p:txBody>
          <a:bodyPr/>
          <a:lstStyle/>
          <a:p>
            <a:fld id="{148CC95F-0247-41B6-91CF-DC97C76A7088}" type="slidenum">
              <a:rPr lang="en-US" smtClean="0"/>
              <a:t>2</a:t>
            </a:fld>
            <a:endParaRPr lang="en-US" dirty="0"/>
          </a:p>
        </p:txBody>
      </p:sp>
      <p:sp>
        <p:nvSpPr>
          <p:cNvPr id="3" name="TextBox 2"/>
          <p:cNvSpPr txBox="1"/>
          <p:nvPr/>
        </p:nvSpPr>
        <p:spPr>
          <a:xfrm>
            <a:off x="5272114" y="6998678"/>
            <a:ext cx="184731" cy="769441"/>
          </a:xfrm>
          <a:prstGeom prst="rect">
            <a:avLst/>
          </a:prstGeom>
          <a:noFill/>
        </p:spPr>
        <p:txBody>
          <a:bodyPr wrap="none">
            <a:spAutoFit/>
          </a:bodyPr>
          <a:lstStyle/>
          <a:p>
            <a:pPr algn="ctr">
              <a:defRPr sz="4400" b="1"/>
            </a:pPr>
            <a:endParaRPr sz="4400" dirty="0"/>
          </a:p>
        </p:txBody>
      </p:sp>
      <p:sp>
        <p:nvSpPr>
          <p:cNvPr id="4" name="Rectangle 3"/>
          <p:cNvSpPr/>
          <p:nvPr/>
        </p:nvSpPr>
        <p:spPr>
          <a:xfrm>
            <a:off x="1052732" y="2352822"/>
            <a:ext cx="1554480" cy="2743200"/>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pPr>
            <a:endParaRPr sz="1500" dirty="0">
              <a:solidFill>
                <a:schemeClr val="tx1"/>
              </a:solidFill>
              <a:latin typeface="Times New Roman" panose="02020603050405020304" pitchFamily="18" charset="0"/>
              <a:cs typeface="Times New Roman" panose="02020603050405020304" pitchFamily="18" charset="0"/>
            </a:endParaRPr>
          </a:p>
          <a:p>
            <a:pPr algn="ctr">
              <a:defRPr sz="1600" b="1"/>
            </a:pPr>
            <a:r>
              <a:rPr sz="1500" dirty="0">
                <a:solidFill>
                  <a:schemeClr val="tx1"/>
                </a:solidFill>
                <a:latin typeface="Times New Roman" panose="02020603050405020304" pitchFamily="18" charset="0"/>
                <a:cs typeface="Times New Roman" panose="02020603050405020304" pitchFamily="18" charset="0"/>
              </a:rPr>
              <a:t>Falls, Wandering &amp; Deterioration</a:t>
            </a:r>
          </a:p>
          <a:p>
            <a:pPr algn="ctr">
              <a:defRPr sz="1200"/>
            </a:pPr>
            <a:r>
              <a:rPr sz="1500" b="1" dirty="0">
                <a:solidFill>
                  <a:schemeClr val="tx1"/>
                </a:solidFill>
                <a:latin typeface="Times New Roman" panose="02020603050405020304" pitchFamily="18" charset="0"/>
                <a:cs typeface="Times New Roman" panose="02020603050405020304" pitchFamily="18" charset="0"/>
              </a:rPr>
              <a:t>Main concerns in assisted living.</a:t>
            </a:r>
          </a:p>
        </p:txBody>
      </p:sp>
      <p:sp>
        <p:nvSpPr>
          <p:cNvPr id="5" name="Rectangle 4"/>
          <p:cNvSpPr/>
          <p:nvPr/>
        </p:nvSpPr>
        <p:spPr>
          <a:xfrm>
            <a:off x="3261360" y="2352822"/>
            <a:ext cx="1554480" cy="2743200"/>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500" b="1" dirty="0">
              <a:solidFill>
                <a:schemeClr val="tx1"/>
              </a:solidFill>
              <a:latin typeface="Times New Roman" panose="02020603050405020304" pitchFamily="18" charset="0"/>
              <a:cs typeface="Times New Roman" panose="02020603050405020304" pitchFamily="18" charset="0"/>
            </a:endParaRPr>
          </a:p>
          <a:p>
            <a:pPr algn="ctr">
              <a:defRPr sz="3200" b="1"/>
            </a:pPr>
            <a:endParaRPr sz="1500" b="1" dirty="0">
              <a:solidFill>
                <a:schemeClr val="tx1"/>
              </a:solidFill>
              <a:latin typeface="Times New Roman" panose="02020603050405020304" pitchFamily="18" charset="0"/>
              <a:cs typeface="Times New Roman" panose="02020603050405020304" pitchFamily="18" charset="0"/>
            </a:endParaRPr>
          </a:p>
          <a:p>
            <a:pPr algn="ctr">
              <a:defRPr sz="1200"/>
            </a:pPr>
            <a:r>
              <a:rPr sz="1500" b="1" dirty="0">
                <a:solidFill>
                  <a:schemeClr val="tx1"/>
                </a:solidFill>
                <a:latin typeface="Times New Roman" panose="02020603050405020304" pitchFamily="18" charset="0"/>
                <a:cs typeface="Times New Roman" panose="02020603050405020304" pitchFamily="18" charset="0"/>
              </a:rPr>
              <a:t>Real-Time Multi-Modal Monitoring System for sub-second detection.</a:t>
            </a:r>
          </a:p>
        </p:txBody>
      </p:sp>
      <p:sp>
        <p:nvSpPr>
          <p:cNvPr id="6" name="Rectangle 5"/>
          <p:cNvSpPr/>
          <p:nvPr/>
        </p:nvSpPr>
        <p:spPr>
          <a:xfrm>
            <a:off x="5469987" y="2352822"/>
            <a:ext cx="1492347" cy="2743200"/>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pPr>
            <a:endParaRPr sz="1500" dirty="0">
              <a:solidFill>
                <a:schemeClr val="tx1"/>
              </a:solidFill>
              <a:latin typeface="Times New Roman" panose="02020603050405020304" pitchFamily="18" charset="0"/>
              <a:cs typeface="Times New Roman" panose="02020603050405020304" pitchFamily="18" charset="0"/>
            </a:endParaRPr>
          </a:p>
          <a:p>
            <a:pPr algn="ctr">
              <a:defRPr sz="1600" b="1"/>
            </a:pPr>
            <a:r>
              <a:rPr sz="1500" dirty="0">
                <a:solidFill>
                  <a:schemeClr val="tx1"/>
                </a:solidFill>
                <a:latin typeface="Times New Roman" panose="02020603050405020304" pitchFamily="18" charset="0"/>
                <a:cs typeface="Times New Roman" panose="02020603050405020304" pitchFamily="18" charset="0"/>
              </a:rPr>
              <a:t>Sensor Integration</a:t>
            </a:r>
          </a:p>
          <a:p>
            <a:pPr algn="ctr">
              <a:defRPr sz="1200"/>
            </a:pPr>
            <a:r>
              <a:rPr sz="1500" b="1" dirty="0">
                <a:solidFill>
                  <a:schemeClr val="tx1"/>
                </a:solidFill>
                <a:latin typeface="Times New Roman" panose="02020603050405020304" pitchFamily="18" charset="0"/>
                <a:cs typeface="Times New Roman" panose="02020603050405020304" pitchFamily="18" charset="0"/>
              </a:rPr>
              <a:t>Data from wearables, ambient IoT,</a:t>
            </a:r>
            <a:r>
              <a:rPr lang="en-US" sz="1500" b="1" dirty="0">
                <a:solidFill>
                  <a:schemeClr val="tx1"/>
                </a:solidFill>
                <a:latin typeface="Times New Roman" panose="02020603050405020304" pitchFamily="18" charset="0"/>
                <a:cs typeface="Times New Roman" panose="02020603050405020304" pitchFamily="18" charset="0"/>
              </a:rPr>
              <a:t> </a:t>
            </a:r>
            <a:r>
              <a:rPr sz="1500" b="1" dirty="0">
                <a:solidFill>
                  <a:schemeClr val="tx1"/>
                </a:solidFill>
                <a:latin typeface="Times New Roman" panose="02020603050405020304" pitchFamily="18" charset="0"/>
                <a:cs typeface="Times New Roman" panose="02020603050405020304" pitchFamily="18" charset="0"/>
              </a:rPr>
              <a:t>depth/mmWave sensors.</a:t>
            </a:r>
          </a:p>
        </p:txBody>
      </p:sp>
      <p:sp>
        <p:nvSpPr>
          <p:cNvPr id="7" name="Rectangle 6"/>
          <p:cNvSpPr/>
          <p:nvPr/>
        </p:nvSpPr>
        <p:spPr>
          <a:xfrm>
            <a:off x="7678611" y="2366362"/>
            <a:ext cx="1554480" cy="2743200"/>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pPr>
            <a:endParaRPr sz="1500" b="1" dirty="0">
              <a:solidFill>
                <a:schemeClr val="tx1"/>
              </a:solidFill>
              <a:latin typeface="Times New Roman" panose="02020603050405020304" pitchFamily="18" charset="0"/>
              <a:cs typeface="Times New Roman" panose="02020603050405020304" pitchFamily="18" charset="0"/>
            </a:endParaRPr>
          </a:p>
          <a:p>
            <a:pPr algn="ctr">
              <a:defRPr sz="1600" b="1"/>
            </a:pPr>
            <a:r>
              <a:rPr sz="1500" b="1" dirty="0">
                <a:solidFill>
                  <a:schemeClr val="tx1"/>
                </a:solidFill>
                <a:latin typeface="Times New Roman" panose="02020603050405020304" pitchFamily="18" charset="0"/>
                <a:cs typeface="Times New Roman" panose="02020603050405020304" pitchFamily="18" charset="0"/>
              </a:rPr>
              <a:t>Privacy Protection</a:t>
            </a:r>
          </a:p>
          <a:p>
            <a:pPr algn="ctr">
              <a:defRPr sz="1200"/>
            </a:pPr>
            <a:r>
              <a:rPr sz="1500" b="1" dirty="0">
                <a:solidFill>
                  <a:schemeClr val="tx1"/>
                </a:solidFill>
                <a:latin typeface="Times New Roman" panose="02020603050405020304" pitchFamily="18" charset="0"/>
                <a:cs typeface="Times New Roman" panose="02020603050405020304" pitchFamily="18" charset="0"/>
              </a:rPr>
              <a:t>Ensuring secure handling of patient EHRs.</a:t>
            </a:r>
          </a:p>
        </p:txBody>
      </p:sp>
      <p:sp>
        <p:nvSpPr>
          <p:cNvPr id="8" name="Rectangle 7"/>
          <p:cNvSpPr/>
          <p:nvPr/>
        </p:nvSpPr>
        <p:spPr>
          <a:xfrm>
            <a:off x="10000485" y="2366362"/>
            <a:ext cx="1554480" cy="2743200"/>
          </a:xfrm>
          <a:prstGeom prst="rect">
            <a:avLst/>
          </a:prstGeom>
          <a:solidFill>
            <a:schemeClr val="bg1">
              <a:lumMod val="75000"/>
            </a:schemeClr>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pPr>
            <a:endParaRPr sz="1500" b="1" dirty="0">
              <a:solidFill>
                <a:schemeClr val="tx1"/>
              </a:solidFill>
              <a:latin typeface="Times New Roman" panose="02020603050405020304" pitchFamily="18" charset="0"/>
              <a:cs typeface="Times New Roman" panose="02020603050405020304" pitchFamily="18" charset="0"/>
            </a:endParaRPr>
          </a:p>
          <a:p>
            <a:pPr algn="ctr">
              <a:defRPr sz="1600" b="1"/>
            </a:pPr>
            <a:r>
              <a:rPr sz="1500" b="1" dirty="0">
                <a:solidFill>
                  <a:schemeClr val="tx1"/>
                </a:solidFill>
                <a:latin typeface="Times New Roman" panose="02020603050405020304" pitchFamily="18" charset="0"/>
                <a:cs typeface="Times New Roman" panose="02020603050405020304" pitchFamily="18" charset="0"/>
              </a:rPr>
              <a:t>Interactive Dashboard</a:t>
            </a:r>
          </a:p>
          <a:p>
            <a:pPr algn="ctr">
              <a:defRPr sz="1200"/>
            </a:pPr>
            <a:r>
              <a:rPr sz="1500" b="1" dirty="0">
                <a:solidFill>
                  <a:schemeClr val="tx1"/>
                </a:solidFill>
                <a:latin typeface="Times New Roman" panose="02020603050405020304" pitchFamily="18" charset="0"/>
                <a:cs typeface="Times New Roman" panose="02020603050405020304" pitchFamily="18" charset="0"/>
              </a:rPr>
              <a:t>Tracks vitals, reviews live data, and enables quick action.</a:t>
            </a:r>
          </a:p>
        </p:txBody>
      </p:sp>
      <p:sp>
        <p:nvSpPr>
          <p:cNvPr id="15" name="Right Arrow 14">
            <a:extLst>
              <a:ext uri="{FF2B5EF4-FFF2-40B4-BE49-F238E27FC236}">
                <a16:creationId xmlns:a16="http://schemas.microsoft.com/office/drawing/2014/main" id="{0250558F-18EA-F30B-7902-8C49BA15D6E5}"/>
              </a:ext>
            </a:extLst>
          </p:cNvPr>
          <p:cNvSpPr/>
          <p:nvPr/>
        </p:nvSpPr>
        <p:spPr>
          <a:xfrm>
            <a:off x="2662310" y="3532222"/>
            <a:ext cx="543951" cy="384400"/>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E9A580C2-75C2-704B-E70C-22FC0F5EA95D}"/>
              </a:ext>
            </a:extLst>
          </p:cNvPr>
          <p:cNvSpPr/>
          <p:nvPr/>
        </p:nvSpPr>
        <p:spPr>
          <a:xfrm>
            <a:off x="4870939" y="3532222"/>
            <a:ext cx="536916" cy="411481"/>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3D571CC3-8AFF-7745-CEA4-6A5BDAAB8057}"/>
              </a:ext>
            </a:extLst>
          </p:cNvPr>
          <p:cNvSpPr/>
          <p:nvPr/>
        </p:nvSpPr>
        <p:spPr>
          <a:xfrm>
            <a:off x="7024465" y="3532222"/>
            <a:ext cx="592015" cy="411481"/>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a:extLst>
              <a:ext uri="{FF2B5EF4-FFF2-40B4-BE49-F238E27FC236}">
                <a16:creationId xmlns:a16="http://schemas.microsoft.com/office/drawing/2014/main" id="{D747733A-9FE3-3D24-02D1-B8AAE11C404F}"/>
              </a:ext>
            </a:extLst>
          </p:cNvPr>
          <p:cNvSpPr/>
          <p:nvPr/>
        </p:nvSpPr>
        <p:spPr>
          <a:xfrm>
            <a:off x="9295222" y="3532222"/>
            <a:ext cx="654146" cy="411481"/>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61182-A029-A5EE-3A3B-9F2101F063F4}"/>
              </a:ext>
            </a:extLst>
          </p:cNvPr>
          <p:cNvSpPr>
            <a:spLocks noGrp="1"/>
          </p:cNvSpPr>
          <p:nvPr>
            <p:ph type="title"/>
          </p:nvPr>
        </p:nvSpPr>
        <p:spPr>
          <a:xfrm>
            <a:off x="517271" y="471971"/>
            <a:ext cx="11155680" cy="1463040"/>
          </a:xfrm>
        </p:spPr>
        <p:txBody>
          <a:bodyPr>
            <a:normAutofit/>
          </a:bodyPr>
          <a:lstStyle/>
          <a:p>
            <a:pPr algn="ctr"/>
            <a:r>
              <a:rPr lang="en-US" sz="5000" b="1" dirty="0">
                <a:latin typeface="Times New Roman" panose="02020603050405020304" pitchFamily="18" charset="0"/>
                <a:cs typeface="Times New Roman" panose="02020603050405020304" pitchFamily="18" charset="0"/>
              </a:rPr>
              <a:t>Problem Statement </a:t>
            </a:r>
          </a:p>
        </p:txBody>
      </p:sp>
      <p:graphicFrame>
        <p:nvGraphicFramePr>
          <p:cNvPr id="5" name="Content Placeholder 2">
            <a:extLst>
              <a:ext uri="{FF2B5EF4-FFF2-40B4-BE49-F238E27FC236}">
                <a16:creationId xmlns:a16="http://schemas.microsoft.com/office/drawing/2014/main" id="{5D9EF3BC-B590-914A-8B09-5DFD4103CF40}"/>
              </a:ext>
            </a:extLst>
          </p:cNvPr>
          <p:cNvGraphicFramePr>
            <a:graphicFrameLocks noGrp="1"/>
          </p:cNvGraphicFramePr>
          <p:nvPr>
            <p:ph idx="1"/>
            <p:extLst>
              <p:ext uri="{D42A27DB-BD31-4B8C-83A1-F6EECF244321}">
                <p14:modId xmlns:p14="http://schemas.microsoft.com/office/powerpoint/2010/main" val="1213851159"/>
              </p:ext>
            </p:extLst>
          </p:nvPr>
        </p:nvGraphicFramePr>
        <p:xfrm>
          <a:off x="516001" y="2262111"/>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8F1D0395-1E10-C6D8-533C-F3AC9A176AD7}"/>
              </a:ext>
            </a:extLst>
          </p:cNvPr>
          <p:cNvSpPr>
            <a:spLocks noGrp="1"/>
          </p:cNvSpPr>
          <p:nvPr>
            <p:ph type="ftr" sz="quarter" idx="11"/>
          </p:nvPr>
        </p:nvSpPr>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CS699B_FA25 - Professional Seminar</a:t>
            </a:r>
          </a:p>
        </p:txBody>
      </p:sp>
      <p:sp>
        <p:nvSpPr>
          <p:cNvPr id="6" name="Slide Number Placeholder 5">
            <a:extLst>
              <a:ext uri="{FF2B5EF4-FFF2-40B4-BE49-F238E27FC236}">
                <a16:creationId xmlns:a16="http://schemas.microsoft.com/office/drawing/2014/main" id="{66FE35DC-A4C4-7AC8-E697-CB3FE6801116}"/>
              </a:ext>
            </a:extLst>
          </p:cNvPr>
          <p:cNvSpPr>
            <a:spLocks noGrp="1"/>
          </p:cNvSpPr>
          <p:nvPr>
            <p:ph type="sldNum" sz="quarter" idx="12"/>
          </p:nvPr>
        </p:nvSpPr>
        <p:spPr>
          <a:xfrm>
            <a:off x="8805333" y="6356350"/>
            <a:ext cx="2743200" cy="365125"/>
          </a:xfrm>
        </p:spPr>
        <p:txBody>
          <a:bodyPr vert="horz" lIns="91440" tIns="45720" rIns="91440" bIns="45720" rtlCol="0" anchor="ctr">
            <a:normAutofit/>
          </a:bodyPr>
          <a:lstStyle/>
          <a:p>
            <a:pPr>
              <a:spcAft>
                <a:spcPts val="600"/>
              </a:spcAft>
            </a:pPr>
            <a:fld id="{148CC95F-0247-41B6-91CF-DC97C76A7088}" type="slidenum">
              <a:rPr lang="en-US" smtClean="0">
                <a:solidFill>
                  <a:schemeClr val="tx1">
                    <a:tint val="75000"/>
                  </a:schemeClr>
                </a:solidFill>
              </a:rPr>
              <a:pPr>
                <a:spcAft>
                  <a:spcPts val="600"/>
                </a:spcAft>
              </a:pPr>
              <a:t>3</a:t>
            </a:fld>
            <a:endParaRPr lang="en-US">
              <a:solidFill>
                <a:schemeClr val="tx1">
                  <a:tint val="75000"/>
                </a:schemeClr>
              </a:solidFill>
            </a:endParaRPr>
          </a:p>
        </p:txBody>
      </p:sp>
    </p:spTree>
    <p:extLst>
      <p:ext uri="{BB962C8B-B14F-4D97-AF65-F5344CB8AC3E}">
        <p14:creationId xmlns:p14="http://schemas.microsoft.com/office/powerpoint/2010/main" val="2574776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21970" y="512762"/>
            <a:ext cx="11155680" cy="1463040"/>
          </a:xfrm>
        </p:spPr>
        <p:txBody>
          <a:bodyPr>
            <a:normAutofit/>
          </a:bodyPr>
          <a:lstStyle/>
          <a:p>
            <a:pPr algn="ctr"/>
            <a:r>
              <a:rPr lang="en-US" sz="5000" b="1" dirty="0">
                <a:latin typeface="Times New Roman" panose="02020603050405020304" pitchFamily="18" charset="0"/>
                <a:cs typeface="Times New Roman" panose="02020603050405020304" pitchFamily="18" charset="0"/>
              </a:rPr>
              <a:t>Motivation</a:t>
            </a:r>
          </a:p>
        </p:txBody>
      </p:sp>
      <p:graphicFrame>
        <p:nvGraphicFramePr>
          <p:cNvPr id="5" name="Content Placeholder 2">
            <a:extLst>
              <a:ext uri="{FF2B5EF4-FFF2-40B4-BE49-F238E27FC236}">
                <a16:creationId xmlns:a16="http://schemas.microsoft.com/office/drawing/2014/main" id="{C03E83CB-6A5A-A618-508D-F7E10F25187F}"/>
              </a:ext>
            </a:extLst>
          </p:cNvPr>
          <p:cNvGraphicFramePr>
            <a:graphicFrameLocks noGrp="1"/>
          </p:cNvGraphicFramePr>
          <p:nvPr>
            <p:ph idx="1"/>
            <p:extLst>
              <p:ext uri="{D42A27DB-BD31-4B8C-83A1-F6EECF244321}">
                <p14:modId xmlns:p14="http://schemas.microsoft.com/office/powerpoint/2010/main" val="3752507047"/>
              </p:ext>
            </p:extLst>
          </p:nvPr>
        </p:nvGraphicFramePr>
        <p:xfrm>
          <a:off x="672270" y="1975802"/>
          <a:ext cx="11156950" cy="3767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101E7FC8-0751-2206-AAF0-EA65EE53866C}"/>
              </a:ext>
            </a:extLst>
          </p:cNvPr>
          <p:cNvSpPr>
            <a:spLocks noGrp="1"/>
          </p:cNvSpPr>
          <p:nvPr>
            <p:ph type="ftr" sz="quarter" idx="11"/>
          </p:nvPr>
        </p:nvSpPr>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CS699B_FA25 - Professional Seminar</a:t>
            </a:r>
          </a:p>
        </p:txBody>
      </p:sp>
      <p:sp>
        <p:nvSpPr>
          <p:cNvPr id="6" name="Slide Number Placeholder 5">
            <a:extLst>
              <a:ext uri="{FF2B5EF4-FFF2-40B4-BE49-F238E27FC236}">
                <a16:creationId xmlns:a16="http://schemas.microsoft.com/office/drawing/2014/main" id="{52ABF4D5-46D9-743F-3D0F-7950B82098AB}"/>
              </a:ext>
            </a:extLst>
          </p:cNvPr>
          <p:cNvSpPr>
            <a:spLocks noGrp="1"/>
          </p:cNvSpPr>
          <p:nvPr>
            <p:ph type="sldNum" sz="quarter" idx="12"/>
          </p:nvPr>
        </p:nvSpPr>
        <p:spPr>
          <a:xfrm>
            <a:off x="8805333" y="6356350"/>
            <a:ext cx="2743200" cy="365125"/>
          </a:xfrm>
        </p:spPr>
        <p:txBody>
          <a:bodyPr vert="horz" lIns="91440" tIns="45720" rIns="91440" bIns="45720" rtlCol="0" anchor="ctr">
            <a:normAutofit/>
          </a:bodyPr>
          <a:lstStyle/>
          <a:p>
            <a:pPr>
              <a:spcAft>
                <a:spcPts val="600"/>
              </a:spcAft>
            </a:pPr>
            <a:fld id="{148CC95F-0247-41B6-91CF-DC97C76A7088}" type="slidenum">
              <a:rPr lang="en-US" smtClean="0">
                <a:solidFill>
                  <a:schemeClr val="tx1">
                    <a:tint val="75000"/>
                  </a:schemeClr>
                </a:solidFill>
              </a:rPr>
              <a:pPr>
                <a:spcAft>
                  <a:spcPts val="600"/>
                </a:spcAft>
              </a:pPr>
              <a:t>4</a:t>
            </a:fld>
            <a:endParaRPr lang="en-US">
              <a:solidFill>
                <a:schemeClr val="tx1">
                  <a:tint val="7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54AFD-75F3-60EA-3AA1-A57911E7D043}"/>
              </a:ext>
            </a:extLst>
          </p:cNvPr>
          <p:cNvSpPr>
            <a:spLocks noGrp="1"/>
          </p:cNvSpPr>
          <p:nvPr>
            <p:ph type="title"/>
          </p:nvPr>
        </p:nvSpPr>
        <p:spPr/>
        <p:txBody>
          <a:bodyPr>
            <a:normAutofit/>
          </a:bodyPr>
          <a:lstStyle/>
          <a:p>
            <a:pPr algn="ctr"/>
            <a:r>
              <a:rPr lang="en-US" sz="5000" b="1" dirty="0">
                <a:latin typeface="Times New Roman" panose="02020603050405020304" pitchFamily="18" charset="0"/>
                <a:cs typeface="Times New Roman" panose="02020603050405020304" pitchFamily="18" charset="0"/>
              </a:rPr>
              <a:t>Use Cases</a:t>
            </a:r>
          </a:p>
        </p:txBody>
      </p:sp>
      <p:sp>
        <p:nvSpPr>
          <p:cNvPr id="3" name="Content Placeholder 2">
            <a:extLst>
              <a:ext uri="{FF2B5EF4-FFF2-40B4-BE49-F238E27FC236}">
                <a16:creationId xmlns:a16="http://schemas.microsoft.com/office/drawing/2014/main" id="{5E906B19-76DF-9644-D228-FA3AD3C55662}"/>
              </a:ext>
            </a:extLst>
          </p:cNvPr>
          <p:cNvSpPr>
            <a:spLocks noGrp="1"/>
          </p:cNvSpPr>
          <p:nvPr>
            <p:ph idx="1"/>
          </p:nvPr>
        </p:nvSpPr>
        <p:spPr>
          <a:xfrm>
            <a:off x="1251678" y="1739463"/>
            <a:ext cx="10178322" cy="3593591"/>
          </a:xfrm>
        </p:spPr>
        <p:txBody>
          <a:bodyPr>
            <a:normAutofit lnSpcReduction="10000"/>
          </a:bodyPr>
          <a:lstStyle/>
          <a:p>
            <a:pPr>
              <a:lnSpc>
                <a:spcPct val="90000"/>
              </a:lnSpc>
              <a:spcAft>
                <a:spcPts val="100"/>
              </a:spcAft>
            </a:pPr>
            <a:r>
              <a:rPr lang="en-US" dirty="0">
                <a:latin typeface="Times New Roman" panose="02020603050405020304" pitchFamily="18" charset="0"/>
                <a:cs typeface="Times New Roman" panose="02020603050405020304" pitchFamily="18" charset="0"/>
              </a:rPr>
              <a:t>Fall detection</a:t>
            </a:r>
          </a:p>
          <a:p>
            <a:pPr>
              <a:lnSpc>
                <a:spcPct val="90000"/>
              </a:lnSpc>
              <a:spcAft>
                <a:spcPts val="100"/>
              </a:spcAft>
            </a:pPr>
            <a:r>
              <a:rPr lang="en-US" dirty="0">
                <a:latin typeface="Times New Roman" panose="02020603050405020304" pitchFamily="18" charset="0"/>
                <a:cs typeface="Times New Roman" panose="02020603050405020304" pitchFamily="18" charset="0"/>
              </a:rPr>
              <a:t>Wandering</a:t>
            </a:r>
          </a:p>
          <a:p>
            <a:pPr>
              <a:lnSpc>
                <a:spcPct val="90000"/>
              </a:lnSpc>
              <a:spcAft>
                <a:spcPts val="100"/>
              </a:spcAft>
            </a:pPr>
            <a:r>
              <a:rPr lang="en-US" dirty="0">
                <a:latin typeface="Times New Roman" panose="02020603050405020304" pitchFamily="18" charset="0"/>
                <a:cs typeface="Times New Roman" panose="02020603050405020304" pitchFamily="18" charset="0"/>
              </a:rPr>
              <a:t>Distress call</a:t>
            </a:r>
          </a:p>
          <a:p>
            <a:pPr>
              <a:lnSpc>
                <a:spcPct val="90000"/>
              </a:lnSpc>
              <a:spcAft>
                <a:spcPts val="100"/>
              </a:spcAft>
            </a:pPr>
            <a:r>
              <a:rPr lang="en-US" dirty="0">
                <a:latin typeface="Times New Roman" panose="02020603050405020304" pitchFamily="18" charset="0"/>
                <a:cs typeface="Times New Roman" panose="02020603050405020304" pitchFamily="18" charset="0"/>
              </a:rPr>
              <a:t>Vitals anomaly detection</a:t>
            </a:r>
          </a:p>
          <a:p>
            <a:pPr>
              <a:lnSpc>
                <a:spcPct val="90000"/>
              </a:lnSpc>
              <a:spcAft>
                <a:spcPts val="100"/>
              </a:spcAft>
            </a:pPr>
            <a:r>
              <a:rPr lang="en-US" dirty="0">
                <a:latin typeface="Times New Roman" panose="02020603050405020304" pitchFamily="18" charset="0"/>
                <a:cs typeface="Times New Roman" panose="02020603050405020304" pitchFamily="18" charset="0"/>
              </a:rPr>
              <a:t>ADL monitoring (mobility, sleep, hygiene)</a:t>
            </a:r>
          </a:p>
          <a:p>
            <a:pPr>
              <a:lnSpc>
                <a:spcPct val="90000"/>
              </a:lnSpc>
              <a:spcAft>
                <a:spcPts val="100"/>
              </a:spcAft>
            </a:pPr>
            <a:r>
              <a:rPr lang="en-US" dirty="0">
                <a:latin typeface="Times New Roman" panose="02020603050405020304" pitchFamily="18" charset="0"/>
                <a:cs typeface="Times New Roman" panose="02020603050405020304" pitchFamily="18" charset="0"/>
              </a:rPr>
              <a:t>Environmental hazards</a:t>
            </a:r>
          </a:p>
          <a:p>
            <a:pPr>
              <a:lnSpc>
                <a:spcPct val="90000"/>
              </a:lnSpc>
              <a:spcAft>
                <a:spcPts val="100"/>
              </a:spcAft>
            </a:pPr>
            <a:r>
              <a:rPr lang="en-US" dirty="0">
                <a:latin typeface="Times New Roman" panose="02020603050405020304" pitchFamily="18" charset="0"/>
                <a:cs typeface="Times New Roman" panose="02020603050405020304" pitchFamily="18" charset="0"/>
              </a:rPr>
              <a:t>Alarm fatigue reduction</a:t>
            </a:r>
          </a:p>
          <a:p>
            <a:pPr>
              <a:lnSpc>
                <a:spcPct val="90000"/>
              </a:lnSpc>
              <a:spcAft>
                <a:spcPts val="100"/>
              </a:spcAft>
            </a:pPr>
            <a:r>
              <a:rPr lang="en-US" dirty="0">
                <a:latin typeface="Times New Roman" panose="02020603050405020304" pitchFamily="18" charset="0"/>
                <a:cs typeface="Times New Roman" panose="02020603050405020304" pitchFamily="18" charset="0"/>
              </a:rPr>
              <a:t>Device/Sensor health</a:t>
            </a:r>
          </a:p>
          <a:p>
            <a:pPr>
              <a:lnSpc>
                <a:spcPct val="90000"/>
              </a:lnSpc>
              <a:spcAft>
                <a:spcPts val="100"/>
              </a:spcAft>
            </a:pPr>
            <a:r>
              <a:rPr lang="en-US" dirty="0">
                <a:latin typeface="Times New Roman" panose="02020603050405020304" pitchFamily="18" charset="0"/>
                <a:cs typeface="Times New Roman" panose="02020603050405020304" pitchFamily="18" charset="0"/>
              </a:rPr>
              <a:t>Outcome tracking</a:t>
            </a:r>
          </a:p>
          <a:p>
            <a:pPr>
              <a:lnSpc>
                <a:spcPct val="90000"/>
              </a:lnSpc>
              <a:spcAft>
                <a:spcPts val="100"/>
              </a:spcAft>
            </a:pPr>
            <a:r>
              <a:rPr lang="en-US" dirty="0">
                <a:latin typeface="Times New Roman" panose="02020603050405020304" pitchFamily="18" charset="0"/>
                <a:cs typeface="Times New Roman" panose="02020603050405020304" pitchFamily="18" charset="0"/>
              </a:rPr>
              <a:t>Prolonged inactivity/unresponsive resident</a:t>
            </a:r>
          </a:p>
          <a:p>
            <a:endParaRPr lang="en-US" dirty="0"/>
          </a:p>
        </p:txBody>
      </p:sp>
      <p:sp>
        <p:nvSpPr>
          <p:cNvPr id="4" name="Footer Placeholder 3">
            <a:extLst>
              <a:ext uri="{FF2B5EF4-FFF2-40B4-BE49-F238E27FC236}">
                <a16:creationId xmlns:a16="http://schemas.microsoft.com/office/drawing/2014/main" id="{CCCB303C-F3FC-ADD1-DA8B-5CE91C7D7FFE}"/>
              </a:ext>
            </a:extLst>
          </p:cNvPr>
          <p:cNvSpPr>
            <a:spLocks noGrp="1"/>
          </p:cNvSpPr>
          <p:nvPr>
            <p:ph type="ftr" sz="quarter" idx="11"/>
          </p:nvPr>
        </p:nvSpPr>
        <p:spPr/>
        <p:txBody>
          <a:bodyPr/>
          <a:lstStyle/>
          <a:p>
            <a:r>
              <a:rPr lang="en-US"/>
              <a:t>CS699B_FA25 - Professional Seminar</a:t>
            </a:r>
          </a:p>
        </p:txBody>
      </p:sp>
      <p:sp>
        <p:nvSpPr>
          <p:cNvPr id="5" name="Slide Number Placeholder 4">
            <a:extLst>
              <a:ext uri="{FF2B5EF4-FFF2-40B4-BE49-F238E27FC236}">
                <a16:creationId xmlns:a16="http://schemas.microsoft.com/office/drawing/2014/main" id="{C41C93A9-6294-C698-3A49-8FCCD8F9A17F}"/>
              </a:ext>
            </a:extLst>
          </p:cNvPr>
          <p:cNvSpPr>
            <a:spLocks noGrp="1"/>
          </p:cNvSpPr>
          <p:nvPr>
            <p:ph type="sldNum" sz="quarter" idx="12"/>
          </p:nvPr>
        </p:nvSpPr>
        <p:spPr/>
        <p:txBody>
          <a:bodyPr/>
          <a:lstStyle/>
          <a:p>
            <a:fld id="{6C37529B-A776-F94F-942C-67A2A3940E8A}" type="slidenum">
              <a:rPr lang="en-US" smtClean="0"/>
              <a:t>5</a:t>
            </a:fld>
            <a:endParaRPr lang="en-US"/>
          </a:p>
        </p:txBody>
      </p:sp>
    </p:spTree>
    <p:extLst>
      <p:ext uri="{BB962C8B-B14F-4D97-AF65-F5344CB8AC3E}">
        <p14:creationId xmlns:p14="http://schemas.microsoft.com/office/powerpoint/2010/main" val="3272139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970" y="512762"/>
            <a:ext cx="11155680" cy="1463040"/>
          </a:xfrm>
        </p:spPr>
        <p:txBody>
          <a:bodyPr>
            <a:normAutofit/>
          </a:bodyPr>
          <a:lstStyle/>
          <a:p>
            <a:pPr algn="ctr"/>
            <a:r>
              <a:rPr lang="en-US" sz="5000" b="1" dirty="0">
                <a:latin typeface="Times New Roman" panose="02020603050405020304" pitchFamily="18" charset="0"/>
                <a:cs typeface="Times New Roman" panose="02020603050405020304" pitchFamily="18" charset="0"/>
              </a:rPr>
              <a:t>Technologies Used</a:t>
            </a:r>
          </a:p>
        </p:txBody>
      </p:sp>
      <p:graphicFrame>
        <p:nvGraphicFramePr>
          <p:cNvPr id="5" name="Content Placeholder 2">
            <a:extLst>
              <a:ext uri="{FF2B5EF4-FFF2-40B4-BE49-F238E27FC236}">
                <a16:creationId xmlns:a16="http://schemas.microsoft.com/office/drawing/2014/main" id="{082C3664-BB26-0A23-5BEA-E13DBA59FEF6}"/>
              </a:ext>
            </a:extLst>
          </p:cNvPr>
          <p:cNvGraphicFramePr>
            <a:graphicFrameLocks noGrp="1"/>
          </p:cNvGraphicFramePr>
          <p:nvPr>
            <p:ph idx="1"/>
            <p:extLst>
              <p:ext uri="{D42A27DB-BD31-4B8C-83A1-F6EECF244321}">
                <p14:modId xmlns:p14="http://schemas.microsoft.com/office/powerpoint/2010/main" val="1638952108"/>
              </p:ext>
            </p:extLst>
          </p:nvPr>
        </p:nvGraphicFramePr>
        <p:xfrm>
          <a:off x="520700" y="1975802"/>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B4B7DD04-124B-AF79-14E4-26D5410C855E}"/>
              </a:ext>
            </a:extLst>
          </p:cNvPr>
          <p:cNvSpPr>
            <a:spLocks noGrp="1"/>
          </p:cNvSpPr>
          <p:nvPr>
            <p:ph type="ftr" sz="quarter" idx="11"/>
          </p:nvPr>
        </p:nvSpPr>
        <p:spPr/>
        <p:txBody>
          <a:bodyPr/>
          <a:lstStyle/>
          <a:p>
            <a:r>
              <a:rPr lang="en-US"/>
              <a:t>CS699B_FA25 - Professional Seminar</a:t>
            </a:r>
          </a:p>
        </p:txBody>
      </p:sp>
      <p:sp>
        <p:nvSpPr>
          <p:cNvPr id="13" name="Slide Number Placeholder 12">
            <a:extLst>
              <a:ext uri="{FF2B5EF4-FFF2-40B4-BE49-F238E27FC236}">
                <a16:creationId xmlns:a16="http://schemas.microsoft.com/office/drawing/2014/main" id="{BB521881-220E-60AE-7CB1-94193224441C}"/>
              </a:ext>
            </a:extLst>
          </p:cNvPr>
          <p:cNvSpPr>
            <a:spLocks noGrp="1"/>
          </p:cNvSpPr>
          <p:nvPr>
            <p:ph type="sldNum" sz="quarter" idx="12"/>
          </p:nvPr>
        </p:nvSpPr>
        <p:spPr/>
        <p:txBody>
          <a:bodyPr/>
          <a:lstStyle/>
          <a:p>
            <a:fld id="{148CC95F-0247-41B6-91CF-DC97C76A7088}" type="slidenum">
              <a:rPr lang="en-US" smtClean="0">
                <a:latin typeface="Times New Roman" panose="02020603050405020304" pitchFamily="18" charset="0"/>
                <a:cs typeface="Times New Roman" panose="02020603050405020304" pitchFamily="18" charset="0"/>
              </a:rPr>
              <a:t>6</a:t>
            </a:fld>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0135BEC4-EA95-D037-0BA9-1842F363ADE8}"/>
              </a:ext>
            </a:extLst>
          </p:cNvPr>
          <p:cNvSpPr>
            <a:spLocks noChangeArrowheads="1"/>
          </p:cNvSpPr>
          <p:nvPr/>
        </p:nvSpPr>
        <p:spPr bwMode="auto">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endParaRPr kumimoji="0" lang="en-US" altLang="en-US" sz="2600" b="1" i="0" u="none" strike="noStrike" kern="1200" cap="none" normalizeH="0" baseline="0" dirty="0">
              <a:ln>
                <a:noFill/>
              </a:ln>
              <a:solidFill>
                <a:srgbClr val="FFFFFF"/>
              </a:solidFill>
              <a:effectLst/>
              <a:latin typeface="Times New Roman" panose="02020603050405020304" pitchFamily="18" charset="0"/>
              <a:ea typeface="+mj-ea"/>
              <a:cs typeface="Times New Roman" panose="02020603050405020304" pitchFamily="18" charset="0"/>
            </a:endParaRPr>
          </a:p>
          <a:p>
            <a:pPr marL="0" marR="0" lvl="0" indent="0" algn="ctr" fontAlgn="base">
              <a:lnSpc>
                <a:spcPct val="90000"/>
              </a:lnSpc>
              <a:spcBef>
                <a:spcPct val="0"/>
              </a:spcBef>
              <a:spcAft>
                <a:spcPts val="600"/>
              </a:spcAft>
              <a:buClrTx/>
              <a:buSzTx/>
              <a:tabLst/>
            </a:pPr>
            <a:r>
              <a:rPr kumimoji="0" lang="en-US" altLang="en-US" sz="2400" b="1" i="0" u="none" strike="noStrike" kern="1200" cap="none" normalizeH="0" baseline="0" dirty="0">
                <a:ln>
                  <a:noFill/>
                </a:ln>
                <a:solidFill>
                  <a:srgbClr val="FFFFFF"/>
                </a:solidFill>
                <a:effectLst/>
                <a:latin typeface="Times New Roman" panose="02020603050405020304" pitchFamily="18" charset="0"/>
                <a:ea typeface="+mj-ea"/>
                <a:cs typeface="Times New Roman" panose="02020603050405020304" pitchFamily="18" charset="0"/>
              </a:rPr>
              <a:t>Functional specification</a:t>
            </a:r>
          </a:p>
          <a:p>
            <a:pPr marL="0" marR="0" lvl="0" indent="0" algn="ctr" fontAlgn="base">
              <a:lnSpc>
                <a:spcPct val="90000"/>
              </a:lnSpc>
              <a:spcBef>
                <a:spcPct val="0"/>
              </a:spcBef>
              <a:spcAft>
                <a:spcPts val="600"/>
              </a:spcAft>
              <a:buClrTx/>
              <a:buSzTx/>
              <a:tabLst/>
            </a:pPr>
            <a:endParaRPr kumimoji="0" lang="en-US" altLang="en-US" sz="2600" b="1" i="0" u="none" strike="noStrike" kern="1200" cap="none" normalizeH="0" baseline="0" dirty="0">
              <a:ln>
                <a:noFill/>
              </a:ln>
              <a:solidFill>
                <a:srgbClr val="FFFFFF"/>
              </a:solidFill>
              <a:effectLst/>
              <a:latin typeface="+mj-lt"/>
              <a:ea typeface="+mj-ea"/>
              <a:cs typeface="+mj-cs"/>
            </a:endParaRPr>
          </a:p>
        </p:txBody>
      </p:sp>
      <p:sp>
        <p:nvSpPr>
          <p:cNvPr id="4" name="Footer Placeholder 3">
            <a:extLst>
              <a:ext uri="{FF2B5EF4-FFF2-40B4-BE49-F238E27FC236}">
                <a16:creationId xmlns:a16="http://schemas.microsoft.com/office/drawing/2014/main" id="{929F9C1A-ED75-AA39-0275-A02A311363EB}"/>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7" name="Slide Number Placeholder 6">
            <a:extLst>
              <a:ext uri="{FF2B5EF4-FFF2-40B4-BE49-F238E27FC236}">
                <a16:creationId xmlns:a16="http://schemas.microsoft.com/office/drawing/2014/main" id="{2526753E-CB33-C691-D196-211A56C0B6B8}"/>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7</a:t>
            </a:fld>
            <a:endParaRPr lang="en-US">
              <a:solidFill>
                <a:srgbClr val="898989"/>
              </a:solidFill>
            </a:endParaRPr>
          </a:p>
        </p:txBody>
      </p:sp>
      <p:graphicFrame>
        <p:nvGraphicFramePr>
          <p:cNvPr id="2" name="Table 1">
            <a:extLst>
              <a:ext uri="{FF2B5EF4-FFF2-40B4-BE49-F238E27FC236}">
                <a16:creationId xmlns:a16="http://schemas.microsoft.com/office/drawing/2014/main" id="{433F026C-6603-0263-17F2-3B01F4D4D5AB}"/>
              </a:ext>
            </a:extLst>
          </p:cNvPr>
          <p:cNvGraphicFramePr>
            <a:graphicFrameLocks noGrp="1"/>
          </p:cNvGraphicFramePr>
          <p:nvPr>
            <p:extLst>
              <p:ext uri="{D42A27DB-BD31-4B8C-83A1-F6EECF244321}">
                <p14:modId xmlns:p14="http://schemas.microsoft.com/office/powerpoint/2010/main" val="2611580626"/>
              </p:ext>
            </p:extLst>
          </p:nvPr>
        </p:nvGraphicFramePr>
        <p:xfrm>
          <a:off x="4038600" y="1298773"/>
          <a:ext cx="7188199" cy="4257069"/>
        </p:xfrm>
        <a:graphic>
          <a:graphicData uri="http://schemas.openxmlformats.org/drawingml/2006/table">
            <a:tbl>
              <a:tblPr>
                <a:solidFill>
                  <a:schemeClr val="accent1">
                    <a:lumMod val="20000"/>
                    <a:lumOff val="80000"/>
                  </a:schemeClr>
                </a:solidFill>
                <a:tableStyleId>{8EC20E35-A176-4012-BC5E-935CFFF8708E}</a:tableStyleId>
              </a:tblPr>
              <a:tblGrid>
                <a:gridCol w="3148081">
                  <a:extLst>
                    <a:ext uri="{9D8B030D-6E8A-4147-A177-3AD203B41FA5}">
                      <a16:colId xmlns:a16="http://schemas.microsoft.com/office/drawing/2014/main" val="3838943501"/>
                    </a:ext>
                  </a:extLst>
                </a:gridCol>
                <a:gridCol w="4040118">
                  <a:extLst>
                    <a:ext uri="{9D8B030D-6E8A-4147-A177-3AD203B41FA5}">
                      <a16:colId xmlns:a16="http://schemas.microsoft.com/office/drawing/2014/main" val="705227712"/>
                    </a:ext>
                  </a:extLst>
                </a:gridCol>
              </a:tblGrid>
              <a:tr h="319703">
                <a:tc>
                  <a:txBody>
                    <a:bodyPr/>
                    <a:lstStyle/>
                    <a:p>
                      <a:pPr>
                        <a:buNone/>
                      </a:pPr>
                      <a:r>
                        <a:rPr lang="en-US" sz="1200" b="1" cap="none" spc="0">
                          <a:solidFill>
                            <a:schemeClr val="tx1"/>
                          </a:solidFill>
                          <a:latin typeface="Times New Roman" panose="02020603050405020304" pitchFamily="18" charset="0"/>
                          <a:cs typeface="Times New Roman" panose="02020603050405020304" pitchFamily="18" charset="0"/>
                        </a:rPr>
                        <a:t>Actor</a:t>
                      </a:r>
                      <a:endParaRPr lang="en-US" sz="1200" cap="none" spc="0">
                        <a:solidFill>
                          <a:schemeClr val="tx1"/>
                        </a:solidFill>
                        <a:latin typeface="Times New Roman" panose="02020603050405020304" pitchFamily="18" charset="0"/>
                        <a:cs typeface="Times New Roman" panose="02020603050405020304" pitchFamily="18" charset="0"/>
                      </a:endParaRP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200" b="1" cap="none" spc="0">
                          <a:solidFill>
                            <a:schemeClr val="tx1"/>
                          </a:solidFill>
                          <a:latin typeface="Times New Roman" panose="02020603050405020304" pitchFamily="18" charset="0"/>
                          <a:cs typeface="Times New Roman" panose="02020603050405020304" pitchFamily="18" charset="0"/>
                        </a:rPr>
                        <a:t>Role</a:t>
                      </a:r>
                      <a:endParaRPr lang="en-US" sz="1200" cap="none" spc="0">
                        <a:solidFill>
                          <a:schemeClr val="tx1"/>
                        </a:solidFill>
                        <a:latin typeface="Times New Roman" panose="02020603050405020304" pitchFamily="18" charset="0"/>
                        <a:cs typeface="Times New Roman" panose="02020603050405020304" pitchFamily="18" charset="0"/>
                      </a:endParaRP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876291920"/>
                  </a:ext>
                </a:extLst>
              </a:tr>
              <a:tr h="508530">
                <a:tc>
                  <a:txBody>
                    <a:bodyPr/>
                    <a:lstStyle/>
                    <a:p>
                      <a:pPr>
                        <a:buNone/>
                      </a:pPr>
                      <a:r>
                        <a:rPr lang="en-US" sz="1200" b="1" cap="none" spc="0">
                          <a:solidFill>
                            <a:schemeClr val="tx1"/>
                          </a:solidFill>
                          <a:latin typeface="Times New Roman" panose="02020603050405020304" pitchFamily="18" charset="0"/>
                          <a:cs typeface="Times New Roman" panose="02020603050405020304" pitchFamily="18" charset="0"/>
                        </a:rPr>
                        <a:t>System Administrator</a:t>
                      </a:r>
                      <a:endParaRPr lang="en-US" sz="1200" cap="none" spc="0">
                        <a:solidFill>
                          <a:schemeClr val="tx1"/>
                        </a:solidFill>
                        <a:latin typeface="Times New Roman" panose="02020603050405020304" pitchFamily="18" charset="0"/>
                        <a:cs typeface="Times New Roman" panose="02020603050405020304" pitchFamily="18" charset="0"/>
                      </a:endParaRP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200" cap="none" spc="0">
                          <a:solidFill>
                            <a:schemeClr val="tx1"/>
                          </a:solidFill>
                          <a:latin typeface="Times New Roman" panose="02020603050405020304" pitchFamily="18" charset="0"/>
                          <a:cs typeface="Times New Roman" panose="02020603050405020304" pitchFamily="18" charset="0"/>
                        </a:rPr>
                        <a:t>Manages overall system configuration, user accounts, and ensures data privacy and security.</a:t>
                      </a: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42196027"/>
                  </a:ext>
                </a:extLst>
              </a:tr>
              <a:tr h="508530">
                <a:tc>
                  <a:txBody>
                    <a:bodyPr/>
                    <a:lstStyle/>
                    <a:p>
                      <a:pPr>
                        <a:buNone/>
                      </a:pPr>
                      <a:r>
                        <a:rPr lang="en-US" sz="1200" b="1" cap="none" spc="0" dirty="0">
                          <a:solidFill>
                            <a:schemeClr val="tx1"/>
                          </a:solidFill>
                          <a:latin typeface="Times New Roman" panose="02020603050405020304" pitchFamily="18" charset="0"/>
                          <a:cs typeface="Times New Roman" panose="02020603050405020304" pitchFamily="18" charset="0"/>
                        </a:rPr>
                        <a:t>Care Team (Doctors/Nurses)</a:t>
                      </a:r>
                      <a:endParaRPr lang="en-US" sz="1200" cap="none" spc="0" dirty="0">
                        <a:solidFill>
                          <a:schemeClr val="tx1"/>
                        </a:solidFill>
                        <a:latin typeface="Times New Roman" panose="02020603050405020304" pitchFamily="18" charset="0"/>
                        <a:cs typeface="Times New Roman" panose="02020603050405020304" pitchFamily="18" charset="0"/>
                      </a:endParaRP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200" cap="none" spc="0">
                          <a:solidFill>
                            <a:schemeClr val="tx1"/>
                          </a:solidFill>
                          <a:latin typeface="Times New Roman" panose="02020603050405020304" pitchFamily="18" charset="0"/>
                          <a:cs typeface="Times New Roman" panose="02020603050405020304" pitchFamily="18" charset="0"/>
                        </a:rPr>
                        <a:t>Monitors patient vitals, receives alerts (e.g., fall detection, abnormal vitals), and acknowledges or responds to incidents.</a:t>
                      </a: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570221956"/>
                  </a:ext>
                </a:extLst>
              </a:tr>
              <a:tr h="697358">
                <a:tc>
                  <a:txBody>
                    <a:bodyPr/>
                    <a:lstStyle/>
                    <a:p>
                      <a:pPr>
                        <a:buNone/>
                      </a:pPr>
                      <a:r>
                        <a:rPr lang="en-US" sz="1200" b="1" cap="none" spc="0">
                          <a:solidFill>
                            <a:schemeClr val="tx1"/>
                          </a:solidFill>
                          <a:latin typeface="Times New Roman" panose="02020603050405020304" pitchFamily="18" charset="0"/>
                          <a:cs typeface="Times New Roman" panose="02020603050405020304" pitchFamily="18" charset="0"/>
                        </a:rPr>
                        <a:t>Patient</a:t>
                      </a:r>
                      <a:endParaRPr lang="en-US" sz="1200" cap="none" spc="0">
                        <a:solidFill>
                          <a:schemeClr val="tx1"/>
                        </a:solidFill>
                        <a:latin typeface="Times New Roman" panose="02020603050405020304" pitchFamily="18" charset="0"/>
                        <a:cs typeface="Times New Roman" panose="02020603050405020304" pitchFamily="18" charset="0"/>
                      </a:endParaRP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200" cap="none" spc="0">
                          <a:solidFill>
                            <a:schemeClr val="tx1"/>
                          </a:solidFill>
                          <a:latin typeface="Times New Roman" panose="02020603050405020304" pitchFamily="18" charset="0"/>
                          <a:cs typeface="Times New Roman" panose="02020603050405020304" pitchFamily="18" charset="0"/>
                        </a:rPr>
                        <a:t>Wears sensor devices (IMU, SpO₂, heart rate monitor), views their vitals on the dashboard, and can request help using the “I Need Help” button.</a:t>
                      </a: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147166221"/>
                  </a:ext>
                </a:extLst>
              </a:tr>
              <a:tr h="508530">
                <a:tc>
                  <a:txBody>
                    <a:bodyPr/>
                    <a:lstStyle/>
                    <a:p>
                      <a:pPr>
                        <a:buNone/>
                      </a:pPr>
                      <a:r>
                        <a:rPr lang="en-US" sz="1200" b="1" cap="none" spc="0">
                          <a:solidFill>
                            <a:schemeClr val="tx1"/>
                          </a:solidFill>
                          <a:latin typeface="Times New Roman" panose="02020603050405020304" pitchFamily="18" charset="0"/>
                          <a:cs typeface="Times New Roman" panose="02020603050405020304" pitchFamily="18" charset="0"/>
                        </a:rPr>
                        <a:t>Edge Device / Gateway</a:t>
                      </a:r>
                      <a:endParaRPr lang="en-US" sz="1200" cap="none" spc="0">
                        <a:solidFill>
                          <a:schemeClr val="tx1"/>
                        </a:solidFill>
                        <a:latin typeface="Times New Roman" panose="02020603050405020304" pitchFamily="18" charset="0"/>
                        <a:cs typeface="Times New Roman" panose="02020603050405020304" pitchFamily="18" charset="0"/>
                      </a:endParaRP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200" cap="none" spc="0">
                          <a:solidFill>
                            <a:schemeClr val="tx1"/>
                          </a:solidFill>
                          <a:latin typeface="Times New Roman" panose="02020603050405020304" pitchFamily="18" charset="0"/>
                          <a:cs typeface="Times New Roman" panose="02020603050405020304" pitchFamily="18" charset="0"/>
                        </a:rPr>
                        <a:t>Collects multi-modal data from sensors, preprocesses it locally, and sends it securely to the cloud for analysis.</a:t>
                      </a: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111347695"/>
                  </a:ext>
                </a:extLst>
              </a:tr>
              <a:tr h="697358">
                <a:tc>
                  <a:txBody>
                    <a:bodyPr/>
                    <a:lstStyle/>
                    <a:p>
                      <a:pPr>
                        <a:buNone/>
                      </a:pPr>
                      <a:r>
                        <a:rPr lang="en-US" sz="1200" b="1" cap="none" spc="0">
                          <a:solidFill>
                            <a:schemeClr val="tx1"/>
                          </a:solidFill>
                          <a:latin typeface="Times New Roman" panose="02020603050405020304" pitchFamily="18" charset="0"/>
                          <a:cs typeface="Times New Roman" panose="02020603050405020304" pitchFamily="18" charset="0"/>
                        </a:rPr>
                        <a:t>Machine Learning Engine</a:t>
                      </a:r>
                      <a:endParaRPr lang="en-US" sz="1200" cap="none" spc="0">
                        <a:solidFill>
                          <a:schemeClr val="tx1"/>
                        </a:solidFill>
                        <a:latin typeface="Times New Roman" panose="02020603050405020304" pitchFamily="18" charset="0"/>
                        <a:cs typeface="Times New Roman" panose="02020603050405020304" pitchFamily="18" charset="0"/>
                      </a:endParaRP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200" cap="none" spc="0">
                          <a:solidFill>
                            <a:schemeClr val="tx1"/>
                          </a:solidFill>
                          <a:latin typeface="Times New Roman" panose="02020603050405020304" pitchFamily="18" charset="0"/>
                          <a:cs typeface="Times New Roman" panose="02020603050405020304" pitchFamily="18" charset="0"/>
                        </a:rPr>
                        <a:t>Processes incoming sensor data, performs fusion analysis, detects abnormal events, and triggers alerts based on model inference.</a:t>
                      </a: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701022998"/>
                  </a:ext>
                </a:extLst>
              </a:tr>
              <a:tr h="508530">
                <a:tc>
                  <a:txBody>
                    <a:bodyPr/>
                    <a:lstStyle/>
                    <a:p>
                      <a:pPr>
                        <a:buNone/>
                      </a:pPr>
                      <a:r>
                        <a:rPr lang="en-US" sz="1200" b="1" cap="none" spc="0">
                          <a:solidFill>
                            <a:schemeClr val="tx1"/>
                          </a:solidFill>
                          <a:latin typeface="Times New Roman" panose="02020603050405020304" pitchFamily="18" charset="0"/>
                          <a:cs typeface="Times New Roman" panose="02020603050405020304" pitchFamily="18" charset="0"/>
                        </a:rPr>
                        <a:t>Database Server</a:t>
                      </a:r>
                      <a:endParaRPr lang="en-US" sz="1200" cap="none" spc="0">
                        <a:solidFill>
                          <a:schemeClr val="tx1"/>
                        </a:solidFill>
                        <a:latin typeface="Times New Roman" panose="02020603050405020304" pitchFamily="18" charset="0"/>
                        <a:cs typeface="Times New Roman" panose="02020603050405020304" pitchFamily="18" charset="0"/>
                      </a:endParaRP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200" cap="none" spc="0">
                          <a:solidFill>
                            <a:schemeClr val="tx1"/>
                          </a:solidFill>
                          <a:latin typeface="Times New Roman" panose="02020603050405020304" pitchFamily="18" charset="0"/>
                          <a:cs typeface="Times New Roman" panose="02020603050405020304" pitchFamily="18" charset="0"/>
                        </a:rPr>
                        <a:t>Stores historical alerts, vitals, and incident logs for reporting and further analysis.</a:t>
                      </a: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93424177"/>
                  </a:ext>
                </a:extLst>
              </a:tr>
              <a:tr h="508530">
                <a:tc>
                  <a:txBody>
                    <a:bodyPr/>
                    <a:lstStyle/>
                    <a:p>
                      <a:pPr>
                        <a:buNone/>
                      </a:pPr>
                      <a:r>
                        <a:rPr lang="en-US" sz="1200" b="1" cap="none" spc="0">
                          <a:solidFill>
                            <a:schemeClr val="tx1"/>
                          </a:solidFill>
                          <a:latin typeface="Times New Roman" panose="02020603050405020304" pitchFamily="18" charset="0"/>
                          <a:cs typeface="Times New Roman" panose="02020603050405020304" pitchFamily="18" charset="0"/>
                        </a:rPr>
                        <a:t>EHR / Hospital System</a:t>
                      </a:r>
                      <a:endParaRPr lang="en-US" sz="1200" cap="none" spc="0">
                        <a:solidFill>
                          <a:schemeClr val="tx1"/>
                        </a:solidFill>
                        <a:latin typeface="Times New Roman" panose="02020603050405020304" pitchFamily="18" charset="0"/>
                        <a:cs typeface="Times New Roman" panose="02020603050405020304" pitchFamily="18" charset="0"/>
                      </a:endParaRP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200" cap="none" spc="0" dirty="0">
                          <a:solidFill>
                            <a:schemeClr val="tx1"/>
                          </a:solidFill>
                          <a:latin typeface="Times New Roman" panose="02020603050405020304" pitchFamily="18" charset="0"/>
                          <a:cs typeface="Times New Roman" panose="02020603050405020304" pitchFamily="18" charset="0"/>
                        </a:rPr>
                        <a:t>Receives anonymized health data and alerts through the SMART on FHIR interface for medical record integration.</a:t>
                      </a:r>
                    </a:p>
                  </a:txBody>
                  <a:tcPr marL="44117" marR="44117" marT="22058" marB="7395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698326051"/>
                  </a:ext>
                </a:extLst>
              </a:tr>
            </a:tbl>
          </a:graphicData>
        </a:graphic>
      </p:graphicFrame>
    </p:spTree>
    <p:extLst>
      <p:ext uri="{BB962C8B-B14F-4D97-AF65-F5344CB8AC3E}">
        <p14:creationId xmlns:p14="http://schemas.microsoft.com/office/powerpoint/2010/main" val="2950110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CE243-41E3-3DE7-C52A-E6B7C5A92D08}"/>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rmAutofit/>
          </a:bodyPr>
          <a:lstStyle/>
          <a:p>
            <a:pPr algn="ctr"/>
            <a:r>
              <a:rPr lang="en-US" sz="2000" b="1" dirty="0">
                <a:solidFill>
                  <a:srgbClr val="FFFFFF"/>
                </a:solidFill>
                <a:latin typeface="Times New Roman" panose="02020603050405020304" pitchFamily="18" charset="0"/>
                <a:cs typeface="Times New Roman" panose="02020603050405020304" pitchFamily="18" charset="0"/>
              </a:rPr>
              <a:t>Use Case Diagram </a:t>
            </a:r>
            <a:endParaRPr lang="en-US" sz="2000" b="1" kern="1200" dirty="0">
              <a:solidFill>
                <a:srgbClr val="FFFFFF"/>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98A805B3-9AEB-D2C1-73C6-2867F7B04CDA}"/>
              </a:ext>
            </a:extLst>
          </p:cNvPr>
          <p:cNvPicPr>
            <a:picLocks noGrp="1" noChangeAspect="1"/>
          </p:cNvPicPr>
          <p:nvPr>
            <p:ph idx="1"/>
          </p:nvPr>
        </p:nvPicPr>
        <p:blipFill>
          <a:blip r:embed="rId3"/>
          <a:stretch>
            <a:fillRect/>
          </a:stretch>
        </p:blipFill>
        <p:spPr>
          <a:xfrm>
            <a:off x="4038600" y="1351714"/>
            <a:ext cx="7188199" cy="4151183"/>
          </a:xfrm>
          <a:prstGeom prst="rect">
            <a:avLst/>
          </a:prstGeom>
        </p:spPr>
      </p:pic>
      <p:sp>
        <p:nvSpPr>
          <p:cNvPr id="6" name="Footer Placeholder 5">
            <a:extLst>
              <a:ext uri="{FF2B5EF4-FFF2-40B4-BE49-F238E27FC236}">
                <a16:creationId xmlns:a16="http://schemas.microsoft.com/office/drawing/2014/main" id="{D8EE0AAF-7A40-66CD-23B6-7B852B9A90FA}"/>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CE0DB2C1-AA12-99EF-FF9B-DF18D4BE24DA}"/>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8</a:t>
            </a:fld>
            <a:endParaRPr lang="en-US">
              <a:solidFill>
                <a:srgbClr val="898989"/>
              </a:solidFill>
            </a:endParaRPr>
          </a:p>
        </p:txBody>
      </p:sp>
    </p:spTree>
    <p:extLst>
      <p:ext uri="{BB962C8B-B14F-4D97-AF65-F5344CB8AC3E}">
        <p14:creationId xmlns:p14="http://schemas.microsoft.com/office/powerpoint/2010/main" val="343304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39683-21D7-0502-9075-12B8BD383549}"/>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000" kern="1200" dirty="0">
                <a:solidFill>
                  <a:srgbClr val="FFFFFF"/>
                </a:solidFill>
                <a:latin typeface="Times New Roman" panose="02020603050405020304" pitchFamily="18" charset="0"/>
                <a:cs typeface="Times New Roman" panose="02020603050405020304" pitchFamily="18" charset="0"/>
              </a:rPr>
              <a:t>Class Diagram</a:t>
            </a:r>
            <a:br>
              <a:rPr lang="en-US" sz="2000" kern="1200" dirty="0">
                <a:solidFill>
                  <a:srgbClr val="FFFFFF"/>
                </a:solidFill>
                <a:latin typeface="Times New Roman" panose="02020603050405020304" pitchFamily="18" charset="0"/>
                <a:cs typeface="Times New Roman" panose="02020603050405020304" pitchFamily="18" charset="0"/>
              </a:rPr>
            </a:br>
            <a:endParaRPr lang="en-US" sz="2000" kern="1200" dirty="0">
              <a:solidFill>
                <a:srgbClr val="FFFFFF"/>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E1DC59FD-C412-5AA6-F0BD-DD7E4ED1319D}"/>
              </a:ext>
            </a:extLst>
          </p:cNvPr>
          <p:cNvPicPr>
            <a:picLocks noGrp="1" noChangeAspect="1"/>
          </p:cNvPicPr>
          <p:nvPr>
            <p:ph idx="1"/>
          </p:nvPr>
        </p:nvPicPr>
        <p:blipFill>
          <a:blip r:embed="rId2"/>
          <a:stretch>
            <a:fillRect/>
          </a:stretch>
        </p:blipFill>
        <p:spPr>
          <a:xfrm>
            <a:off x="4038600" y="1468522"/>
            <a:ext cx="7188199" cy="3917567"/>
          </a:xfrm>
          <a:prstGeom prst="rect">
            <a:avLst/>
          </a:prstGeom>
        </p:spPr>
      </p:pic>
      <p:sp>
        <p:nvSpPr>
          <p:cNvPr id="6" name="Footer Placeholder 5">
            <a:extLst>
              <a:ext uri="{FF2B5EF4-FFF2-40B4-BE49-F238E27FC236}">
                <a16:creationId xmlns:a16="http://schemas.microsoft.com/office/drawing/2014/main" id="{587ED301-8128-D6C5-5955-FF4924D9A584}"/>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0BB85EF9-91A7-8BF8-6CDC-4A391C14B270}"/>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9</a:t>
            </a:fld>
            <a:endParaRPr lang="en-US">
              <a:solidFill>
                <a:srgbClr val="898989"/>
              </a:solidFill>
            </a:endParaRPr>
          </a:p>
        </p:txBody>
      </p:sp>
    </p:spTree>
    <p:extLst>
      <p:ext uri="{BB962C8B-B14F-4D97-AF65-F5344CB8AC3E}">
        <p14:creationId xmlns:p14="http://schemas.microsoft.com/office/powerpoint/2010/main" val="4251977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ECC6D-FF6F-6D4A-2928-CDAB57792E9F}"/>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000" kern="1200" dirty="0">
                <a:solidFill>
                  <a:srgbClr val="FFFFFF"/>
                </a:solidFill>
                <a:latin typeface="Times New Roman" panose="02020603050405020304" pitchFamily="18" charset="0"/>
                <a:cs typeface="Times New Roman" panose="02020603050405020304" pitchFamily="18" charset="0"/>
              </a:rPr>
              <a:t>Object Diagram </a:t>
            </a:r>
          </a:p>
        </p:txBody>
      </p:sp>
      <p:pic>
        <p:nvPicPr>
          <p:cNvPr id="5" name="Content Placeholder 4">
            <a:extLst>
              <a:ext uri="{FF2B5EF4-FFF2-40B4-BE49-F238E27FC236}">
                <a16:creationId xmlns:a16="http://schemas.microsoft.com/office/drawing/2014/main" id="{93AFA618-5223-3BE8-D00C-7CA6B17D8EE3}"/>
              </a:ext>
            </a:extLst>
          </p:cNvPr>
          <p:cNvPicPr>
            <a:picLocks noGrp="1" noChangeAspect="1"/>
          </p:cNvPicPr>
          <p:nvPr>
            <p:ph idx="1"/>
          </p:nvPr>
        </p:nvPicPr>
        <p:blipFill>
          <a:blip r:embed="rId2"/>
          <a:stretch>
            <a:fillRect/>
          </a:stretch>
        </p:blipFill>
        <p:spPr>
          <a:xfrm>
            <a:off x="3887852" y="618672"/>
            <a:ext cx="7032172" cy="5274128"/>
          </a:xfrm>
          <a:prstGeom prst="rect">
            <a:avLst/>
          </a:prstGeom>
        </p:spPr>
      </p:pic>
      <p:sp>
        <p:nvSpPr>
          <p:cNvPr id="6" name="Footer Placeholder 5">
            <a:extLst>
              <a:ext uri="{FF2B5EF4-FFF2-40B4-BE49-F238E27FC236}">
                <a16:creationId xmlns:a16="http://schemas.microsoft.com/office/drawing/2014/main" id="{52DE8CF2-ED1C-D3FE-4B58-624EADE137A6}"/>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A2066099-3418-ADF9-B9C9-86AE263C4752}"/>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10</a:t>
            </a:fld>
            <a:endParaRPr lang="en-US">
              <a:solidFill>
                <a:srgbClr val="898989"/>
              </a:solidFill>
            </a:endParaRPr>
          </a:p>
        </p:txBody>
      </p:sp>
    </p:spTree>
    <p:extLst>
      <p:ext uri="{BB962C8B-B14F-4D97-AF65-F5344CB8AC3E}">
        <p14:creationId xmlns:p14="http://schemas.microsoft.com/office/powerpoint/2010/main" val="1147859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1985A-5CCB-9CCF-E298-8B28EEFB3490}"/>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rmAutofit/>
          </a:bodyPr>
          <a:lstStyle/>
          <a:p>
            <a:pPr algn="ctr"/>
            <a:r>
              <a:rPr lang="en-US" sz="2000" kern="1200" dirty="0">
                <a:solidFill>
                  <a:srgbClr val="FFFFFF"/>
                </a:solidFill>
                <a:latin typeface="Times New Roman" panose="02020603050405020304" pitchFamily="18" charset="0"/>
                <a:cs typeface="Times New Roman" panose="02020603050405020304" pitchFamily="18" charset="0"/>
              </a:rPr>
              <a:t>Sequence Diagram </a:t>
            </a:r>
          </a:p>
        </p:txBody>
      </p:sp>
      <p:pic>
        <p:nvPicPr>
          <p:cNvPr id="5" name="Content Placeholder 4">
            <a:extLst>
              <a:ext uri="{FF2B5EF4-FFF2-40B4-BE49-F238E27FC236}">
                <a16:creationId xmlns:a16="http://schemas.microsoft.com/office/drawing/2014/main" id="{72BA850A-4C14-A09D-01EB-11F5E184ABD3}"/>
              </a:ext>
            </a:extLst>
          </p:cNvPr>
          <p:cNvPicPr>
            <a:picLocks noGrp="1" noChangeAspect="1"/>
          </p:cNvPicPr>
          <p:nvPr>
            <p:ph idx="1"/>
          </p:nvPr>
        </p:nvPicPr>
        <p:blipFill>
          <a:blip r:embed="rId2"/>
          <a:stretch>
            <a:fillRect/>
          </a:stretch>
        </p:blipFill>
        <p:spPr>
          <a:xfrm>
            <a:off x="3553301" y="697678"/>
            <a:ext cx="8477832" cy="5168550"/>
          </a:xfrm>
          <a:prstGeom prst="rect">
            <a:avLst/>
          </a:prstGeom>
        </p:spPr>
      </p:pic>
      <p:sp>
        <p:nvSpPr>
          <p:cNvPr id="6" name="Footer Placeholder 5">
            <a:extLst>
              <a:ext uri="{FF2B5EF4-FFF2-40B4-BE49-F238E27FC236}">
                <a16:creationId xmlns:a16="http://schemas.microsoft.com/office/drawing/2014/main" id="{35E2E59D-8202-09AF-61DF-8C6CC4951B70}"/>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04A39355-2D7B-8485-F0D0-5B4FE3AFCB72}"/>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11</a:t>
            </a:fld>
            <a:endParaRPr lang="en-US">
              <a:solidFill>
                <a:srgbClr val="898989"/>
              </a:solidFill>
            </a:endParaRPr>
          </a:p>
        </p:txBody>
      </p:sp>
    </p:spTree>
    <p:extLst>
      <p:ext uri="{BB962C8B-B14F-4D97-AF65-F5344CB8AC3E}">
        <p14:creationId xmlns:p14="http://schemas.microsoft.com/office/powerpoint/2010/main" val="177973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537B3-493C-C8C0-5CA3-9E59F0812F5F}"/>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Autofit/>
          </a:bodyPr>
          <a:lstStyle/>
          <a:p>
            <a:pPr algn="ctr"/>
            <a:r>
              <a:rPr lang="en-US" sz="2000" kern="1200" dirty="0">
                <a:solidFill>
                  <a:srgbClr val="FFFFFF"/>
                </a:solidFill>
                <a:latin typeface="Times New Roman" panose="02020603050405020304" pitchFamily="18" charset="0"/>
                <a:cs typeface="Times New Roman" panose="02020603050405020304" pitchFamily="18" charset="0"/>
              </a:rPr>
              <a:t>Sequence Diagram – Label &amp; EHR Write Back</a:t>
            </a:r>
          </a:p>
        </p:txBody>
      </p:sp>
      <p:pic>
        <p:nvPicPr>
          <p:cNvPr id="5" name="Content Placeholder 4">
            <a:extLst>
              <a:ext uri="{FF2B5EF4-FFF2-40B4-BE49-F238E27FC236}">
                <a16:creationId xmlns:a16="http://schemas.microsoft.com/office/drawing/2014/main" id="{73E69D75-8B1C-35FD-896A-C2AAA1A18160}"/>
              </a:ext>
            </a:extLst>
          </p:cNvPr>
          <p:cNvPicPr>
            <a:picLocks noGrp="1" noChangeAspect="1"/>
          </p:cNvPicPr>
          <p:nvPr>
            <p:ph idx="1"/>
          </p:nvPr>
        </p:nvPicPr>
        <p:blipFill>
          <a:blip r:embed="rId2"/>
          <a:stretch>
            <a:fillRect/>
          </a:stretch>
        </p:blipFill>
        <p:spPr>
          <a:xfrm>
            <a:off x="3624238" y="1155043"/>
            <a:ext cx="8256138" cy="3529499"/>
          </a:xfrm>
          <a:prstGeom prst="rect">
            <a:avLst/>
          </a:prstGeom>
        </p:spPr>
      </p:pic>
      <p:sp>
        <p:nvSpPr>
          <p:cNvPr id="6" name="Footer Placeholder 5">
            <a:extLst>
              <a:ext uri="{FF2B5EF4-FFF2-40B4-BE49-F238E27FC236}">
                <a16:creationId xmlns:a16="http://schemas.microsoft.com/office/drawing/2014/main" id="{DBBCA235-4D4B-1FA8-17DE-716A0F1F8B81}"/>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8DA969E2-5F8B-DB5F-CE42-FF5CCF32A41A}"/>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12</a:t>
            </a:fld>
            <a:endParaRPr lang="en-US">
              <a:solidFill>
                <a:srgbClr val="898989"/>
              </a:solidFill>
            </a:endParaRPr>
          </a:p>
        </p:txBody>
      </p:sp>
    </p:spTree>
    <p:extLst>
      <p:ext uri="{BB962C8B-B14F-4D97-AF65-F5344CB8AC3E}">
        <p14:creationId xmlns:p14="http://schemas.microsoft.com/office/powerpoint/2010/main" val="1485691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73EC-DA4A-4BF2-2A19-AD3CD9ACDC8F}"/>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rmAutofit/>
          </a:bodyPr>
          <a:lstStyle/>
          <a:p>
            <a:pPr algn="ctr"/>
            <a:r>
              <a:rPr lang="en-US" sz="2000" kern="1200" dirty="0">
                <a:solidFill>
                  <a:srgbClr val="FFFFFF"/>
                </a:solidFill>
                <a:latin typeface="Times New Roman" panose="02020603050405020304" pitchFamily="18" charset="0"/>
                <a:cs typeface="Times New Roman" panose="02020603050405020304" pitchFamily="18" charset="0"/>
              </a:rPr>
              <a:t>State Chart Diagram </a:t>
            </a:r>
          </a:p>
        </p:txBody>
      </p:sp>
      <p:pic>
        <p:nvPicPr>
          <p:cNvPr id="5" name="Content Placeholder 4">
            <a:extLst>
              <a:ext uri="{FF2B5EF4-FFF2-40B4-BE49-F238E27FC236}">
                <a16:creationId xmlns:a16="http://schemas.microsoft.com/office/drawing/2014/main" id="{59309CD0-19C7-9910-5F53-A7CF138FE294}"/>
              </a:ext>
            </a:extLst>
          </p:cNvPr>
          <p:cNvPicPr>
            <a:picLocks noGrp="1" noChangeAspect="1"/>
          </p:cNvPicPr>
          <p:nvPr>
            <p:ph idx="1"/>
          </p:nvPr>
        </p:nvPicPr>
        <p:blipFill>
          <a:blip r:embed="rId2"/>
          <a:stretch>
            <a:fillRect/>
          </a:stretch>
        </p:blipFill>
        <p:spPr>
          <a:xfrm>
            <a:off x="3541566" y="703385"/>
            <a:ext cx="7768691" cy="5069069"/>
          </a:xfrm>
          <a:prstGeom prst="rect">
            <a:avLst/>
          </a:prstGeom>
        </p:spPr>
      </p:pic>
      <p:sp>
        <p:nvSpPr>
          <p:cNvPr id="6" name="Footer Placeholder 5">
            <a:extLst>
              <a:ext uri="{FF2B5EF4-FFF2-40B4-BE49-F238E27FC236}">
                <a16:creationId xmlns:a16="http://schemas.microsoft.com/office/drawing/2014/main" id="{22BB9E29-6281-AD6B-4A86-30DACFE6BCB0}"/>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714494E0-0C18-69D1-18EA-AF27A5CBA131}"/>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13</a:t>
            </a:fld>
            <a:endParaRPr lang="en-US">
              <a:solidFill>
                <a:srgbClr val="898989"/>
              </a:solidFill>
            </a:endParaRPr>
          </a:p>
        </p:txBody>
      </p:sp>
    </p:spTree>
    <p:extLst>
      <p:ext uri="{BB962C8B-B14F-4D97-AF65-F5344CB8AC3E}">
        <p14:creationId xmlns:p14="http://schemas.microsoft.com/office/powerpoint/2010/main" val="3005893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75D5B-8019-237C-1D66-00AE0E98B61B}"/>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rmAutofit/>
          </a:bodyPr>
          <a:lstStyle/>
          <a:p>
            <a:pPr algn="ctr"/>
            <a:r>
              <a:rPr lang="en-US" sz="1600" kern="1200" dirty="0">
                <a:solidFill>
                  <a:srgbClr val="FFFFFF"/>
                </a:solidFill>
                <a:latin typeface="Times New Roman" panose="02020603050405020304" pitchFamily="18" charset="0"/>
                <a:cs typeface="Times New Roman" panose="02020603050405020304" pitchFamily="18" charset="0"/>
              </a:rPr>
              <a:t>Deployment Diagram </a:t>
            </a:r>
          </a:p>
        </p:txBody>
      </p:sp>
      <p:pic>
        <p:nvPicPr>
          <p:cNvPr id="5" name="Content Placeholder 4">
            <a:extLst>
              <a:ext uri="{FF2B5EF4-FFF2-40B4-BE49-F238E27FC236}">
                <a16:creationId xmlns:a16="http://schemas.microsoft.com/office/drawing/2014/main" id="{0415D70B-8ED5-5B2A-CD23-ECA3EBF735D9}"/>
              </a:ext>
            </a:extLst>
          </p:cNvPr>
          <p:cNvPicPr>
            <a:picLocks noGrp="1" noChangeAspect="1"/>
          </p:cNvPicPr>
          <p:nvPr>
            <p:ph idx="1"/>
          </p:nvPr>
        </p:nvPicPr>
        <p:blipFill>
          <a:blip r:embed="rId2"/>
          <a:stretch>
            <a:fillRect/>
          </a:stretch>
        </p:blipFill>
        <p:spPr>
          <a:xfrm>
            <a:off x="3520072" y="337625"/>
            <a:ext cx="8031847" cy="5555175"/>
          </a:xfrm>
          <a:prstGeom prst="rect">
            <a:avLst/>
          </a:prstGeom>
        </p:spPr>
      </p:pic>
      <p:sp>
        <p:nvSpPr>
          <p:cNvPr id="7" name="Footer Placeholder 6">
            <a:extLst>
              <a:ext uri="{FF2B5EF4-FFF2-40B4-BE49-F238E27FC236}">
                <a16:creationId xmlns:a16="http://schemas.microsoft.com/office/drawing/2014/main" id="{D9EC1BBE-5690-1ED5-91F9-44C7E31B7F97}"/>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E6200A5C-0EC3-09E1-B783-451EBD248F09}"/>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14</a:t>
            </a:fld>
            <a:endParaRPr lang="en-US">
              <a:solidFill>
                <a:srgbClr val="898989"/>
              </a:solidFill>
            </a:endParaRPr>
          </a:p>
        </p:txBody>
      </p:sp>
      <p:sp>
        <p:nvSpPr>
          <p:cNvPr id="6" name="TextBox 5">
            <a:extLst>
              <a:ext uri="{FF2B5EF4-FFF2-40B4-BE49-F238E27FC236}">
                <a16:creationId xmlns:a16="http://schemas.microsoft.com/office/drawing/2014/main" id="{CCAECB10-5F6D-D4AA-29D7-50DB62443476}"/>
              </a:ext>
            </a:extLst>
          </p:cNvPr>
          <p:cNvSpPr txBox="1"/>
          <p:nvPr/>
        </p:nvSpPr>
        <p:spPr>
          <a:xfrm>
            <a:off x="1481959" y="19969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635620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F24ED-EFAD-E70C-07C6-34B83E789F72}"/>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rmAutofit/>
          </a:bodyPr>
          <a:lstStyle/>
          <a:p>
            <a:pPr algn="ctr"/>
            <a:r>
              <a:rPr lang="en-US" sz="2000" kern="1200" dirty="0">
                <a:solidFill>
                  <a:srgbClr val="FFFFFF"/>
                </a:solidFill>
                <a:latin typeface="Times New Roman" panose="02020603050405020304" pitchFamily="18" charset="0"/>
                <a:cs typeface="Times New Roman" panose="02020603050405020304" pitchFamily="18" charset="0"/>
              </a:rPr>
              <a:t>Package Diagram </a:t>
            </a:r>
          </a:p>
        </p:txBody>
      </p:sp>
      <p:pic>
        <p:nvPicPr>
          <p:cNvPr id="5" name="Content Placeholder 4">
            <a:extLst>
              <a:ext uri="{FF2B5EF4-FFF2-40B4-BE49-F238E27FC236}">
                <a16:creationId xmlns:a16="http://schemas.microsoft.com/office/drawing/2014/main" id="{B7A265FD-99FC-42E1-00C0-AA2E440EF21D}"/>
              </a:ext>
            </a:extLst>
          </p:cNvPr>
          <p:cNvPicPr>
            <a:picLocks noGrp="1" noChangeAspect="1"/>
          </p:cNvPicPr>
          <p:nvPr>
            <p:ph idx="1"/>
          </p:nvPr>
        </p:nvPicPr>
        <p:blipFill>
          <a:blip r:embed="rId2"/>
          <a:stretch>
            <a:fillRect/>
          </a:stretch>
        </p:blipFill>
        <p:spPr>
          <a:xfrm>
            <a:off x="3560830" y="886266"/>
            <a:ext cx="8478248" cy="4853796"/>
          </a:xfrm>
          <a:prstGeom prst="rect">
            <a:avLst/>
          </a:prstGeom>
        </p:spPr>
      </p:pic>
      <p:sp>
        <p:nvSpPr>
          <p:cNvPr id="6" name="Footer Placeholder 5">
            <a:extLst>
              <a:ext uri="{FF2B5EF4-FFF2-40B4-BE49-F238E27FC236}">
                <a16:creationId xmlns:a16="http://schemas.microsoft.com/office/drawing/2014/main" id="{931FAE91-B73D-DB3F-61A1-6E84F41E90D0}"/>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234CA105-177E-E550-C796-A4FF3FD6EE69}"/>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15</a:t>
            </a:fld>
            <a:endParaRPr lang="en-US">
              <a:solidFill>
                <a:srgbClr val="898989"/>
              </a:solidFill>
            </a:endParaRPr>
          </a:p>
        </p:txBody>
      </p:sp>
    </p:spTree>
    <p:extLst>
      <p:ext uri="{BB962C8B-B14F-4D97-AF65-F5344CB8AC3E}">
        <p14:creationId xmlns:p14="http://schemas.microsoft.com/office/powerpoint/2010/main" val="941825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CB5954-BEC7-D184-EADA-9AB831334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6695-E36D-DC68-369E-95628D39DCE6}"/>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rmAutofit/>
          </a:bodyPr>
          <a:lstStyle/>
          <a:p>
            <a:pPr algn="ctr"/>
            <a:r>
              <a:rPr lang="en-US" sz="1600" kern="1200" dirty="0">
                <a:solidFill>
                  <a:srgbClr val="FFFFFF"/>
                </a:solidFill>
                <a:latin typeface="Times New Roman" panose="02020603050405020304" pitchFamily="18" charset="0"/>
                <a:cs typeface="Times New Roman" panose="02020603050405020304" pitchFamily="18" charset="0"/>
              </a:rPr>
              <a:t>Entity Relationship diagram </a:t>
            </a:r>
          </a:p>
        </p:txBody>
      </p:sp>
      <p:pic>
        <p:nvPicPr>
          <p:cNvPr id="5" name="Content Placeholder 4">
            <a:extLst>
              <a:ext uri="{FF2B5EF4-FFF2-40B4-BE49-F238E27FC236}">
                <a16:creationId xmlns:a16="http://schemas.microsoft.com/office/drawing/2014/main" id="{983B27B1-B634-E001-01D0-43BDE17A8399}"/>
              </a:ext>
            </a:extLst>
          </p:cNvPr>
          <p:cNvPicPr>
            <a:picLocks noGrp="1" noChangeAspect="1"/>
          </p:cNvPicPr>
          <p:nvPr>
            <p:ph idx="1"/>
          </p:nvPr>
        </p:nvPicPr>
        <p:blipFill>
          <a:blip r:embed="rId2"/>
          <a:stretch/>
        </p:blipFill>
        <p:spPr>
          <a:xfrm>
            <a:off x="3727938" y="204522"/>
            <a:ext cx="7244862" cy="5688278"/>
          </a:xfrm>
          <a:prstGeom prst="rect">
            <a:avLst/>
          </a:prstGeom>
        </p:spPr>
      </p:pic>
      <p:sp>
        <p:nvSpPr>
          <p:cNvPr id="6" name="Footer Placeholder 5">
            <a:extLst>
              <a:ext uri="{FF2B5EF4-FFF2-40B4-BE49-F238E27FC236}">
                <a16:creationId xmlns:a16="http://schemas.microsoft.com/office/drawing/2014/main" id="{9CB2A863-CBAE-6AD9-1068-4C355C0BB433}"/>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00BB1928-CAA5-A3E7-01A5-487C0A280646}"/>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16</a:t>
            </a:fld>
            <a:endParaRPr lang="en-US">
              <a:solidFill>
                <a:srgbClr val="898989"/>
              </a:solidFill>
            </a:endParaRPr>
          </a:p>
        </p:txBody>
      </p:sp>
    </p:spTree>
    <p:extLst>
      <p:ext uri="{BB962C8B-B14F-4D97-AF65-F5344CB8AC3E}">
        <p14:creationId xmlns:p14="http://schemas.microsoft.com/office/powerpoint/2010/main" val="3720367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D8772-C9E6-6D36-C546-22FA59B50F8E}"/>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rmAutofit/>
          </a:bodyPr>
          <a:lstStyle/>
          <a:p>
            <a:pPr algn="ctr"/>
            <a:r>
              <a:rPr lang="en-US" sz="1800" kern="1200" dirty="0">
                <a:solidFill>
                  <a:srgbClr val="FFFFFF"/>
                </a:solidFill>
                <a:latin typeface="Times New Roman" panose="02020603050405020304" pitchFamily="18" charset="0"/>
                <a:cs typeface="Times New Roman" panose="02020603050405020304" pitchFamily="18" charset="0"/>
              </a:rPr>
              <a:t>Navigation Diagram </a:t>
            </a:r>
          </a:p>
        </p:txBody>
      </p:sp>
      <p:pic>
        <p:nvPicPr>
          <p:cNvPr id="5" name="Content Placeholder 4">
            <a:extLst>
              <a:ext uri="{FF2B5EF4-FFF2-40B4-BE49-F238E27FC236}">
                <a16:creationId xmlns:a16="http://schemas.microsoft.com/office/drawing/2014/main" id="{B4794FCA-3700-71A0-85BD-CFB917B8F7D8}"/>
              </a:ext>
            </a:extLst>
          </p:cNvPr>
          <p:cNvPicPr>
            <a:picLocks noGrp="1" noChangeAspect="1"/>
          </p:cNvPicPr>
          <p:nvPr>
            <p:ph idx="1"/>
          </p:nvPr>
        </p:nvPicPr>
        <p:blipFill>
          <a:blip r:embed="rId2"/>
          <a:stretch>
            <a:fillRect/>
          </a:stretch>
        </p:blipFill>
        <p:spPr>
          <a:xfrm>
            <a:off x="4038600" y="992304"/>
            <a:ext cx="7188199" cy="4870002"/>
          </a:xfrm>
          <a:prstGeom prst="rect">
            <a:avLst/>
          </a:prstGeom>
        </p:spPr>
      </p:pic>
      <p:sp>
        <p:nvSpPr>
          <p:cNvPr id="6" name="Footer Placeholder 5">
            <a:extLst>
              <a:ext uri="{FF2B5EF4-FFF2-40B4-BE49-F238E27FC236}">
                <a16:creationId xmlns:a16="http://schemas.microsoft.com/office/drawing/2014/main" id="{6A372793-F57B-E864-50F4-86AA9EC3A2F6}"/>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B3A9FF77-21D8-A3D0-C473-9EDDC39CC095}"/>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17</a:t>
            </a:fld>
            <a:endParaRPr lang="en-US">
              <a:solidFill>
                <a:srgbClr val="898989"/>
              </a:solidFill>
            </a:endParaRPr>
          </a:p>
        </p:txBody>
      </p:sp>
    </p:spTree>
    <p:extLst>
      <p:ext uri="{BB962C8B-B14F-4D97-AF65-F5344CB8AC3E}">
        <p14:creationId xmlns:p14="http://schemas.microsoft.com/office/powerpoint/2010/main" val="2743703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A694D-07A1-B46F-204D-96812B60562A}"/>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rmAutofit/>
          </a:bodyPr>
          <a:lstStyle/>
          <a:p>
            <a:pPr algn="ctr"/>
            <a:r>
              <a:rPr lang="en-US" sz="2000" kern="1200" dirty="0">
                <a:solidFill>
                  <a:srgbClr val="FFFFFF"/>
                </a:solidFill>
                <a:latin typeface="Times New Roman" panose="02020603050405020304" pitchFamily="18" charset="0"/>
                <a:cs typeface="Times New Roman" panose="02020603050405020304" pitchFamily="18" charset="0"/>
              </a:rPr>
              <a:t>System Design Diagram </a:t>
            </a:r>
          </a:p>
        </p:txBody>
      </p:sp>
      <p:pic>
        <p:nvPicPr>
          <p:cNvPr id="5" name="Content Placeholder 4">
            <a:extLst>
              <a:ext uri="{FF2B5EF4-FFF2-40B4-BE49-F238E27FC236}">
                <a16:creationId xmlns:a16="http://schemas.microsoft.com/office/drawing/2014/main" id="{DBDFAA99-520B-00E5-5155-3B089D6A0C1B}"/>
              </a:ext>
            </a:extLst>
          </p:cNvPr>
          <p:cNvPicPr>
            <a:picLocks noGrp="1" noChangeAspect="1"/>
          </p:cNvPicPr>
          <p:nvPr>
            <p:ph idx="1"/>
          </p:nvPr>
        </p:nvPicPr>
        <p:blipFill>
          <a:blip r:embed="rId2"/>
          <a:stretch>
            <a:fillRect/>
          </a:stretch>
        </p:blipFill>
        <p:spPr>
          <a:xfrm>
            <a:off x="3530991" y="374647"/>
            <a:ext cx="7132320" cy="5672898"/>
          </a:xfrm>
          <a:prstGeom prst="rect">
            <a:avLst/>
          </a:prstGeom>
        </p:spPr>
      </p:pic>
      <p:sp>
        <p:nvSpPr>
          <p:cNvPr id="6" name="Footer Placeholder 5">
            <a:extLst>
              <a:ext uri="{FF2B5EF4-FFF2-40B4-BE49-F238E27FC236}">
                <a16:creationId xmlns:a16="http://schemas.microsoft.com/office/drawing/2014/main" id="{17A4FC5D-7E00-D81D-749C-824F1EAED383}"/>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CBBECEC6-63CC-75B1-66E2-DC2F9F91B10D}"/>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18</a:t>
            </a:fld>
            <a:endParaRPr lang="en-US">
              <a:solidFill>
                <a:srgbClr val="898989"/>
              </a:solidFill>
            </a:endParaRPr>
          </a:p>
        </p:txBody>
      </p:sp>
    </p:spTree>
    <p:extLst>
      <p:ext uri="{BB962C8B-B14F-4D97-AF65-F5344CB8AC3E}">
        <p14:creationId xmlns:p14="http://schemas.microsoft.com/office/powerpoint/2010/main" val="4207996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9B6C7-1006-88F6-604C-3ECBA8D87060}"/>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rmAutofit/>
          </a:bodyPr>
          <a:lstStyle/>
          <a:p>
            <a:pPr algn="ctr"/>
            <a:r>
              <a:rPr lang="en-US" sz="1800" kern="1200" dirty="0">
                <a:solidFill>
                  <a:srgbClr val="FFFFFF"/>
                </a:solidFill>
                <a:latin typeface="Times New Roman" panose="02020603050405020304" pitchFamily="18" charset="0"/>
                <a:cs typeface="Times New Roman" panose="02020603050405020304" pitchFamily="18" charset="0"/>
              </a:rPr>
              <a:t>Patient side  Dashboard </a:t>
            </a:r>
          </a:p>
        </p:txBody>
      </p:sp>
      <p:pic>
        <p:nvPicPr>
          <p:cNvPr id="5" name="Content Placeholder 4">
            <a:extLst>
              <a:ext uri="{FF2B5EF4-FFF2-40B4-BE49-F238E27FC236}">
                <a16:creationId xmlns:a16="http://schemas.microsoft.com/office/drawing/2014/main" id="{645E2296-C3AF-3C47-E8D7-9495742BBDA0}"/>
              </a:ext>
            </a:extLst>
          </p:cNvPr>
          <p:cNvPicPr>
            <a:picLocks noGrp="1" noChangeAspect="1"/>
          </p:cNvPicPr>
          <p:nvPr>
            <p:ph idx="1"/>
          </p:nvPr>
        </p:nvPicPr>
        <p:blipFill>
          <a:blip r:embed="rId2"/>
          <a:srcRect/>
          <a:stretch/>
        </p:blipFill>
        <p:spPr>
          <a:xfrm>
            <a:off x="3492340" y="1324303"/>
            <a:ext cx="8280718" cy="4014952"/>
          </a:xfrm>
          <a:prstGeom prst="rect">
            <a:avLst/>
          </a:prstGeom>
        </p:spPr>
      </p:pic>
      <p:sp>
        <p:nvSpPr>
          <p:cNvPr id="6" name="Footer Placeholder 5">
            <a:extLst>
              <a:ext uri="{FF2B5EF4-FFF2-40B4-BE49-F238E27FC236}">
                <a16:creationId xmlns:a16="http://schemas.microsoft.com/office/drawing/2014/main" id="{923D8E02-53B4-15A0-529E-3494017761AB}"/>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7E0F5EF4-162B-5817-93D5-E28E3E9E52B4}"/>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19</a:t>
            </a:fld>
            <a:endParaRPr lang="en-US">
              <a:solidFill>
                <a:srgbClr val="898989"/>
              </a:solidFill>
            </a:endParaRPr>
          </a:p>
        </p:txBody>
      </p:sp>
    </p:spTree>
    <p:extLst>
      <p:ext uri="{BB962C8B-B14F-4D97-AF65-F5344CB8AC3E}">
        <p14:creationId xmlns:p14="http://schemas.microsoft.com/office/powerpoint/2010/main" val="356522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D44360-DEBC-8682-C896-EAD896D68F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A34DFA-A889-157D-685D-5E08FFB19EA8}"/>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rmAutofit/>
          </a:bodyPr>
          <a:lstStyle/>
          <a:p>
            <a:pPr algn="ctr"/>
            <a:r>
              <a:rPr lang="en-US" sz="1800" dirty="0">
                <a:solidFill>
                  <a:srgbClr val="FFFFFF"/>
                </a:solidFill>
                <a:latin typeface="Times New Roman" panose="02020603050405020304" pitchFamily="18" charset="0"/>
                <a:cs typeface="Times New Roman" panose="02020603050405020304" pitchFamily="18" charset="0"/>
              </a:rPr>
              <a:t>LOGIN PAGE</a:t>
            </a:r>
            <a:endParaRPr lang="en-US" sz="1800" kern="1200" dirty="0">
              <a:solidFill>
                <a:srgbClr val="FFFFFF"/>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EB9550E7-3413-A124-3183-583845223379}"/>
              </a:ext>
            </a:extLst>
          </p:cNvPr>
          <p:cNvPicPr>
            <a:picLocks noGrp="1" noChangeAspect="1"/>
          </p:cNvPicPr>
          <p:nvPr>
            <p:ph idx="1"/>
          </p:nvPr>
        </p:nvPicPr>
        <p:blipFill>
          <a:blip r:embed="rId2"/>
          <a:srcRect/>
          <a:stretch/>
        </p:blipFill>
        <p:spPr>
          <a:xfrm>
            <a:off x="3818811" y="1390102"/>
            <a:ext cx="7769965" cy="3854560"/>
          </a:xfrm>
          <a:prstGeom prst="rect">
            <a:avLst/>
          </a:prstGeom>
        </p:spPr>
      </p:pic>
      <p:sp>
        <p:nvSpPr>
          <p:cNvPr id="6" name="Footer Placeholder 5">
            <a:extLst>
              <a:ext uri="{FF2B5EF4-FFF2-40B4-BE49-F238E27FC236}">
                <a16:creationId xmlns:a16="http://schemas.microsoft.com/office/drawing/2014/main" id="{74F1A15F-527E-7C10-A716-54F3889F9314}"/>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83F7F0C2-1427-BFF2-C941-D320156FDD5C}"/>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20</a:t>
            </a:fld>
            <a:endParaRPr lang="en-US">
              <a:solidFill>
                <a:srgbClr val="898989"/>
              </a:solidFill>
            </a:endParaRPr>
          </a:p>
        </p:txBody>
      </p:sp>
    </p:spTree>
    <p:extLst>
      <p:ext uri="{BB962C8B-B14F-4D97-AF65-F5344CB8AC3E}">
        <p14:creationId xmlns:p14="http://schemas.microsoft.com/office/powerpoint/2010/main" val="871338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66F7F-4E19-F063-9D4E-50245D78A84E}"/>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rgbClr val="262626"/>
            </a:solidFill>
          </a:ln>
        </p:spPr>
        <p:txBody>
          <a:bodyPr vert="horz" lIns="91440" tIns="45720" rIns="91440" bIns="45720" rtlCol="0" anchor="ctr">
            <a:normAutofit/>
          </a:bodyPr>
          <a:lstStyle/>
          <a:p>
            <a:pPr algn="ctr"/>
            <a:r>
              <a:rPr lang="en-US" sz="1800" kern="1200" dirty="0">
                <a:solidFill>
                  <a:srgbClr val="FFFFFF"/>
                </a:solidFill>
                <a:latin typeface="Times New Roman" panose="02020603050405020304" pitchFamily="18" charset="0"/>
                <a:cs typeface="Times New Roman" panose="02020603050405020304" pitchFamily="18" charset="0"/>
              </a:rPr>
              <a:t>Care Team side Dashboard</a:t>
            </a:r>
          </a:p>
        </p:txBody>
      </p:sp>
      <p:pic>
        <p:nvPicPr>
          <p:cNvPr id="5" name="Content Placeholder 4">
            <a:extLst>
              <a:ext uri="{FF2B5EF4-FFF2-40B4-BE49-F238E27FC236}">
                <a16:creationId xmlns:a16="http://schemas.microsoft.com/office/drawing/2014/main" id="{1E267206-AEA2-2F72-800B-39DC5C8B323A}"/>
              </a:ext>
            </a:extLst>
          </p:cNvPr>
          <p:cNvPicPr>
            <a:picLocks noGrp="1" noChangeAspect="1"/>
          </p:cNvPicPr>
          <p:nvPr>
            <p:ph idx="1"/>
          </p:nvPr>
        </p:nvPicPr>
        <p:blipFill>
          <a:blip r:embed="rId2"/>
          <a:srcRect/>
          <a:stretch/>
        </p:blipFill>
        <p:spPr>
          <a:xfrm>
            <a:off x="3637999" y="1177160"/>
            <a:ext cx="8232267" cy="4095552"/>
          </a:xfrm>
          <a:prstGeom prst="rect">
            <a:avLst/>
          </a:prstGeom>
        </p:spPr>
      </p:pic>
      <p:sp>
        <p:nvSpPr>
          <p:cNvPr id="6" name="Footer Placeholder 5">
            <a:extLst>
              <a:ext uri="{FF2B5EF4-FFF2-40B4-BE49-F238E27FC236}">
                <a16:creationId xmlns:a16="http://schemas.microsoft.com/office/drawing/2014/main" id="{02961B43-8126-82B7-3E67-3F5968FF3C54}"/>
              </a:ext>
            </a:extLst>
          </p:cNvPr>
          <p:cNvSpPr>
            <a:spLocks noGrp="1"/>
          </p:cNvSpPr>
          <p:nvPr>
            <p:ph type="ftr" sz="quarter" idx="11"/>
          </p:nvPr>
        </p:nvSpPr>
        <p:spPr>
          <a:xfrm>
            <a:off x="4116613" y="6356350"/>
            <a:ext cx="7032172"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CS699B_FA25 - Professional Seminar</a:t>
            </a:r>
          </a:p>
        </p:txBody>
      </p:sp>
      <p:sp>
        <p:nvSpPr>
          <p:cNvPr id="4" name="Slide Number Placeholder 3">
            <a:extLst>
              <a:ext uri="{FF2B5EF4-FFF2-40B4-BE49-F238E27FC236}">
                <a16:creationId xmlns:a16="http://schemas.microsoft.com/office/drawing/2014/main" id="{2403119B-AAB8-E20A-4275-85DE3C4B5357}"/>
              </a:ext>
            </a:extLst>
          </p:cNvPr>
          <p:cNvSpPr>
            <a:spLocks noGrp="1"/>
          </p:cNvSpPr>
          <p:nvPr>
            <p:ph type="sldNum" sz="quarter" idx="12"/>
          </p:nvPr>
        </p:nvSpPr>
        <p:spPr>
          <a:xfrm>
            <a:off x="11310257" y="6356350"/>
            <a:ext cx="560009" cy="365125"/>
          </a:xfrm>
        </p:spPr>
        <p:txBody>
          <a:bodyPr vert="horz" lIns="91440" tIns="45720" rIns="91440" bIns="45720" rtlCol="0" anchor="ctr">
            <a:normAutofit/>
          </a:bodyPr>
          <a:lstStyle/>
          <a:p>
            <a:pPr>
              <a:spcAft>
                <a:spcPts val="600"/>
              </a:spcAft>
            </a:pPr>
            <a:fld id="{148CC95F-0247-41B6-91CF-DC97C76A7088}" type="slidenum">
              <a:rPr lang="en-US">
                <a:solidFill>
                  <a:srgbClr val="898989"/>
                </a:solidFill>
              </a:rPr>
              <a:pPr>
                <a:spcAft>
                  <a:spcPts val="600"/>
                </a:spcAft>
              </a:pPr>
              <a:t>21</a:t>
            </a:fld>
            <a:endParaRPr lang="en-US">
              <a:solidFill>
                <a:srgbClr val="898989"/>
              </a:solidFill>
            </a:endParaRPr>
          </a:p>
        </p:txBody>
      </p:sp>
    </p:spTree>
    <p:extLst>
      <p:ext uri="{BB962C8B-B14F-4D97-AF65-F5344CB8AC3E}">
        <p14:creationId xmlns:p14="http://schemas.microsoft.com/office/powerpoint/2010/main" val="2682893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36756-50C8-D873-4F6A-46BD8116A791}"/>
              </a:ext>
            </a:extLst>
          </p:cNvPr>
          <p:cNvSpPr>
            <a:spLocks noGrp="1"/>
          </p:cNvSpPr>
          <p:nvPr>
            <p:ph type="title"/>
          </p:nvPr>
        </p:nvSpPr>
        <p:spPr/>
        <p:txBody>
          <a:bodyPr>
            <a:normAutofit/>
          </a:bodyPr>
          <a:lstStyle/>
          <a:p>
            <a:pPr algn="ctr"/>
            <a:r>
              <a:rPr lang="en-US" sz="4800" b="1" dirty="0">
                <a:solidFill>
                  <a:schemeClr val="tx1"/>
                </a:solidFill>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12AA3488-B9A4-90B8-F0C1-C8D9AEFD6F15}"/>
              </a:ext>
            </a:extLst>
          </p:cNvPr>
          <p:cNvSpPr>
            <a:spLocks noGrp="1"/>
          </p:cNvSpPr>
          <p:nvPr>
            <p:ph idx="1"/>
          </p:nvPr>
        </p:nvSpPr>
        <p:spPr>
          <a:xfrm>
            <a:off x="1251678" y="1874517"/>
            <a:ext cx="10178322" cy="3593591"/>
          </a:xfrm>
        </p:spPr>
        <p:txBody>
          <a:bodyPr/>
          <a:lstStyle/>
          <a:p>
            <a:r>
              <a:rPr lang="en-US" dirty="0">
                <a:solidFill>
                  <a:schemeClr val="tx1"/>
                </a:solidFill>
                <a:latin typeface="Times New Roman" panose="02020603050405020304" pitchFamily="18" charset="0"/>
                <a:cs typeface="Times New Roman" panose="02020603050405020304" pitchFamily="18" charset="0"/>
              </a:rPr>
              <a:t>Streamlit Dashboard</a:t>
            </a:r>
          </a:p>
          <a:p>
            <a:r>
              <a:rPr lang="en-US" dirty="0">
                <a:solidFill>
                  <a:schemeClr val="tx1"/>
                </a:solidFill>
                <a:latin typeface="Times New Roman" panose="02020603050405020304" pitchFamily="18" charset="0"/>
                <a:cs typeface="Times New Roman" panose="02020603050405020304" pitchFamily="18" charset="0"/>
              </a:rPr>
              <a:t>Caretaker portal</a:t>
            </a:r>
          </a:p>
          <a:p>
            <a:r>
              <a:rPr lang="en-US" dirty="0">
                <a:solidFill>
                  <a:schemeClr val="tx1"/>
                </a:solidFill>
                <a:latin typeface="Times New Roman" panose="02020603050405020304" pitchFamily="18" charset="0"/>
                <a:cs typeface="Times New Roman" panose="02020603050405020304" pitchFamily="18" charset="0"/>
              </a:rPr>
              <a:t>Fast API summary endpoint</a:t>
            </a:r>
          </a:p>
          <a:p>
            <a:r>
              <a:rPr lang="en-US" dirty="0">
                <a:solidFill>
                  <a:schemeClr val="tx1"/>
                </a:solidFill>
                <a:latin typeface="Times New Roman" panose="02020603050405020304" pitchFamily="18" charset="0"/>
                <a:cs typeface="Times New Roman" panose="02020603050405020304" pitchFamily="18" charset="0"/>
              </a:rPr>
              <a:t>Modules for environment configuration and user login are enabled.</a:t>
            </a:r>
            <a:br>
              <a:rPr lang="en-US" dirty="0"/>
            </a:br>
            <a:endParaRPr lang="en-US" dirty="0"/>
          </a:p>
        </p:txBody>
      </p:sp>
      <p:sp>
        <p:nvSpPr>
          <p:cNvPr id="4" name="Footer Placeholder 3">
            <a:extLst>
              <a:ext uri="{FF2B5EF4-FFF2-40B4-BE49-F238E27FC236}">
                <a16:creationId xmlns:a16="http://schemas.microsoft.com/office/drawing/2014/main" id="{C68AF346-FDF2-C88E-1636-3183DC76D776}"/>
              </a:ext>
            </a:extLst>
          </p:cNvPr>
          <p:cNvSpPr>
            <a:spLocks noGrp="1"/>
          </p:cNvSpPr>
          <p:nvPr>
            <p:ph type="ftr" sz="quarter" idx="11"/>
          </p:nvPr>
        </p:nvSpPr>
        <p:spPr/>
        <p:txBody>
          <a:bodyPr/>
          <a:lstStyle/>
          <a:p>
            <a:r>
              <a:rPr lang="en-US"/>
              <a:t>CS699B_FA25 - Professional Seminar</a:t>
            </a:r>
          </a:p>
        </p:txBody>
      </p:sp>
      <p:sp>
        <p:nvSpPr>
          <p:cNvPr id="5" name="Slide Number Placeholder 4">
            <a:extLst>
              <a:ext uri="{FF2B5EF4-FFF2-40B4-BE49-F238E27FC236}">
                <a16:creationId xmlns:a16="http://schemas.microsoft.com/office/drawing/2014/main" id="{BD6A3D62-2C42-029C-AF1B-A5B84B931ACA}"/>
              </a:ext>
            </a:extLst>
          </p:cNvPr>
          <p:cNvSpPr>
            <a:spLocks noGrp="1"/>
          </p:cNvSpPr>
          <p:nvPr>
            <p:ph type="sldNum" sz="quarter" idx="12"/>
          </p:nvPr>
        </p:nvSpPr>
        <p:spPr/>
        <p:txBody>
          <a:bodyPr/>
          <a:lstStyle/>
          <a:p>
            <a:fld id="{6C37529B-A776-F94F-942C-67A2A3940E8A}" type="slidenum">
              <a:rPr lang="en-US" smtClean="0"/>
              <a:t>22</a:t>
            </a:fld>
            <a:endParaRPr lang="en-US"/>
          </a:p>
        </p:txBody>
      </p:sp>
    </p:spTree>
    <p:extLst>
      <p:ext uri="{BB962C8B-B14F-4D97-AF65-F5344CB8AC3E}">
        <p14:creationId xmlns:p14="http://schemas.microsoft.com/office/powerpoint/2010/main" val="3109779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160" y="668354"/>
            <a:ext cx="11155680" cy="703247"/>
          </a:xfrm>
        </p:spPr>
        <p:txBody>
          <a:bodyPr>
            <a:noAutofit/>
          </a:bodyPr>
          <a:lstStyle/>
          <a:p>
            <a:pPr algn="ctr"/>
            <a:r>
              <a:rPr lang="en-US" sz="5000" b="1" dirty="0">
                <a:latin typeface="Times New Roman" panose="02020603050405020304" pitchFamily="18" charset="0"/>
                <a:cs typeface="Times New Roman" panose="02020603050405020304" pitchFamily="18" charset="0"/>
              </a:rPr>
              <a:t>Possible Future Issues</a:t>
            </a:r>
            <a:endParaRPr sz="5000" b="1"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C48D8462-EDA0-9CEA-1BFC-C3153BF3FA9F}"/>
              </a:ext>
            </a:extLst>
          </p:cNvPr>
          <p:cNvSpPr>
            <a:spLocks noGrp="1"/>
          </p:cNvSpPr>
          <p:nvPr>
            <p:ph type="ftr" sz="quarter" idx="11"/>
          </p:nvPr>
        </p:nvSpPr>
        <p:spPr/>
        <p:txBody>
          <a:bodyPr/>
          <a:lstStyle/>
          <a:p>
            <a:r>
              <a:rPr lang="en-US"/>
              <a:t>CS699B_FA25 - Professional Seminar</a:t>
            </a:r>
          </a:p>
        </p:txBody>
      </p:sp>
      <p:sp>
        <p:nvSpPr>
          <p:cNvPr id="29" name="Slide Number Placeholder 28">
            <a:extLst>
              <a:ext uri="{FF2B5EF4-FFF2-40B4-BE49-F238E27FC236}">
                <a16:creationId xmlns:a16="http://schemas.microsoft.com/office/drawing/2014/main" id="{9BB548DB-898A-8F15-5FA0-FE58C1B0CA23}"/>
              </a:ext>
            </a:extLst>
          </p:cNvPr>
          <p:cNvSpPr>
            <a:spLocks noGrp="1"/>
          </p:cNvSpPr>
          <p:nvPr>
            <p:ph type="sldNum" sz="quarter" idx="12"/>
          </p:nvPr>
        </p:nvSpPr>
        <p:spPr/>
        <p:txBody>
          <a:bodyPr/>
          <a:lstStyle/>
          <a:p>
            <a:fld id="{148CC95F-0247-41B6-91CF-DC97C76A7088}" type="slidenum">
              <a:rPr lang="en-US" smtClean="0">
                <a:latin typeface="Times New Roman" panose="02020603050405020304" pitchFamily="18" charset="0"/>
                <a:cs typeface="Times New Roman" panose="02020603050405020304" pitchFamily="18" charset="0"/>
              </a:rPr>
              <a:t>23</a:t>
            </a:fld>
            <a:endParaRPr lang="en-US" dirty="0">
              <a:latin typeface="Times New Roman" panose="02020603050405020304" pitchFamily="18" charset="0"/>
              <a:cs typeface="Times New Roman" panose="02020603050405020304" pitchFamily="18" charset="0"/>
            </a:endParaRPr>
          </a:p>
        </p:txBody>
      </p:sp>
      <p:sp>
        <p:nvSpPr>
          <p:cNvPr id="4" name="Rectangle 3"/>
          <p:cNvSpPr/>
          <p:nvPr/>
        </p:nvSpPr>
        <p:spPr>
          <a:xfrm>
            <a:off x="1185567" y="1938107"/>
            <a:ext cx="1371600" cy="1645920"/>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dirty="0"/>
          </a:p>
          <a:p>
            <a:pPr algn="ctr">
              <a:defRPr sz="2800" b="1"/>
            </a:pPr>
            <a:r>
              <a:rPr sz="1200" dirty="0">
                <a:solidFill>
                  <a:schemeClr val="tx1"/>
                </a:solidFill>
                <a:latin typeface="Times New Roman" panose="02020603050405020304" pitchFamily="18" charset="0"/>
                <a:cs typeface="Times New Roman" panose="02020603050405020304" pitchFamily="18" charset="0"/>
              </a:rPr>
              <a:t>Data Privacy &amp; Security</a:t>
            </a:r>
          </a:p>
          <a:p>
            <a:pPr algn="ctr">
              <a:defRPr sz="1100"/>
            </a:pPr>
            <a:r>
              <a:rPr sz="1200" dirty="0">
                <a:solidFill>
                  <a:schemeClr val="tx1"/>
                </a:solidFill>
                <a:latin typeface="Times New Roman" panose="02020603050405020304" pitchFamily="18" charset="0"/>
                <a:cs typeface="Times New Roman" panose="02020603050405020304" pitchFamily="18" charset="0"/>
              </a:rPr>
              <a:t>Protecting EHRs, API vulnerabilities, and compliance with HIPAA/GDPR.</a:t>
            </a:r>
          </a:p>
        </p:txBody>
      </p:sp>
      <p:sp>
        <p:nvSpPr>
          <p:cNvPr id="5" name="Rectangle 4"/>
          <p:cNvSpPr/>
          <p:nvPr/>
        </p:nvSpPr>
        <p:spPr>
          <a:xfrm>
            <a:off x="3132001" y="1938107"/>
            <a:ext cx="1371600" cy="1645920"/>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pPr>
            <a:r>
              <a:rPr sz="1200" dirty="0">
                <a:solidFill>
                  <a:schemeClr val="tx1"/>
                </a:solidFill>
                <a:latin typeface="Times New Roman" panose="02020603050405020304" pitchFamily="18" charset="0"/>
                <a:cs typeface="Times New Roman" panose="02020603050405020304" pitchFamily="18" charset="0"/>
              </a:rPr>
              <a:t>Sensor Reliability</a:t>
            </a:r>
          </a:p>
          <a:p>
            <a:pPr algn="ctr">
              <a:defRPr sz="1100"/>
            </a:pPr>
            <a:r>
              <a:rPr sz="1200" dirty="0">
                <a:solidFill>
                  <a:schemeClr val="tx1"/>
                </a:solidFill>
                <a:latin typeface="Times New Roman" panose="02020603050405020304" pitchFamily="18" charset="0"/>
                <a:cs typeface="Times New Roman" panose="02020603050405020304" pitchFamily="18" charset="0"/>
              </a:rPr>
              <a:t>Signal interference, calibration drift, and false alerts</a:t>
            </a:r>
            <a:r>
              <a:rPr sz="1100" dirty="0"/>
              <a:t>.</a:t>
            </a:r>
          </a:p>
        </p:txBody>
      </p:sp>
      <p:sp>
        <p:nvSpPr>
          <p:cNvPr id="6" name="Rectangle 5"/>
          <p:cNvSpPr/>
          <p:nvPr/>
        </p:nvSpPr>
        <p:spPr>
          <a:xfrm>
            <a:off x="5018246" y="1938107"/>
            <a:ext cx="1371600" cy="1645920"/>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pPr>
            <a:r>
              <a:rPr sz="1200" dirty="0">
                <a:solidFill>
                  <a:schemeClr val="tx1"/>
                </a:solidFill>
                <a:latin typeface="Times New Roman" panose="02020603050405020304" pitchFamily="18" charset="0"/>
                <a:cs typeface="Times New Roman" panose="02020603050405020304" pitchFamily="18" charset="0"/>
              </a:rPr>
              <a:t>Model Bias &amp; Generalization</a:t>
            </a:r>
          </a:p>
          <a:p>
            <a:pPr algn="ctr">
              <a:defRPr sz="1100"/>
            </a:pPr>
            <a:r>
              <a:rPr sz="1200" dirty="0">
                <a:solidFill>
                  <a:schemeClr val="tx1"/>
                </a:solidFill>
                <a:latin typeface="Times New Roman" panose="02020603050405020304" pitchFamily="18" charset="0"/>
                <a:cs typeface="Times New Roman" panose="02020603050405020304" pitchFamily="18" charset="0"/>
              </a:rPr>
              <a:t>Overfitting to specific environments and demographic bias.</a:t>
            </a:r>
          </a:p>
        </p:txBody>
      </p:sp>
      <p:sp>
        <p:nvSpPr>
          <p:cNvPr id="7" name="Rectangle 6"/>
          <p:cNvSpPr/>
          <p:nvPr/>
        </p:nvSpPr>
        <p:spPr>
          <a:xfrm>
            <a:off x="6964680" y="1938107"/>
            <a:ext cx="1371600" cy="1645920"/>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pPr>
            <a:r>
              <a:rPr sz="1200" dirty="0">
                <a:solidFill>
                  <a:schemeClr val="tx1"/>
                </a:solidFill>
                <a:latin typeface="Times New Roman" panose="02020603050405020304" pitchFamily="18" charset="0"/>
                <a:cs typeface="Times New Roman" panose="02020603050405020304" pitchFamily="18" charset="0"/>
              </a:rPr>
              <a:t>System Integration</a:t>
            </a:r>
          </a:p>
          <a:p>
            <a:pPr algn="ctr">
              <a:defRPr sz="1100"/>
            </a:pPr>
            <a:r>
              <a:rPr sz="1200" dirty="0">
                <a:solidFill>
                  <a:schemeClr val="tx1"/>
                </a:solidFill>
                <a:latin typeface="Times New Roman" panose="02020603050405020304" pitchFamily="18" charset="0"/>
                <a:cs typeface="Times New Roman" panose="02020603050405020304" pitchFamily="18" charset="0"/>
              </a:rPr>
              <a:t>Challenges syncing SMART/FHIR with legacy EHR systems</a:t>
            </a:r>
            <a:r>
              <a:rPr sz="1200" dirty="0">
                <a:latin typeface="Times New Roman" panose="02020603050405020304" pitchFamily="18" charset="0"/>
                <a:cs typeface="Times New Roman" panose="02020603050405020304" pitchFamily="18" charset="0"/>
              </a:rPr>
              <a:t>.</a:t>
            </a:r>
          </a:p>
        </p:txBody>
      </p:sp>
      <p:sp>
        <p:nvSpPr>
          <p:cNvPr id="8" name="Rectangle 7"/>
          <p:cNvSpPr/>
          <p:nvPr/>
        </p:nvSpPr>
        <p:spPr>
          <a:xfrm>
            <a:off x="8947941" y="1938107"/>
            <a:ext cx="1371600" cy="1645920"/>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pPr>
            <a:r>
              <a:rPr sz="1200" dirty="0">
                <a:solidFill>
                  <a:schemeClr val="tx1"/>
                </a:solidFill>
                <a:latin typeface="Times New Roman" panose="02020603050405020304" pitchFamily="18" charset="0"/>
                <a:cs typeface="Times New Roman" panose="02020603050405020304" pitchFamily="18" charset="0"/>
              </a:rPr>
              <a:t>Real-Time Constraints</a:t>
            </a:r>
          </a:p>
          <a:p>
            <a:pPr algn="ctr">
              <a:defRPr sz="1100"/>
            </a:pPr>
            <a:r>
              <a:rPr sz="1200" dirty="0">
                <a:solidFill>
                  <a:schemeClr val="tx1"/>
                </a:solidFill>
                <a:latin typeface="Times New Roman" panose="02020603050405020304" pitchFamily="18" charset="0"/>
                <a:cs typeface="Times New Roman" panose="02020603050405020304" pitchFamily="18" charset="0"/>
              </a:rPr>
              <a:t>Maintaining sub-second detection under network latency.</a:t>
            </a:r>
          </a:p>
        </p:txBody>
      </p:sp>
      <p:sp>
        <p:nvSpPr>
          <p:cNvPr id="10" name="Rectangle 9"/>
          <p:cNvSpPr/>
          <p:nvPr/>
        </p:nvSpPr>
        <p:spPr>
          <a:xfrm>
            <a:off x="3535680" y="4068797"/>
            <a:ext cx="1371600" cy="1645920"/>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pPr>
            <a:r>
              <a:rPr sz="1200" dirty="0">
                <a:solidFill>
                  <a:schemeClr val="tx1"/>
                </a:solidFill>
                <a:latin typeface="Times New Roman" panose="02020603050405020304" pitchFamily="18" charset="0"/>
                <a:cs typeface="Times New Roman" panose="02020603050405020304" pitchFamily="18" charset="0"/>
              </a:rPr>
              <a:t>User Adoption</a:t>
            </a:r>
          </a:p>
          <a:p>
            <a:pPr algn="ctr">
              <a:defRPr sz="1100"/>
            </a:pPr>
            <a:r>
              <a:rPr sz="1200" dirty="0">
                <a:solidFill>
                  <a:schemeClr val="tx1"/>
                </a:solidFill>
                <a:latin typeface="Times New Roman" panose="02020603050405020304" pitchFamily="18" charset="0"/>
                <a:cs typeface="Times New Roman" panose="02020603050405020304" pitchFamily="18" charset="0"/>
              </a:rPr>
              <a:t>Resistance from elderly users and need for intuitive interfaces</a:t>
            </a:r>
            <a:r>
              <a:rPr sz="1100" dirty="0"/>
              <a:t>.</a:t>
            </a:r>
          </a:p>
        </p:txBody>
      </p:sp>
      <p:sp>
        <p:nvSpPr>
          <p:cNvPr id="11" name="Rectangle 10"/>
          <p:cNvSpPr/>
          <p:nvPr/>
        </p:nvSpPr>
        <p:spPr>
          <a:xfrm>
            <a:off x="6278880" y="4068797"/>
            <a:ext cx="1371600" cy="1645920"/>
          </a:xfrm>
          <a:prstGeom prst="rect">
            <a:avLst/>
          </a:prstGeom>
          <a:solidFill>
            <a:schemeClr val="bg1">
              <a:lumMod val="7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pPr>
            <a:r>
              <a:rPr sz="1200" dirty="0">
                <a:solidFill>
                  <a:schemeClr val="tx1"/>
                </a:solidFill>
                <a:latin typeface="Times New Roman" panose="02020603050405020304" pitchFamily="18" charset="0"/>
                <a:cs typeface="Times New Roman" panose="02020603050405020304" pitchFamily="18" charset="0"/>
              </a:rPr>
              <a:t>Scalability &amp; Maintenance</a:t>
            </a:r>
          </a:p>
          <a:p>
            <a:pPr algn="ctr">
              <a:defRPr sz="1100"/>
            </a:pPr>
            <a:r>
              <a:rPr sz="1200" dirty="0">
                <a:solidFill>
                  <a:schemeClr val="tx1"/>
                </a:solidFill>
                <a:latin typeface="Times New Roman" panose="02020603050405020304" pitchFamily="18" charset="0"/>
                <a:cs typeface="Times New Roman" panose="02020603050405020304" pitchFamily="18" charset="0"/>
              </a:rPr>
              <a:t>Growing data loads require retraining and system upkeep</a:t>
            </a:r>
            <a:r>
              <a:rPr sz="1100" dirty="0"/>
              <a:t>.</a:t>
            </a:r>
          </a:p>
        </p:txBody>
      </p:sp>
      <p:cxnSp>
        <p:nvCxnSpPr>
          <p:cNvPr id="15" name="Straight Connector 14">
            <a:extLst>
              <a:ext uri="{FF2B5EF4-FFF2-40B4-BE49-F238E27FC236}">
                <a16:creationId xmlns:a16="http://schemas.microsoft.com/office/drawing/2014/main" id="{1290F784-8192-65BB-90DF-82352F61281F}"/>
              </a:ext>
            </a:extLst>
          </p:cNvPr>
          <p:cNvCxnSpPr>
            <a:stCxn id="4" idx="3"/>
            <a:endCxn id="5" idx="1"/>
          </p:cNvCxnSpPr>
          <p:nvPr/>
        </p:nvCxnSpPr>
        <p:spPr>
          <a:xfrm>
            <a:off x="2557167" y="2761067"/>
            <a:ext cx="574834"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33414520-C146-AC94-07F5-3AB0BFE7F751}"/>
              </a:ext>
            </a:extLst>
          </p:cNvPr>
          <p:cNvCxnSpPr>
            <a:stCxn id="5" idx="3"/>
            <a:endCxn id="6" idx="1"/>
          </p:cNvCxnSpPr>
          <p:nvPr/>
        </p:nvCxnSpPr>
        <p:spPr>
          <a:xfrm>
            <a:off x="4503601" y="2761067"/>
            <a:ext cx="514645"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43F4173B-AA32-FCFA-C43A-8A793479B078}"/>
              </a:ext>
            </a:extLst>
          </p:cNvPr>
          <p:cNvCxnSpPr>
            <a:stCxn id="6" idx="3"/>
            <a:endCxn id="7" idx="1"/>
          </p:cNvCxnSpPr>
          <p:nvPr/>
        </p:nvCxnSpPr>
        <p:spPr>
          <a:xfrm>
            <a:off x="6389846" y="2761067"/>
            <a:ext cx="574834"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Straight Connector 20">
            <a:extLst>
              <a:ext uri="{FF2B5EF4-FFF2-40B4-BE49-F238E27FC236}">
                <a16:creationId xmlns:a16="http://schemas.microsoft.com/office/drawing/2014/main" id="{7EAC83F8-0265-9CA1-C0C8-FFC95C3FBBB3}"/>
              </a:ext>
            </a:extLst>
          </p:cNvPr>
          <p:cNvCxnSpPr>
            <a:stCxn id="7" idx="3"/>
            <a:endCxn id="8" idx="1"/>
          </p:cNvCxnSpPr>
          <p:nvPr/>
        </p:nvCxnSpPr>
        <p:spPr>
          <a:xfrm>
            <a:off x="8336280" y="2761067"/>
            <a:ext cx="611661"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CA9CC3D1-0FAC-7CB7-9D20-F4714EBA5926}"/>
              </a:ext>
            </a:extLst>
          </p:cNvPr>
          <p:cNvCxnSpPr>
            <a:stCxn id="10" idx="3"/>
            <a:endCxn id="11" idx="1"/>
          </p:cNvCxnSpPr>
          <p:nvPr/>
        </p:nvCxnSpPr>
        <p:spPr>
          <a:xfrm>
            <a:off x="4907280" y="4891757"/>
            <a:ext cx="1371600"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Elbow Connector 26">
            <a:extLst>
              <a:ext uri="{FF2B5EF4-FFF2-40B4-BE49-F238E27FC236}">
                <a16:creationId xmlns:a16="http://schemas.microsoft.com/office/drawing/2014/main" id="{BEFFE9F2-CCDF-BFF6-53A3-A5C8D4D2F66B}"/>
              </a:ext>
            </a:extLst>
          </p:cNvPr>
          <p:cNvCxnSpPr>
            <a:stCxn id="8" idx="2"/>
            <a:endCxn id="11" idx="3"/>
          </p:cNvCxnSpPr>
          <p:nvPr/>
        </p:nvCxnSpPr>
        <p:spPr>
          <a:xfrm rot="5400000">
            <a:off x="7988246" y="3246262"/>
            <a:ext cx="1307730" cy="1983261"/>
          </a:xfrm>
          <a:prstGeom prst="bentConnector2">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5646D-B185-D628-0AAC-1C096D4ED385}"/>
              </a:ext>
            </a:extLst>
          </p:cNvPr>
          <p:cNvSpPr>
            <a:spLocks noGrp="1"/>
          </p:cNvSpPr>
          <p:nvPr>
            <p:ph type="title"/>
          </p:nvPr>
        </p:nvSpPr>
        <p:spPr>
          <a:xfrm>
            <a:off x="1251678" y="476978"/>
            <a:ext cx="10178322" cy="763243"/>
          </a:xfrm>
        </p:spPr>
        <p:txBody>
          <a:bodyPr>
            <a:normAutofit/>
          </a:bodyPr>
          <a:lstStyle/>
          <a:p>
            <a:r>
              <a:rPr lang="en-US" sz="4000" b="1" dirty="0">
                <a:latin typeface="Times New Roman" panose="02020603050405020304" pitchFamily="18" charset="0"/>
                <a:cs typeface="Times New Roman" panose="02020603050405020304" pitchFamily="18" charset="0"/>
              </a:rPr>
              <a:t>FUTURE WORK &amp; IMPROVEMENTS</a:t>
            </a:r>
          </a:p>
        </p:txBody>
      </p:sp>
      <p:sp>
        <p:nvSpPr>
          <p:cNvPr id="3" name="Footer Placeholder 2">
            <a:extLst>
              <a:ext uri="{FF2B5EF4-FFF2-40B4-BE49-F238E27FC236}">
                <a16:creationId xmlns:a16="http://schemas.microsoft.com/office/drawing/2014/main" id="{D5BF8C51-79EF-1C22-34BC-5DEF32963F24}"/>
              </a:ext>
            </a:extLst>
          </p:cNvPr>
          <p:cNvSpPr>
            <a:spLocks noGrp="1"/>
          </p:cNvSpPr>
          <p:nvPr>
            <p:ph type="ftr" sz="quarter" idx="11"/>
          </p:nvPr>
        </p:nvSpPr>
        <p:spPr/>
        <p:txBody>
          <a:bodyPr/>
          <a:lstStyle/>
          <a:p>
            <a:r>
              <a:rPr lang="en-US"/>
              <a:t>CS699B_FA25 - Professional Seminar</a:t>
            </a:r>
          </a:p>
        </p:txBody>
      </p:sp>
      <p:sp>
        <p:nvSpPr>
          <p:cNvPr id="4" name="Slide Number Placeholder 3">
            <a:extLst>
              <a:ext uri="{FF2B5EF4-FFF2-40B4-BE49-F238E27FC236}">
                <a16:creationId xmlns:a16="http://schemas.microsoft.com/office/drawing/2014/main" id="{06FE62EF-2FB5-DC63-F17E-089A139A04FA}"/>
              </a:ext>
            </a:extLst>
          </p:cNvPr>
          <p:cNvSpPr>
            <a:spLocks noGrp="1"/>
          </p:cNvSpPr>
          <p:nvPr>
            <p:ph type="sldNum" sz="quarter" idx="12"/>
          </p:nvPr>
        </p:nvSpPr>
        <p:spPr/>
        <p:txBody>
          <a:bodyPr/>
          <a:lstStyle/>
          <a:p>
            <a:fld id="{6C37529B-A776-F94F-942C-67A2A3940E8A}" type="slidenum">
              <a:rPr lang="en-US" smtClean="0"/>
              <a:t>24</a:t>
            </a:fld>
            <a:endParaRPr lang="en-US"/>
          </a:p>
        </p:txBody>
      </p:sp>
      <p:sp>
        <p:nvSpPr>
          <p:cNvPr id="5" name="TextBox 4">
            <a:extLst>
              <a:ext uri="{FF2B5EF4-FFF2-40B4-BE49-F238E27FC236}">
                <a16:creationId xmlns:a16="http://schemas.microsoft.com/office/drawing/2014/main" id="{F540418F-7640-54B7-BBA4-ABF0A6EAC7A5}"/>
              </a:ext>
            </a:extLst>
          </p:cNvPr>
          <p:cNvSpPr txBox="1"/>
          <p:nvPr/>
        </p:nvSpPr>
        <p:spPr>
          <a:xfrm>
            <a:off x="1403131" y="2413337"/>
            <a:ext cx="9385738"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fusion strategies to further reduce false alarms.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Clear explainability on clinical dashboards.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the design and features on the Webpage/Dashboard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Focus on richer data integration, evaluation and deployment for real world.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metrics and evaluation models in line with care of SLO’s (Service level objective).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841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139" y="569029"/>
            <a:ext cx="11155680" cy="871413"/>
          </a:xfrm>
        </p:spPr>
        <p:txBody>
          <a:bodyPr>
            <a:normAutofit/>
          </a:bodyPr>
          <a:lstStyle/>
          <a:p>
            <a:pPr algn="ctr"/>
            <a:r>
              <a:rPr lang="en-US" sz="5000" b="1">
                <a:latin typeface="Times New Roman" panose="02020603050405020304" pitchFamily="18" charset="0"/>
                <a:cs typeface="Times New Roman" panose="02020603050405020304" pitchFamily="18" charset="0"/>
              </a:rPr>
              <a:t>Conclusion</a:t>
            </a:r>
            <a:endParaRPr lang="en-US" sz="5000" b="1" dirty="0">
              <a:latin typeface="Times New Roman" panose="02020603050405020304" pitchFamily="18" charset="0"/>
              <a:cs typeface="Times New Roman" panose="02020603050405020304" pitchFamily="18" charset="0"/>
            </a:endParaRPr>
          </a:p>
        </p:txBody>
      </p:sp>
      <p:graphicFrame>
        <p:nvGraphicFramePr>
          <p:cNvPr id="15" name="Content Placeholder 2">
            <a:extLst>
              <a:ext uri="{FF2B5EF4-FFF2-40B4-BE49-F238E27FC236}">
                <a16:creationId xmlns:a16="http://schemas.microsoft.com/office/drawing/2014/main" id="{A17F4269-514B-61CC-AF51-5DABD089FE1E}"/>
              </a:ext>
            </a:extLst>
          </p:cNvPr>
          <p:cNvGraphicFramePr>
            <a:graphicFrameLocks noGrp="1"/>
          </p:cNvGraphicFramePr>
          <p:nvPr>
            <p:ph idx="1"/>
            <p:extLst>
              <p:ext uri="{D42A27DB-BD31-4B8C-83A1-F6EECF244321}">
                <p14:modId xmlns:p14="http://schemas.microsoft.com/office/powerpoint/2010/main" val="269030647"/>
              </p:ext>
            </p:extLst>
          </p:nvPr>
        </p:nvGraphicFramePr>
        <p:xfrm>
          <a:off x="630087" y="1737128"/>
          <a:ext cx="11156950" cy="3767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354C171B-E79F-C8C6-8CEE-DF95DB0EDC66}"/>
              </a:ext>
            </a:extLst>
          </p:cNvPr>
          <p:cNvSpPr>
            <a:spLocks noGrp="1"/>
          </p:cNvSpPr>
          <p:nvPr>
            <p:ph type="ftr" sz="quarter" idx="11"/>
          </p:nvPr>
        </p:nvSpPr>
        <p:spPr/>
        <p:txBody>
          <a:bodyPr/>
          <a:lstStyle/>
          <a:p>
            <a:r>
              <a:rPr lang="en-US"/>
              <a:t>CS699B_FA25 - Professional Seminar</a:t>
            </a:r>
          </a:p>
        </p:txBody>
      </p:sp>
      <p:sp>
        <p:nvSpPr>
          <p:cNvPr id="6" name="Slide Number Placeholder 5">
            <a:extLst>
              <a:ext uri="{FF2B5EF4-FFF2-40B4-BE49-F238E27FC236}">
                <a16:creationId xmlns:a16="http://schemas.microsoft.com/office/drawing/2014/main" id="{CF75DDDC-42FE-761D-5900-FDB633AF3144}"/>
              </a:ext>
            </a:extLst>
          </p:cNvPr>
          <p:cNvSpPr>
            <a:spLocks noGrp="1"/>
          </p:cNvSpPr>
          <p:nvPr>
            <p:ph type="sldNum" sz="quarter" idx="12"/>
          </p:nvPr>
        </p:nvSpPr>
        <p:spPr/>
        <p:txBody>
          <a:bodyPr/>
          <a:lstStyle/>
          <a:p>
            <a:fld id="{148CC95F-0247-41B6-91CF-DC97C76A7088}" type="slidenum">
              <a:rPr lang="en-US" smtClean="0">
                <a:latin typeface="Times New Roman" panose="02020603050405020304" pitchFamily="18" charset="0"/>
                <a:cs typeface="Times New Roman" panose="02020603050405020304" pitchFamily="18" charset="0"/>
              </a:rPr>
              <a:t>25</a:t>
            </a:fld>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0312DB9-4DD2-82AA-8DA1-1B5E7A09B452}"/>
              </a:ext>
            </a:extLst>
          </p:cNvPr>
          <p:cNvSpPr txBox="1"/>
          <p:nvPr/>
        </p:nvSpPr>
        <p:spPr>
          <a:xfrm>
            <a:off x="1734207" y="199697"/>
            <a:ext cx="184731" cy="369332"/>
          </a:xfrm>
          <a:prstGeom prst="rect">
            <a:avLst/>
          </a:prstGeom>
          <a:noFill/>
        </p:spPr>
        <p:txBody>
          <a:bodyPr wrap="none" rtlCol="0">
            <a:spAutoFit/>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4082" y="246888"/>
            <a:ext cx="8732520" cy="1463040"/>
          </a:xfrm>
        </p:spPr>
        <p:txBody>
          <a:bodyPr>
            <a:normAutofit/>
          </a:bodyPr>
          <a:lstStyle/>
          <a:p>
            <a:pPr algn="ctr"/>
            <a:r>
              <a:rPr lang="en-US" sz="5000"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1180830" y="1709928"/>
            <a:ext cx="8732520" cy="3767328"/>
          </a:xfrm>
        </p:spPr>
        <p:txBody>
          <a:bodyPr>
            <a:normAutofit fontScale="92500" lnSpcReduction="10000"/>
          </a:bodyPr>
          <a:lstStyle/>
          <a:p>
            <a:pPr>
              <a:spcAft>
                <a:spcPts val="100"/>
              </a:spcAft>
            </a:pPr>
            <a:r>
              <a:rPr lang="en-US" dirty="0">
                <a:latin typeface="Times New Roman" panose="02020603050405020304" pitchFamily="18" charset="0"/>
                <a:cs typeface="Times New Roman" panose="02020603050405020304" pitchFamily="18" charset="0"/>
              </a:rPr>
              <a:t>UP-Fall Detection Dataset: A Multimodal Approach by Lourdes Martínez-Villasenor, Hiram Ponce, Jorge Brieva, Ernesto Moya-Albor, Jose Nunez-Martínez and Carlos Peñafort-Asturiano. </a:t>
            </a:r>
            <a:r>
              <a:rPr lang="en-US" u="sng" dirty="0">
                <a:latin typeface="Times New Roman" panose="02020603050405020304" pitchFamily="18" charset="0"/>
                <a:cs typeface="Times New Roman" panose="02020603050405020304" pitchFamily="18" charset="0"/>
                <a:hlinkClick r:id="rId2"/>
              </a:rPr>
              <a:t>https://www.mdpi.com/1424-8220/19/9/1988</a:t>
            </a:r>
            <a:endParaRPr lang="en-US" dirty="0">
              <a:latin typeface="Times New Roman" panose="02020603050405020304" pitchFamily="18" charset="0"/>
              <a:cs typeface="Times New Roman" panose="02020603050405020304" pitchFamily="18" charset="0"/>
            </a:endParaRPr>
          </a:p>
          <a:p>
            <a:pPr>
              <a:spcAft>
                <a:spcPts val="100"/>
              </a:spcAft>
            </a:pPr>
            <a:r>
              <a:rPr lang="en-US" dirty="0">
                <a:latin typeface="Times New Roman" panose="02020603050405020304" pitchFamily="18" charset="0"/>
                <a:cs typeface="Times New Roman" panose="02020603050405020304" pitchFamily="18" charset="0"/>
              </a:rPr>
              <a:t>Wandering Detection: CNN for Elderly Wandering Prediction in Indoor Scenarios by Rafael Oliveira, Rafael Feres, Fabio Barreto and Raphael Abreu. </a:t>
            </a:r>
            <a:r>
              <a:rPr lang="en-US" u="sng" dirty="0">
                <a:latin typeface="Times New Roman" panose="02020603050405020304" pitchFamily="18" charset="0"/>
                <a:cs typeface="Times New Roman" panose="02020603050405020304" pitchFamily="18" charset="0"/>
                <a:hlinkClick r:id="rId3"/>
              </a:rPr>
              <a:t>https://pmc.ncbi.nlm.nih.gov/articles/PMC9019803/#Sec12</a:t>
            </a:r>
            <a:r>
              <a:rPr lang="en-US" dirty="0">
                <a:latin typeface="Times New Roman" panose="02020603050405020304" pitchFamily="18" charset="0"/>
                <a:cs typeface="Times New Roman" panose="02020603050405020304" pitchFamily="18" charset="0"/>
              </a:rPr>
              <a:t> </a:t>
            </a:r>
          </a:p>
          <a:p>
            <a:pPr>
              <a:spcAft>
                <a:spcPts val="100"/>
              </a:spcAft>
            </a:pPr>
            <a:r>
              <a:rPr lang="en-US" dirty="0">
                <a:latin typeface="Times New Roman" panose="02020603050405020304" pitchFamily="18" charset="0"/>
                <a:cs typeface="Times New Roman" panose="02020603050405020304" pitchFamily="18" charset="0"/>
              </a:rPr>
              <a:t>Undetected physiological deterioration: The impact of wearable continuous vital sign monitoring on deterioration detection and clinical outcomes in hospitalized patients by Carlos Areia, Christopher Biggs, Mauro Santos, Neal Thurley, Stephen Gerry, Lionel Tarassenko, Peter Watkinson and Sarah Vollam. </a:t>
            </a:r>
            <a:r>
              <a:rPr lang="en-US" u="sng" dirty="0">
                <a:latin typeface="Times New Roman" panose="02020603050405020304" pitchFamily="18" charset="0"/>
                <a:cs typeface="Times New Roman" panose="02020603050405020304" pitchFamily="18" charset="0"/>
                <a:hlinkClick r:id="rId4"/>
              </a:rPr>
              <a:t>https://ccforum.biomedcentral.com/articles/10.1186/s13054-021-03766-4</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45F271C-CF71-7488-E4C6-02788389DC2B}"/>
              </a:ext>
            </a:extLst>
          </p:cNvPr>
          <p:cNvSpPr>
            <a:spLocks noGrp="1"/>
          </p:cNvSpPr>
          <p:nvPr>
            <p:ph type="ftr" sz="quarter" idx="11"/>
          </p:nvPr>
        </p:nvSpPr>
        <p:spPr/>
        <p:txBody>
          <a:bodyPr/>
          <a:lstStyle/>
          <a:p>
            <a:r>
              <a:rPr lang="en-US"/>
              <a:t>CS699B_FA25 - Professional Seminar</a:t>
            </a:r>
          </a:p>
        </p:txBody>
      </p:sp>
      <p:sp>
        <p:nvSpPr>
          <p:cNvPr id="6" name="Slide Number Placeholder 5">
            <a:extLst>
              <a:ext uri="{FF2B5EF4-FFF2-40B4-BE49-F238E27FC236}">
                <a16:creationId xmlns:a16="http://schemas.microsoft.com/office/drawing/2014/main" id="{F4A09633-B9CF-DC82-B5DB-E13123506B1C}"/>
              </a:ext>
            </a:extLst>
          </p:cNvPr>
          <p:cNvSpPr>
            <a:spLocks noGrp="1"/>
          </p:cNvSpPr>
          <p:nvPr>
            <p:ph type="sldNum" sz="quarter" idx="12"/>
          </p:nvPr>
        </p:nvSpPr>
        <p:spPr/>
        <p:txBody>
          <a:bodyPr/>
          <a:lstStyle/>
          <a:p>
            <a:fld id="{148CC95F-0247-41B6-91CF-DC97C76A7088}" type="slidenum">
              <a:rPr lang="en-US" smtClean="0">
                <a:latin typeface="Times New Roman" panose="02020603050405020304" pitchFamily="18" charset="0"/>
                <a:cs typeface="Times New Roman" panose="02020603050405020304" pitchFamily="18" charset="0"/>
              </a:rPr>
              <a:t>26</a:t>
            </a:fld>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A690CA8-461A-23EE-5682-596B840EDB17}"/>
              </a:ext>
            </a:extLst>
          </p:cNvPr>
          <p:cNvSpPr>
            <a:spLocks noGrp="1"/>
          </p:cNvSpPr>
          <p:nvPr>
            <p:ph type="ftr" sz="quarter" idx="11"/>
          </p:nvPr>
        </p:nvSpPr>
        <p:spPr/>
        <p:txBody>
          <a:bodyPr/>
          <a:lstStyle/>
          <a:p>
            <a:r>
              <a:rPr lang="en-US"/>
              <a:t>CS699B_FA25 - Professional Seminar</a:t>
            </a:r>
          </a:p>
        </p:txBody>
      </p:sp>
      <p:sp>
        <p:nvSpPr>
          <p:cNvPr id="3" name="Slide Number Placeholder 2">
            <a:extLst>
              <a:ext uri="{FF2B5EF4-FFF2-40B4-BE49-F238E27FC236}">
                <a16:creationId xmlns:a16="http://schemas.microsoft.com/office/drawing/2014/main" id="{B99A0D6C-196A-A1D7-B42A-90973E3B889E}"/>
              </a:ext>
            </a:extLst>
          </p:cNvPr>
          <p:cNvSpPr>
            <a:spLocks noGrp="1"/>
          </p:cNvSpPr>
          <p:nvPr>
            <p:ph type="sldNum" sz="quarter" idx="12"/>
          </p:nvPr>
        </p:nvSpPr>
        <p:spPr/>
        <p:txBody>
          <a:bodyPr/>
          <a:lstStyle/>
          <a:p>
            <a:fld id="{6C37529B-A776-F94F-942C-67A2A3940E8A}" type="slidenum">
              <a:rPr lang="en-US" smtClean="0"/>
              <a:t>27</a:t>
            </a:fld>
            <a:endParaRPr lang="en-US"/>
          </a:p>
        </p:txBody>
      </p:sp>
      <p:pic>
        <p:nvPicPr>
          <p:cNvPr id="1026" name="Picture 2" descr="Thank You For You PNG Transparent Images Free Download | Vector Files |  Pngtree">
            <a:extLst>
              <a:ext uri="{FF2B5EF4-FFF2-40B4-BE49-F238E27FC236}">
                <a16:creationId xmlns:a16="http://schemas.microsoft.com/office/drawing/2014/main" id="{D9310139-371A-FDEC-3B41-228F080687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5833" y="175345"/>
            <a:ext cx="6200334" cy="6200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512445"/>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Badge</Template>
  <TotalTime>1040</TotalTime>
  <Words>1245</Words>
  <Application>Microsoft Macintosh PowerPoint</Application>
  <PresentationFormat>Widescreen</PresentationFormat>
  <Paragraphs>181</Paragraphs>
  <Slides>27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Gill Sans MT</vt:lpstr>
      <vt:lpstr>Impact</vt:lpstr>
      <vt:lpstr>Times New Roman</vt:lpstr>
      <vt:lpstr>Badge</vt:lpstr>
      <vt:lpstr>Real-Time Multi-Modal Monitoring System for Assisted Living</vt:lpstr>
      <vt:lpstr>Abstract </vt:lpstr>
      <vt:lpstr>Problem Statement </vt:lpstr>
      <vt:lpstr>Motivation</vt:lpstr>
      <vt:lpstr>Use Cases</vt:lpstr>
      <vt:lpstr>Technologies Used</vt:lpstr>
      <vt:lpstr>PowerPoint Presentation</vt:lpstr>
      <vt:lpstr>Use Case Diagram </vt:lpstr>
      <vt:lpstr>Class Diagram </vt:lpstr>
      <vt:lpstr>Object Diagram </vt:lpstr>
      <vt:lpstr>Sequence Diagram </vt:lpstr>
      <vt:lpstr>Sequence Diagram – Label &amp; EHR Write Back</vt:lpstr>
      <vt:lpstr>State Chart Diagram </vt:lpstr>
      <vt:lpstr>Deployment Diagram </vt:lpstr>
      <vt:lpstr>Package Diagram </vt:lpstr>
      <vt:lpstr>Entity Relationship diagram </vt:lpstr>
      <vt:lpstr>Navigation Diagram </vt:lpstr>
      <vt:lpstr>System Design Diagram </vt:lpstr>
      <vt:lpstr>Patient side  Dashboard </vt:lpstr>
      <vt:lpstr>LOGIN PAGE</vt:lpstr>
      <vt:lpstr>Care Team side Dashboard</vt:lpstr>
      <vt:lpstr>Implementation</vt:lpstr>
      <vt:lpstr>Possible Future Issues</vt:lpstr>
      <vt:lpstr>FUTURE WORK &amp; IMPROVEMENTS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Pekala, Pavan Kumar</dc:creator>
  <cp:lastModifiedBy>Pekala, Pavan Kumar</cp:lastModifiedBy>
  <cp:revision>2</cp:revision>
  <dcterms:created xsi:type="dcterms:W3CDTF">2025-12-05T01:54:16Z</dcterms:created>
  <dcterms:modified xsi:type="dcterms:W3CDTF">2025-12-05T19:15:55Z</dcterms:modified>
</cp:coreProperties>
</file>