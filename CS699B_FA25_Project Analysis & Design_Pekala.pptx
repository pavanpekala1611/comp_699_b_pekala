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24"/>
  </p:notesMasterIdLst>
  <p:sldIdLst>
    <p:sldId id="256" r:id="rId2"/>
    <p:sldId id="258" r:id="rId3"/>
    <p:sldId id="268" r:id="rId4"/>
    <p:sldId id="259" r:id="rId5"/>
    <p:sldId id="267" r:id="rId6"/>
    <p:sldId id="269" r:id="rId7"/>
    <p:sldId id="277" r:id="rId8"/>
    <p:sldId id="278" r:id="rId9"/>
    <p:sldId id="279" r:id="rId10"/>
    <p:sldId id="280" r:id="rId11"/>
    <p:sldId id="281" r:id="rId12"/>
    <p:sldId id="282" r:id="rId13"/>
    <p:sldId id="286" r:id="rId14"/>
    <p:sldId id="288" r:id="rId15"/>
    <p:sldId id="289" r:id="rId16"/>
    <p:sldId id="283" r:id="rId17"/>
    <p:sldId id="287" r:id="rId18"/>
    <p:sldId id="284" r:id="rId19"/>
    <p:sldId id="285" r:id="rId20"/>
    <p:sldId id="290" r:id="rId21"/>
    <p:sldId id="270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1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30.svg"/><Relationship Id="rId2" Type="http://schemas.openxmlformats.org/officeDocument/2006/relationships/image" Target="../media/image5.png"/><Relationship Id="rId1" Type="http://schemas.openxmlformats.org/officeDocument/2006/relationships/image" Target="../media/image26.pn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30.svg"/><Relationship Id="rId2" Type="http://schemas.openxmlformats.org/officeDocument/2006/relationships/image" Target="../media/image5.png"/><Relationship Id="rId1" Type="http://schemas.openxmlformats.org/officeDocument/2006/relationships/image" Target="../media/image26.pn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2910E6-88E4-4D66-B8E7-BED344DB8F9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228619B-81DE-4697-9820-A5FA88A72542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b="1"/>
            <a:t>Project Focus</a:t>
          </a:r>
          <a:br>
            <a:rPr lang="en-US"/>
          </a:br>
          <a:r>
            <a:rPr lang="en-US"/>
            <a:t>Design and evaluation of a privacy-preserving real-time monitoring system.</a:t>
          </a:r>
        </a:p>
      </dgm:t>
    </dgm:pt>
    <dgm:pt modelId="{06232C65-FA1B-4902-8BE5-C33594800E1B}" type="parTrans" cxnId="{476E61DF-549D-41ED-B8EB-99B907473DA6}">
      <dgm:prSet/>
      <dgm:spPr/>
      <dgm:t>
        <a:bodyPr/>
        <a:lstStyle/>
        <a:p>
          <a:endParaRPr lang="en-US"/>
        </a:p>
      </dgm:t>
    </dgm:pt>
    <dgm:pt modelId="{CCDBEBAB-B3C7-4D1D-9DF1-229CFB9C3C4E}" type="sibTrans" cxnId="{476E61DF-549D-41ED-B8EB-99B907473DA6}">
      <dgm:prSet/>
      <dgm:spPr/>
      <dgm:t>
        <a:bodyPr/>
        <a:lstStyle/>
        <a:p>
          <a:endParaRPr lang="en-US"/>
        </a:p>
      </dgm:t>
    </dgm:pt>
    <dgm:pt modelId="{FDBF9059-4998-4B4C-AAD2-B47B1CF58ACF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b="1" dirty="0"/>
            <a:t>Problem Context</a:t>
          </a:r>
          <a:br>
            <a:rPr lang="en-US" dirty="0"/>
          </a:br>
          <a:r>
            <a:rPr lang="en-US" dirty="0"/>
            <a:t>Seniors in assisted care are prone to falls, confusion, and unnoticed health issues.</a:t>
          </a:r>
        </a:p>
      </dgm:t>
    </dgm:pt>
    <dgm:pt modelId="{23DA34BF-B791-43B1-8C07-FC55CBF9E286}" type="parTrans" cxnId="{79A1CE2A-3091-49F1-A4D8-F3DE83321606}">
      <dgm:prSet/>
      <dgm:spPr/>
      <dgm:t>
        <a:bodyPr/>
        <a:lstStyle/>
        <a:p>
          <a:endParaRPr lang="en-US"/>
        </a:p>
      </dgm:t>
    </dgm:pt>
    <dgm:pt modelId="{7D4AD204-5649-4D3C-A944-8B90B69BD1C0}" type="sibTrans" cxnId="{79A1CE2A-3091-49F1-A4D8-F3DE83321606}">
      <dgm:prSet/>
      <dgm:spPr/>
      <dgm:t>
        <a:bodyPr/>
        <a:lstStyle/>
        <a:p>
          <a:endParaRPr lang="en-US"/>
        </a:p>
      </dgm:t>
    </dgm:pt>
    <dgm:pt modelId="{339BA8B6-29C1-4BC1-8B53-37188B723D96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dirty="0"/>
            <a:t> </a:t>
          </a:r>
          <a:r>
            <a:rPr lang="en-US" b="1" dirty="0"/>
            <a:t>System Capability</a:t>
          </a:r>
          <a:br>
            <a:rPr lang="en-US" dirty="0"/>
          </a:br>
          <a:r>
            <a:rPr lang="en-US" dirty="0"/>
            <a:t>Multi-modal ML system for continuous detection and rapid, precise responses.</a:t>
          </a:r>
        </a:p>
      </dgm:t>
    </dgm:pt>
    <dgm:pt modelId="{FD9BBA23-2E03-4D88-A0F0-3B8F96C17C29}" type="parTrans" cxnId="{1A8279BF-E628-4511-AF36-BF21F12CAEA0}">
      <dgm:prSet/>
      <dgm:spPr/>
      <dgm:t>
        <a:bodyPr/>
        <a:lstStyle/>
        <a:p>
          <a:endParaRPr lang="en-US"/>
        </a:p>
      </dgm:t>
    </dgm:pt>
    <dgm:pt modelId="{7B704819-F912-4572-90E9-8367537BC859}" type="sibTrans" cxnId="{1A8279BF-E628-4511-AF36-BF21F12CAEA0}">
      <dgm:prSet/>
      <dgm:spPr/>
      <dgm:t>
        <a:bodyPr/>
        <a:lstStyle/>
        <a:p>
          <a:endParaRPr lang="en-US"/>
        </a:p>
      </dgm:t>
    </dgm:pt>
    <dgm:pt modelId="{451E98E9-D75E-4D01-800E-AC37E6C9FB29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dirty="0"/>
            <a:t> </a:t>
          </a:r>
          <a:r>
            <a:rPr lang="en-US" b="1" dirty="0"/>
            <a:t>False Alarm Reduction</a:t>
          </a:r>
          <a:br>
            <a:rPr lang="en-US" dirty="0"/>
          </a:br>
          <a:r>
            <a:rPr lang="en-US" dirty="0"/>
            <a:t>Delivers accurate, actionable insights to minimize false triggers.</a:t>
          </a:r>
        </a:p>
      </dgm:t>
    </dgm:pt>
    <dgm:pt modelId="{8511BDBD-5328-4657-A628-9377803F455F}" type="parTrans" cxnId="{FF63F3E0-3D2F-4117-876A-26A0060FC9B4}">
      <dgm:prSet/>
      <dgm:spPr/>
      <dgm:t>
        <a:bodyPr/>
        <a:lstStyle/>
        <a:p>
          <a:endParaRPr lang="en-US"/>
        </a:p>
      </dgm:t>
    </dgm:pt>
    <dgm:pt modelId="{E12D2436-89F1-4DCB-8CD2-76643E41A515}" type="sibTrans" cxnId="{FF63F3E0-3D2F-4117-876A-26A0060FC9B4}">
      <dgm:prSet/>
      <dgm:spPr/>
      <dgm:t>
        <a:bodyPr/>
        <a:lstStyle/>
        <a:p>
          <a:endParaRPr lang="en-US"/>
        </a:p>
      </dgm:t>
    </dgm:pt>
    <dgm:pt modelId="{2E3D9B50-D0F5-4BD8-9A17-8572A05D282D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dirty="0"/>
            <a:t> </a:t>
          </a:r>
          <a:r>
            <a:rPr lang="en-US" b="1" dirty="0"/>
            <a:t>Secure EHR Integration</a:t>
          </a:r>
          <a:br>
            <a:rPr lang="en-US" dirty="0"/>
          </a:br>
          <a:r>
            <a:rPr lang="en-US" dirty="0"/>
            <a:t>Uses SMART to preserve EHR privacy while ensuring reliable outcomes.</a:t>
          </a:r>
        </a:p>
      </dgm:t>
    </dgm:pt>
    <dgm:pt modelId="{26CAF341-4346-4DA8-BF18-8AE284471D9C}" type="parTrans" cxnId="{D1550388-D20D-4307-B898-B0CA75870813}">
      <dgm:prSet/>
      <dgm:spPr/>
      <dgm:t>
        <a:bodyPr/>
        <a:lstStyle/>
        <a:p>
          <a:endParaRPr lang="en-US"/>
        </a:p>
      </dgm:t>
    </dgm:pt>
    <dgm:pt modelId="{FDDE109C-F58F-4EA8-9DC1-2397651FF7ED}" type="sibTrans" cxnId="{D1550388-D20D-4307-B898-B0CA75870813}">
      <dgm:prSet/>
      <dgm:spPr/>
      <dgm:t>
        <a:bodyPr/>
        <a:lstStyle/>
        <a:p>
          <a:endParaRPr lang="en-US"/>
        </a:p>
      </dgm:t>
    </dgm:pt>
    <dgm:pt modelId="{C1FB707C-D7BC-1740-9471-2238820703F2}" type="pres">
      <dgm:prSet presAssocID="{392910E6-88E4-4D66-B8E7-BED344DB8F93}" presName="diagram" presStyleCnt="0">
        <dgm:presLayoutVars>
          <dgm:dir/>
          <dgm:resizeHandles val="exact"/>
        </dgm:presLayoutVars>
      </dgm:prSet>
      <dgm:spPr/>
    </dgm:pt>
    <dgm:pt modelId="{54DED419-C8E2-3148-B63A-9E4D1AB312A3}" type="pres">
      <dgm:prSet presAssocID="{C228619B-81DE-4697-9820-A5FA88A72542}" presName="node" presStyleLbl="node1" presStyleIdx="0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BFF532D2-36F4-E045-9CF0-DBC68675BA89}" type="pres">
      <dgm:prSet presAssocID="{CCDBEBAB-B3C7-4D1D-9DF1-229CFB9C3C4E}" presName="sibTrans" presStyleCnt="0"/>
      <dgm:spPr/>
    </dgm:pt>
    <dgm:pt modelId="{1B5FEFE0-24AF-3B4D-AC41-A8104FBAB788}" type="pres">
      <dgm:prSet presAssocID="{FDBF9059-4998-4B4C-AAD2-B47B1CF58ACF}" presName="node" presStyleLbl="node1" presStyleIdx="1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82072A82-B7AF-C34E-B149-1DCC54AC64C0}" type="pres">
      <dgm:prSet presAssocID="{7D4AD204-5649-4D3C-A944-8B90B69BD1C0}" presName="sibTrans" presStyleCnt="0"/>
      <dgm:spPr/>
    </dgm:pt>
    <dgm:pt modelId="{E6F03123-17F5-AD4D-B13D-D38A8C70671C}" type="pres">
      <dgm:prSet presAssocID="{339BA8B6-29C1-4BC1-8B53-37188B723D96}" presName="node" presStyleLbl="node1" presStyleIdx="2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735BB815-DA09-844D-B70A-0E210F07FE13}" type="pres">
      <dgm:prSet presAssocID="{7B704819-F912-4572-90E9-8367537BC859}" presName="sibTrans" presStyleCnt="0"/>
      <dgm:spPr/>
    </dgm:pt>
    <dgm:pt modelId="{838D5ED9-411F-DA42-BB5D-2DD41DC40FAC}" type="pres">
      <dgm:prSet presAssocID="{451E98E9-D75E-4D01-800E-AC37E6C9FB29}" presName="node" presStyleLbl="node1" presStyleIdx="3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75017E7C-D164-BA4C-BD30-265EE77ED084}" type="pres">
      <dgm:prSet presAssocID="{E12D2436-89F1-4DCB-8CD2-76643E41A515}" presName="sibTrans" presStyleCnt="0"/>
      <dgm:spPr/>
    </dgm:pt>
    <dgm:pt modelId="{4095528B-A03A-6046-99FD-C80359998399}" type="pres">
      <dgm:prSet presAssocID="{2E3D9B50-D0F5-4BD8-9A17-8572A05D282D}" presName="node" presStyleLbl="node1" presStyleIdx="4" presStyleCnt="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D163671B-D8B4-0043-B509-A8EBD92A4DA4}" type="presOf" srcId="{FDBF9059-4998-4B4C-AAD2-B47B1CF58ACF}" destId="{1B5FEFE0-24AF-3B4D-AC41-A8104FBAB788}" srcOrd="0" destOrd="0" presId="urn:microsoft.com/office/officeart/2005/8/layout/default"/>
    <dgm:cxn modelId="{79A1CE2A-3091-49F1-A4D8-F3DE83321606}" srcId="{392910E6-88E4-4D66-B8E7-BED344DB8F93}" destId="{FDBF9059-4998-4B4C-AAD2-B47B1CF58ACF}" srcOrd="1" destOrd="0" parTransId="{23DA34BF-B791-43B1-8C07-FC55CBF9E286}" sibTransId="{7D4AD204-5649-4D3C-A944-8B90B69BD1C0}"/>
    <dgm:cxn modelId="{708E762B-CBC9-D048-8506-E1BE397194B1}" type="presOf" srcId="{339BA8B6-29C1-4BC1-8B53-37188B723D96}" destId="{E6F03123-17F5-AD4D-B13D-D38A8C70671C}" srcOrd="0" destOrd="0" presId="urn:microsoft.com/office/officeart/2005/8/layout/default"/>
    <dgm:cxn modelId="{5E747356-5A70-0A4C-BED1-79A4168D44B3}" type="presOf" srcId="{451E98E9-D75E-4D01-800E-AC37E6C9FB29}" destId="{838D5ED9-411F-DA42-BB5D-2DD41DC40FAC}" srcOrd="0" destOrd="0" presId="urn:microsoft.com/office/officeart/2005/8/layout/default"/>
    <dgm:cxn modelId="{EDE39062-0164-F441-91B4-4354C5AE2E73}" type="presOf" srcId="{C228619B-81DE-4697-9820-A5FA88A72542}" destId="{54DED419-C8E2-3148-B63A-9E4D1AB312A3}" srcOrd="0" destOrd="0" presId="urn:microsoft.com/office/officeart/2005/8/layout/default"/>
    <dgm:cxn modelId="{6495A17C-1168-3546-BD5A-1574857FF80D}" type="presOf" srcId="{392910E6-88E4-4D66-B8E7-BED344DB8F93}" destId="{C1FB707C-D7BC-1740-9471-2238820703F2}" srcOrd="0" destOrd="0" presId="urn:microsoft.com/office/officeart/2005/8/layout/default"/>
    <dgm:cxn modelId="{D1550388-D20D-4307-B898-B0CA75870813}" srcId="{392910E6-88E4-4D66-B8E7-BED344DB8F93}" destId="{2E3D9B50-D0F5-4BD8-9A17-8572A05D282D}" srcOrd="4" destOrd="0" parTransId="{26CAF341-4346-4DA8-BF18-8AE284471D9C}" sibTransId="{FDDE109C-F58F-4EA8-9DC1-2397651FF7ED}"/>
    <dgm:cxn modelId="{1A8279BF-E628-4511-AF36-BF21F12CAEA0}" srcId="{392910E6-88E4-4D66-B8E7-BED344DB8F93}" destId="{339BA8B6-29C1-4BC1-8B53-37188B723D96}" srcOrd="2" destOrd="0" parTransId="{FD9BBA23-2E03-4D88-A0F0-3B8F96C17C29}" sibTransId="{7B704819-F912-4572-90E9-8367537BC859}"/>
    <dgm:cxn modelId="{F44872D9-94D3-1847-A75C-5177461C0959}" type="presOf" srcId="{2E3D9B50-D0F5-4BD8-9A17-8572A05D282D}" destId="{4095528B-A03A-6046-99FD-C80359998399}" srcOrd="0" destOrd="0" presId="urn:microsoft.com/office/officeart/2005/8/layout/default"/>
    <dgm:cxn modelId="{476E61DF-549D-41ED-B8EB-99B907473DA6}" srcId="{392910E6-88E4-4D66-B8E7-BED344DB8F93}" destId="{C228619B-81DE-4697-9820-A5FA88A72542}" srcOrd="0" destOrd="0" parTransId="{06232C65-FA1B-4902-8BE5-C33594800E1B}" sibTransId="{CCDBEBAB-B3C7-4D1D-9DF1-229CFB9C3C4E}"/>
    <dgm:cxn modelId="{FF63F3E0-3D2F-4117-876A-26A0060FC9B4}" srcId="{392910E6-88E4-4D66-B8E7-BED344DB8F93}" destId="{451E98E9-D75E-4D01-800E-AC37E6C9FB29}" srcOrd="3" destOrd="0" parTransId="{8511BDBD-5328-4657-A628-9377803F455F}" sibTransId="{E12D2436-89F1-4DCB-8CD2-76643E41A515}"/>
    <dgm:cxn modelId="{A20A9CC7-9D76-6D40-B0E5-9D9845669B1A}" type="presParOf" srcId="{C1FB707C-D7BC-1740-9471-2238820703F2}" destId="{54DED419-C8E2-3148-B63A-9E4D1AB312A3}" srcOrd="0" destOrd="0" presId="urn:microsoft.com/office/officeart/2005/8/layout/default"/>
    <dgm:cxn modelId="{85F56739-61E1-914F-AC9D-68A4F57D248C}" type="presParOf" srcId="{C1FB707C-D7BC-1740-9471-2238820703F2}" destId="{BFF532D2-36F4-E045-9CF0-DBC68675BA89}" srcOrd="1" destOrd="0" presId="urn:microsoft.com/office/officeart/2005/8/layout/default"/>
    <dgm:cxn modelId="{EAE66148-8994-3148-A892-D52958117EA1}" type="presParOf" srcId="{C1FB707C-D7BC-1740-9471-2238820703F2}" destId="{1B5FEFE0-24AF-3B4D-AC41-A8104FBAB788}" srcOrd="2" destOrd="0" presId="urn:microsoft.com/office/officeart/2005/8/layout/default"/>
    <dgm:cxn modelId="{CD7F7CA1-5D20-E64F-B697-1E5D1EEDF920}" type="presParOf" srcId="{C1FB707C-D7BC-1740-9471-2238820703F2}" destId="{82072A82-B7AF-C34E-B149-1DCC54AC64C0}" srcOrd="3" destOrd="0" presId="urn:microsoft.com/office/officeart/2005/8/layout/default"/>
    <dgm:cxn modelId="{5F3DE6C6-9C3E-E54F-B667-260DC1C3A89C}" type="presParOf" srcId="{C1FB707C-D7BC-1740-9471-2238820703F2}" destId="{E6F03123-17F5-AD4D-B13D-D38A8C70671C}" srcOrd="4" destOrd="0" presId="urn:microsoft.com/office/officeart/2005/8/layout/default"/>
    <dgm:cxn modelId="{CD78C38B-AA19-CC4A-BEAD-F683E3A0A598}" type="presParOf" srcId="{C1FB707C-D7BC-1740-9471-2238820703F2}" destId="{735BB815-DA09-844D-B70A-0E210F07FE13}" srcOrd="5" destOrd="0" presId="urn:microsoft.com/office/officeart/2005/8/layout/default"/>
    <dgm:cxn modelId="{609104F3-CC1A-054D-B48A-0D6AF6449CDD}" type="presParOf" srcId="{C1FB707C-D7BC-1740-9471-2238820703F2}" destId="{838D5ED9-411F-DA42-BB5D-2DD41DC40FAC}" srcOrd="6" destOrd="0" presId="urn:microsoft.com/office/officeart/2005/8/layout/default"/>
    <dgm:cxn modelId="{22A8FBD9-2825-2D4B-84DE-A62F195865C0}" type="presParOf" srcId="{C1FB707C-D7BC-1740-9471-2238820703F2}" destId="{75017E7C-D164-BA4C-BD30-265EE77ED084}" srcOrd="7" destOrd="0" presId="urn:microsoft.com/office/officeart/2005/8/layout/default"/>
    <dgm:cxn modelId="{FDA579B7-D5B7-7542-AB6A-129E0834121B}" type="presParOf" srcId="{C1FB707C-D7BC-1740-9471-2238820703F2}" destId="{4095528B-A03A-6046-99FD-C8035999839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280584-B91C-4E91-9116-70E1504C56D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4C4F97-8D3D-4D2E-A1F7-AC3FCAE374D1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elderly in assisted homes continue to be victims of falls they can avoid, stumbling and fall hurts, coupled with unproven cases of poor health conditions. </a:t>
          </a:r>
        </a:p>
      </dgm:t>
    </dgm:pt>
    <dgm:pt modelId="{A71FB24D-15D4-494D-8D15-34CEB5F0C9D7}" type="parTrans" cxnId="{E69AF981-425B-405A-BFF8-E2D14849313F}">
      <dgm:prSet/>
      <dgm:spPr/>
      <dgm:t>
        <a:bodyPr/>
        <a:lstStyle/>
        <a:p>
          <a:endParaRPr lang="en-US"/>
        </a:p>
      </dgm:t>
    </dgm:pt>
    <dgm:pt modelId="{B37569E1-DEF2-4BDD-86F9-51BE41716447}" type="sibTrans" cxnId="{E69AF981-425B-405A-BFF8-E2D14849313F}">
      <dgm:prSet/>
      <dgm:spPr/>
      <dgm:t>
        <a:bodyPr/>
        <a:lstStyle/>
        <a:p>
          <a:endParaRPr lang="en-US"/>
        </a:p>
      </dgm:t>
    </dgm:pt>
    <dgm:pt modelId="{C8BDC1B1-5C57-4D7E-804E-92692599FD3C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existing systems are fragile and very loud and so tend to make a multitude of alerts that individuals have long since learning to ignore and result in the fatigue of being alerted.</a:t>
          </a:r>
        </a:p>
      </dgm:t>
    </dgm:pt>
    <dgm:pt modelId="{A8369FF1-AF68-41B0-AE7D-D109E731FA3D}" type="parTrans" cxnId="{BBA50030-BAC5-450B-B759-45842F56A729}">
      <dgm:prSet/>
      <dgm:spPr/>
      <dgm:t>
        <a:bodyPr/>
        <a:lstStyle/>
        <a:p>
          <a:endParaRPr lang="en-US"/>
        </a:p>
      </dgm:t>
    </dgm:pt>
    <dgm:pt modelId="{BB9A2013-895F-403B-9998-CA60D1D57309}" type="sibTrans" cxnId="{BBA50030-BAC5-450B-B759-45842F56A729}">
      <dgm:prSet/>
      <dgm:spPr/>
      <dgm:t>
        <a:bodyPr/>
        <a:lstStyle/>
        <a:p>
          <a:endParaRPr lang="en-US"/>
        </a:p>
      </dgm:t>
    </dgm:pt>
    <dgm:pt modelId="{51BAECFF-7DEE-425F-BE98-59E724D18B59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ML based solutions make it more accurate, reduces the cases of false alarms, and causes the caregivers to feel confident with the alerts that it indicates.</a:t>
          </a:r>
        </a:p>
      </dgm:t>
    </dgm:pt>
    <dgm:pt modelId="{A487D563-705F-4965-8F22-B072D4D0E7E4}" type="parTrans" cxnId="{2FF94F0A-138C-4203-B26A-517A422CC14A}">
      <dgm:prSet/>
      <dgm:spPr/>
      <dgm:t>
        <a:bodyPr/>
        <a:lstStyle/>
        <a:p>
          <a:endParaRPr lang="en-US"/>
        </a:p>
      </dgm:t>
    </dgm:pt>
    <dgm:pt modelId="{36CAA733-781B-4360-97D8-C1FE66C45FD1}" type="sibTrans" cxnId="{2FF94F0A-138C-4203-B26A-517A422CC14A}">
      <dgm:prSet/>
      <dgm:spPr/>
      <dgm:t>
        <a:bodyPr/>
        <a:lstStyle/>
        <a:p>
          <a:endParaRPr lang="en-US"/>
        </a:p>
      </dgm:t>
    </dgm:pt>
    <dgm:pt modelId="{7368816A-F017-624F-8F3E-7FFE30B60F3D}" type="pres">
      <dgm:prSet presAssocID="{98280584-B91C-4E91-9116-70E1504C56D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90C396-5F93-E14B-B459-BA84161ED0BB}" type="pres">
      <dgm:prSet presAssocID="{AD4C4F97-8D3D-4D2E-A1F7-AC3FCAE374D1}" presName="hierRoot1" presStyleCnt="0"/>
      <dgm:spPr/>
    </dgm:pt>
    <dgm:pt modelId="{AA7660CA-3244-D944-BBDA-1A4E80F61562}" type="pres">
      <dgm:prSet presAssocID="{AD4C4F97-8D3D-4D2E-A1F7-AC3FCAE374D1}" presName="composite" presStyleCnt="0"/>
      <dgm:spPr/>
    </dgm:pt>
    <dgm:pt modelId="{AB803E2A-792E-AF4C-A3E2-D24865E755C8}" type="pres">
      <dgm:prSet presAssocID="{AD4C4F97-8D3D-4D2E-A1F7-AC3FCAE374D1}" presName="background" presStyleLbl="node0" presStyleIdx="0" presStyleCnt="3"/>
      <dgm:spPr>
        <a:solidFill>
          <a:schemeClr val="tx2">
            <a:lumMod val="75000"/>
            <a:lumOff val="25000"/>
          </a:schemeClr>
        </a:solidFill>
        <a:ln>
          <a:solidFill>
            <a:schemeClr val="tx1"/>
          </a:solidFill>
        </a:ln>
      </dgm:spPr>
    </dgm:pt>
    <dgm:pt modelId="{95440FE2-4C67-A048-88C3-233707F5368C}" type="pres">
      <dgm:prSet presAssocID="{AD4C4F97-8D3D-4D2E-A1F7-AC3FCAE374D1}" presName="text" presStyleLbl="fgAcc0" presStyleIdx="0" presStyleCnt="3">
        <dgm:presLayoutVars>
          <dgm:chPref val="3"/>
        </dgm:presLayoutVars>
      </dgm:prSet>
      <dgm:spPr/>
    </dgm:pt>
    <dgm:pt modelId="{58BD2B68-85C1-9C4B-9D03-EBC627391DF6}" type="pres">
      <dgm:prSet presAssocID="{AD4C4F97-8D3D-4D2E-A1F7-AC3FCAE374D1}" presName="hierChild2" presStyleCnt="0"/>
      <dgm:spPr/>
    </dgm:pt>
    <dgm:pt modelId="{CE0346AA-3FF8-5A45-871E-983F5389999B}" type="pres">
      <dgm:prSet presAssocID="{C8BDC1B1-5C57-4D7E-804E-92692599FD3C}" presName="hierRoot1" presStyleCnt="0"/>
      <dgm:spPr/>
    </dgm:pt>
    <dgm:pt modelId="{7C24451B-5D5B-A948-89DF-D647765733AE}" type="pres">
      <dgm:prSet presAssocID="{C8BDC1B1-5C57-4D7E-804E-92692599FD3C}" presName="composite" presStyleCnt="0"/>
      <dgm:spPr/>
    </dgm:pt>
    <dgm:pt modelId="{13A3B444-140A-9E48-A300-8EE2362F5786}" type="pres">
      <dgm:prSet presAssocID="{C8BDC1B1-5C57-4D7E-804E-92692599FD3C}" presName="background" presStyleLbl="node0" presStyleIdx="1" presStyleCnt="3"/>
      <dgm:spPr>
        <a:solidFill>
          <a:schemeClr val="tx2">
            <a:lumMod val="75000"/>
            <a:lumOff val="25000"/>
          </a:schemeClr>
        </a:solidFill>
      </dgm:spPr>
    </dgm:pt>
    <dgm:pt modelId="{0A7D9E7E-91BC-3A42-9956-CAC270D79D78}" type="pres">
      <dgm:prSet presAssocID="{C8BDC1B1-5C57-4D7E-804E-92692599FD3C}" presName="text" presStyleLbl="fgAcc0" presStyleIdx="1" presStyleCnt="3">
        <dgm:presLayoutVars>
          <dgm:chPref val="3"/>
        </dgm:presLayoutVars>
      </dgm:prSet>
      <dgm:spPr/>
    </dgm:pt>
    <dgm:pt modelId="{688D9EB8-944A-274D-93A2-CCBFCC893264}" type="pres">
      <dgm:prSet presAssocID="{C8BDC1B1-5C57-4D7E-804E-92692599FD3C}" presName="hierChild2" presStyleCnt="0"/>
      <dgm:spPr/>
    </dgm:pt>
    <dgm:pt modelId="{107886D7-16EA-1049-883D-7AF17FC7B57E}" type="pres">
      <dgm:prSet presAssocID="{51BAECFF-7DEE-425F-BE98-59E724D18B59}" presName="hierRoot1" presStyleCnt="0"/>
      <dgm:spPr/>
    </dgm:pt>
    <dgm:pt modelId="{206BC126-6F1B-EE4C-A726-9B090C888415}" type="pres">
      <dgm:prSet presAssocID="{51BAECFF-7DEE-425F-BE98-59E724D18B59}" presName="composite" presStyleCnt="0"/>
      <dgm:spPr/>
    </dgm:pt>
    <dgm:pt modelId="{E59F019D-AB4C-1947-A94C-94E3C87405C3}" type="pres">
      <dgm:prSet presAssocID="{51BAECFF-7DEE-425F-BE98-59E724D18B59}" presName="background" presStyleLbl="node0" presStyleIdx="2" presStyleCnt="3"/>
      <dgm:spPr>
        <a:solidFill>
          <a:schemeClr val="tx2">
            <a:lumMod val="75000"/>
            <a:lumOff val="25000"/>
          </a:schemeClr>
        </a:solidFill>
      </dgm:spPr>
    </dgm:pt>
    <dgm:pt modelId="{9097D039-749F-274A-BB2E-E3F88C7BA6EE}" type="pres">
      <dgm:prSet presAssocID="{51BAECFF-7DEE-425F-BE98-59E724D18B59}" presName="text" presStyleLbl="fgAcc0" presStyleIdx="2" presStyleCnt="3">
        <dgm:presLayoutVars>
          <dgm:chPref val="3"/>
        </dgm:presLayoutVars>
      </dgm:prSet>
      <dgm:spPr/>
    </dgm:pt>
    <dgm:pt modelId="{76E9020D-7379-8E4D-B22C-2D9E14CB7C12}" type="pres">
      <dgm:prSet presAssocID="{51BAECFF-7DEE-425F-BE98-59E724D18B59}" presName="hierChild2" presStyleCnt="0"/>
      <dgm:spPr/>
    </dgm:pt>
  </dgm:ptLst>
  <dgm:cxnLst>
    <dgm:cxn modelId="{2FF94F0A-138C-4203-B26A-517A422CC14A}" srcId="{98280584-B91C-4E91-9116-70E1504C56D4}" destId="{51BAECFF-7DEE-425F-BE98-59E724D18B59}" srcOrd="2" destOrd="0" parTransId="{A487D563-705F-4965-8F22-B072D4D0E7E4}" sibTransId="{36CAA733-781B-4360-97D8-C1FE66C45FD1}"/>
    <dgm:cxn modelId="{B15ED01E-2484-064D-AD18-6F1583DAF848}" type="presOf" srcId="{51BAECFF-7DEE-425F-BE98-59E724D18B59}" destId="{9097D039-749F-274A-BB2E-E3F88C7BA6EE}" srcOrd="0" destOrd="0" presId="urn:microsoft.com/office/officeart/2005/8/layout/hierarchy1"/>
    <dgm:cxn modelId="{BBA50030-BAC5-450B-B759-45842F56A729}" srcId="{98280584-B91C-4E91-9116-70E1504C56D4}" destId="{C8BDC1B1-5C57-4D7E-804E-92692599FD3C}" srcOrd="1" destOrd="0" parTransId="{A8369FF1-AF68-41B0-AE7D-D109E731FA3D}" sibTransId="{BB9A2013-895F-403B-9998-CA60D1D57309}"/>
    <dgm:cxn modelId="{EBED6E31-B25C-9941-9BF4-065F33CE904B}" type="presOf" srcId="{98280584-B91C-4E91-9116-70E1504C56D4}" destId="{7368816A-F017-624F-8F3E-7FFE30B60F3D}" srcOrd="0" destOrd="0" presId="urn:microsoft.com/office/officeart/2005/8/layout/hierarchy1"/>
    <dgm:cxn modelId="{30C8C257-4E93-824C-A80E-4A67D4186EE5}" type="presOf" srcId="{C8BDC1B1-5C57-4D7E-804E-92692599FD3C}" destId="{0A7D9E7E-91BC-3A42-9956-CAC270D79D78}" srcOrd="0" destOrd="0" presId="urn:microsoft.com/office/officeart/2005/8/layout/hierarchy1"/>
    <dgm:cxn modelId="{E69AF981-425B-405A-BFF8-E2D14849313F}" srcId="{98280584-B91C-4E91-9116-70E1504C56D4}" destId="{AD4C4F97-8D3D-4D2E-A1F7-AC3FCAE374D1}" srcOrd="0" destOrd="0" parTransId="{A71FB24D-15D4-494D-8D15-34CEB5F0C9D7}" sibTransId="{B37569E1-DEF2-4BDD-86F9-51BE41716447}"/>
    <dgm:cxn modelId="{3E6125BC-08A2-9444-815F-46C448796B77}" type="presOf" srcId="{AD4C4F97-8D3D-4D2E-A1F7-AC3FCAE374D1}" destId="{95440FE2-4C67-A048-88C3-233707F5368C}" srcOrd="0" destOrd="0" presId="urn:microsoft.com/office/officeart/2005/8/layout/hierarchy1"/>
    <dgm:cxn modelId="{4C9A18EE-3CE8-7142-8899-F6768E788908}" type="presParOf" srcId="{7368816A-F017-624F-8F3E-7FFE30B60F3D}" destId="{2890C396-5F93-E14B-B459-BA84161ED0BB}" srcOrd="0" destOrd="0" presId="urn:microsoft.com/office/officeart/2005/8/layout/hierarchy1"/>
    <dgm:cxn modelId="{EEB2E803-F0C3-8042-AE95-076CBDDC67D7}" type="presParOf" srcId="{2890C396-5F93-E14B-B459-BA84161ED0BB}" destId="{AA7660CA-3244-D944-BBDA-1A4E80F61562}" srcOrd="0" destOrd="0" presId="urn:microsoft.com/office/officeart/2005/8/layout/hierarchy1"/>
    <dgm:cxn modelId="{B13B43E4-8138-1140-A5E2-1F7424A51A9F}" type="presParOf" srcId="{AA7660CA-3244-D944-BBDA-1A4E80F61562}" destId="{AB803E2A-792E-AF4C-A3E2-D24865E755C8}" srcOrd="0" destOrd="0" presId="urn:microsoft.com/office/officeart/2005/8/layout/hierarchy1"/>
    <dgm:cxn modelId="{4DC913F1-594A-8B4C-B4D8-AA13A01D47AB}" type="presParOf" srcId="{AA7660CA-3244-D944-BBDA-1A4E80F61562}" destId="{95440FE2-4C67-A048-88C3-233707F5368C}" srcOrd="1" destOrd="0" presId="urn:microsoft.com/office/officeart/2005/8/layout/hierarchy1"/>
    <dgm:cxn modelId="{E37B82E9-3F83-C840-B510-E9356271CFCE}" type="presParOf" srcId="{2890C396-5F93-E14B-B459-BA84161ED0BB}" destId="{58BD2B68-85C1-9C4B-9D03-EBC627391DF6}" srcOrd="1" destOrd="0" presId="urn:microsoft.com/office/officeart/2005/8/layout/hierarchy1"/>
    <dgm:cxn modelId="{AB6B0167-D9C3-F04B-9463-1AD0AE3D6020}" type="presParOf" srcId="{7368816A-F017-624F-8F3E-7FFE30B60F3D}" destId="{CE0346AA-3FF8-5A45-871E-983F5389999B}" srcOrd="1" destOrd="0" presId="urn:microsoft.com/office/officeart/2005/8/layout/hierarchy1"/>
    <dgm:cxn modelId="{9F0E3098-ED3A-9D4C-8562-0AA96AB525D2}" type="presParOf" srcId="{CE0346AA-3FF8-5A45-871E-983F5389999B}" destId="{7C24451B-5D5B-A948-89DF-D647765733AE}" srcOrd="0" destOrd="0" presId="urn:microsoft.com/office/officeart/2005/8/layout/hierarchy1"/>
    <dgm:cxn modelId="{422BE27A-4701-1544-ACC7-C36F64522020}" type="presParOf" srcId="{7C24451B-5D5B-A948-89DF-D647765733AE}" destId="{13A3B444-140A-9E48-A300-8EE2362F5786}" srcOrd="0" destOrd="0" presId="urn:microsoft.com/office/officeart/2005/8/layout/hierarchy1"/>
    <dgm:cxn modelId="{57EF2337-7290-F242-AB83-B8543586F50C}" type="presParOf" srcId="{7C24451B-5D5B-A948-89DF-D647765733AE}" destId="{0A7D9E7E-91BC-3A42-9956-CAC270D79D78}" srcOrd="1" destOrd="0" presId="urn:microsoft.com/office/officeart/2005/8/layout/hierarchy1"/>
    <dgm:cxn modelId="{0AD795C6-2478-5945-9185-D881B58741B8}" type="presParOf" srcId="{CE0346AA-3FF8-5A45-871E-983F5389999B}" destId="{688D9EB8-944A-274D-93A2-CCBFCC893264}" srcOrd="1" destOrd="0" presId="urn:microsoft.com/office/officeart/2005/8/layout/hierarchy1"/>
    <dgm:cxn modelId="{45BD4DF5-ABCF-6645-9773-A4A81052C99F}" type="presParOf" srcId="{7368816A-F017-624F-8F3E-7FFE30B60F3D}" destId="{107886D7-16EA-1049-883D-7AF17FC7B57E}" srcOrd="2" destOrd="0" presId="urn:microsoft.com/office/officeart/2005/8/layout/hierarchy1"/>
    <dgm:cxn modelId="{9361E86C-E75A-B248-BD6E-EEBFC03CCA44}" type="presParOf" srcId="{107886D7-16EA-1049-883D-7AF17FC7B57E}" destId="{206BC126-6F1B-EE4C-A726-9B090C888415}" srcOrd="0" destOrd="0" presId="urn:microsoft.com/office/officeart/2005/8/layout/hierarchy1"/>
    <dgm:cxn modelId="{FFDFF793-D48F-EC46-A479-BCB020FC7202}" type="presParOf" srcId="{206BC126-6F1B-EE4C-A726-9B090C888415}" destId="{E59F019D-AB4C-1947-A94C-94E3C87405C3}" srcOrd="0" destOrd="0" presId="urn:microsoft.com/office/officeart/2005/8/layout/hierarchy1"/>
    <dgm:cxn modelId="{B8D45A71-79E2-BE44-878D-AFD46705DA81}" type="presParOf" srcId="{206BC126-6F1B-EE4C-A726-9B090C888415}" destId="{9097D039-749F-274A-BB2E-E3F88C7BA6EE}" srcOrd="1" destOrd="0" presId="urn:microsoft.com/office/officeart/2005/8/layout/hierarchy1"/>
    <dgm:cxn modelId="{2EFCDC80-DADF-0F40-851F-86F5018E76D7}" type="presParOf" srcId="{107886D7-16EA-1049-883D-7AF17FC7B57E}" destId="{76E9020D-7379-8E4D-B22C-2D9E14CB7C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FF855F-96D4-44DC-9584-705C6F126B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BCDDF8B-3710-4E65-8E3F-6DBD255852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ML/DL: </a:t>
          </a:r>
          <a:r>
            <a:rPr lang="en-US"/>
            <a:t>PyTorch / TensorFlow (IMU CNN, MobileNetV3, fusion MLP)</a:t>
          </a:r>
        </a:p>
      </dgm:t>
    </dgm:pt>
    <dgm:pt modelId="{20A9E973-8BD1-49B3-9D09-BF05D2FCECC5}" type="parTrans" cxnId="{479D05E4-B8FA-44F1-B00C-A065977A210A}">
      <dgm:prSet/>
      <dgm:spPr/>
      <dgm:t>
        <a:bodyPr/>
        <a:lstStyle/>
        <a:p>
          <a:endParaRPr lang="en-US"/>
        </a:p>
      </dgm:t>
    </dgm:pt>
    <dgm:pt modelId="{941E1393-149C-4E97-BDE7-5CCF1D2E2C5E}" type="sibTrans" cxnId="{479D05E4-B8FA-44F1-B00C-A065977A210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D2C7F1-C5B8-48A6-BB2A-8F464BAA00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Serving: </a:t>
          </a:r>
          <a:r>
            <a:rPr lang="en-US"/>
            <a:t>NVIDIA Triton (GPU) or ONNX Runtime/TFLite (edge)</a:t>
          </a:r>
        </a:p>
      </dgm:t>
    </dgm:pt>
    <dgm:pt modelId="{8012AA94-B631-408F-8A21-3FDA2C08ED3B}" type="parTrans" cxnId="{24174C28-3EB1-4E9B-B72C-CEA75CBAAF40}">
      <dgm:prSet/>
      <dgm:spPr/>
      <dgm:t>
        <a:bodyPr/>
        <a:lstStyle/>
        <a:p>
          <a:endParaRPr lang="en-US"/>
        </a:p>
      </dgm:t>
    </dgm:pt>
    <dgm:pt modelId="{05406251-63BB-460A-8256-2DEB3E0F98BA}" type="sibTrans" cxnId="{24174C28-3EB1-4E9B-B72C-CEA75CBAAF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CB6885C-B55E-48C5-AB69-8BAF62EF0D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Streaming</a:t>
          </a:r>
          <a:r>
            <a:rPr lang="en-US"/>
            <a:t>: Redpanda/Kafka topics (inference.events, alerts.raised)</a:t>
          </a:r>
        </a:p>
      </dgm:t>
    </dgm:pt>
    <dgm:pt modelId="{729CE13D-D42F-47A4-BA74-3EFE1AD9263D}" type="parTrans" cxnId="{BBF6AC90-09FB-4A56-AFEE-7E79EA307E20}">
      <dgm:prSet/>
      <dgm:spPr/>
      <dgm:t>
        <a:bodyPr/>
        <a:lstStyle/>
        <a:p>
          <a:endParaRPr lang="en-US"/>
        </a:p>
      </dgm:t>
    </dgm:pt>
    <dgm:pt modelId="{50E320DD-CCF1-4DED-9FE8-D638141042D8}" type="sibTrans" cxnId="{BBF6AC90-09FB-4A56-AFEE-7E79EA307E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C426BE0-D066-4430-9B18-6A439CEB4D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APIs/UI: </a:t>
          </a:r>
          <a:r>
            <a:rPr lang="en-US"/>
            <a:t>FastAPI (REST + SSE), React/Next.js (dashboard)</a:t>
          </a:r>
        </a:p>
      </dgm:t>
    </dgm:pt>
    <dgm:pt modelId="{6F27E4DF-BCB0-4196-B18A-A6876FC1918E}" type="parTrans" cxnId="{DE08D809-1965-443D-8099-EE6C708A18D6}">
      <dgm:prSet/>
      <dgm:spPr/>
      <dgm:t>
        <a:bodyPr/>
        <a:lstStyle/>
        <a:p>
          <a:endParaRPr lang="en-US"/>
        </a:p>
      </dgm:t>
    </dgm:pt>
    <dgm:pt modelId="{4FC992DE-8CC7-4E2E-933A-151B16280FAB}" type="sibTrans" cxnId="{DE08D809-1965-443D-8099-EE6C708A18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925AB20-FAF0-47F6-B4A9-886B7C4428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EHR: </a:t>
          </a:r>
          <a:r>
            <a:rPr lang="en-US" dirty="0"/>
            <a:t>SMART on FHIR bridge (Observations, Detected Issues)</a:t>
          </a:r>
        </a:p>
      </dgm:t>
    </dgm:pt>
    <dgm:pt modelId="{C1457B99-86B7-4349-85C3-B2E5EC7C9D77}" type="parTrans" cxnId="{1B02D8AE-14F3-494D-857D-A26C7D8649A1}">
      <dgm:prSet/>
      <dgm:spPr/>
      <dgm:t>
        <a:bodyPr/>
        <a:lstStyle/>
        <a:p>
          <a:endParaRPr lang="en-US"/>
        </a:p>
      </dgm:t>
    </dgm:pt>
    <dgm:pt modelId="{AE5F9B69-2862-4A0F-B5F9-3C4A0C550FE4}" type="sibTrans" cxnId="{1B02D8AE-14F3-494D-857D-A26C7D8649A1}">
      <dgm:prSet/>
      <dgm:spPr/>
      <dgm:t>
        <a:bodyPr/>
        <a:lstStyle/>
        <a:p>
          <a:endParaRPr lang="en-US"/>
        </a:p>
      </dgm:t>
    </dgm:pt>
    <dgm:pt modelId="{3D0BE665-FDA3-0C46-8B54-C55CBCB164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Virtual Studio Code</a:t>
          </a:r>
        </a:p>
      </dgm:t>
    </dgm:pt>
    <dgm:pt modelId="{947D7739-E83A-0C4A-8E7A-173B4D3C24CF}" type="parTrans" cxnId="{794CEE10-5864-B047-B87D-EC2E9FA2227E}">
      <dgm:prSet/>
      <dgm:spPr/>
      <dgm:t>
        <a:bodyPr/>
        <a:lstStyle/>
        <a:p>
          <a:endParaRPr lang="en-US"/>
        </a:p>
      </dgm:t>
    </dgm:pt>
    <dgm:pt modelId="{354237DD-6992-C346-ADDB-2EA5FFC5C388}" type="sibTrans" cxnId="{794CEE10-5864-B047-B87D-EC2E9FA222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9CFB69-B811-4CE0-B41A-F7F3E085B76D}" type="pres">
      <dgm:prSet presAssocID="{CDFF855F-96D4-44DC-9584-705C6F126BE7}" presName="root" presStyleCnt="0">
        <dgm:presLayoutVars>
          <dgm:dir/>
          <dgm:resizeHandles val="exact"/>
        </dgm:presLayoutVars>
      </dgm:prSet>
      <dgm:spPr/>
    </dgm:pt>
    <dgm:pt modelId="{ED04AAF1-8E1E-42A9-9566-8C12C8C8D63C}" type="pres">
      <dgm:prSet presAssocID="{CDFF855F-96D4-44DC-9584-705C6F126BE7}" presName="container" presStyleCnt="0">
        <dgm:presLayoutVars>
          <dgm:dir/>
          <dgm:resizeHandles val="exact"/>
        </dgm:presLayoutVars>
      </dgm:prSet>
      <dgm:spPr/>
    </dgm:pt>
    <dgm:pt modelId="{39FB9347-933C-4C49-B083-F5343110BCB9}" type="pres">
      <dgm:prSet presAssocID="{3BCDDF8B-3710-4E65-8E3F-6DBD255852A4}" presName="compNode" presStyleCnt="0"/>
      <dgm:spPr/>
    </dgm:pt>
    <dgm:pt modelId="{DC8AFECA-11AC-4DEC-AAE2-110B8B4A8403}" type="pres">
      <dgm:prSet presAssocID="{3BCDDF8B-3710-4E65-8E3F-6DBD255852A4}" presName="iconBgRect" presStyleLbl="bgShp" presStyleIdx="0" presStyleCnt="6"/>
      <dgm:spPr>
        <a:solidFill>
          <a:schemeClr val="tx2">
            <a:lumMod val="75000"/>
            <a:lumOff val="25000"/>
          </a:schemeClr>
        </a:solidFill>
      </dgm:spPr>
    </dgm:pt>
    <dgm:pt modelId="{513880F2-AC83-4B53-A333-EE82C331B948}" type="pres">
      <dgm:prSet presAssocID="{3BCDDF8B-3710-4E65-8E3F-6DBD255852A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C72711CA-CCF5-4C92-871C-B86560B697B2}" type="pres">
      <dgm:prSet presAssocID="{3BCDDF8B-3710-4E65-8E3F-6DBD255852A4}" presName="spaceRect" presStyleCnt="0"/>
      <dgm:spPr/>
    </dgm:pt>
    <dgm:pt modelId="{F6129AE9-0B0B-4293-B2BC-245683761B19}" type="pres">
      <dgm:prSet presAssocID="{3BCDDF8B-3710-4E65-8E3F-6DBD255852A4}" presName="textRect" presStyleLbl="revTx" presStyleIdx="0" presStyleCnt="6">
        <dgm:presLayoutVars>
          <dgm:chMax val="1"/>
          <dgm:chPref val="1"/>
        </dgm:presLayoutVars>
      </dgm:prSet>
      <dgm:spPr/>
    </dgm:pt>
    <dgm:pt modelId="{6C2FAE80-8732-4148-B3A6-7F26BA2BF056}" type="pres">
      <dgm:prSet presAssocID="{941E1393-149C-4E97-BDE7-5CCF1D2E2C5E}" presName="sibTrans" presStyleLbl="sibTrans2D1" presStyleIdx="0" presStyleCnt="0"/>
      <dgm:spPr/>
    </dgm:pt>
    <dgm:pt modelId="{568885BB-6FB0-EC4A-8828-28713EC855F6}" type="pres">
      <dgm:prSet presAssocID="{3D0BE665-FDA3-0C46-8B54-C55CBCB16476}" presName="compNode" presStyleCnt="0"/>
      <dgm:spPr/>
    </dgm:pt>
    <dgm:pt modelId="{47B0561B-123C-524D-94CA-755377CEB95C}" type="pres">
      <dgm:prSet presAssocID="{3D0BE665-FDA3-0C46-8B54-C55CBCB16476}" presName="iconBgRect" presStyleLbl="bgShp" presStyleIdx="1" presStyleCnt="6"/>
      <dgm:spPr>
        <a:solidFill>
          <a:schemeClr val="tx2">
            <a:lumMod val="75000"/>
            <a:lumOff val="25000"/>
          </a:schemeClr>
        </a:solidFill>
      </dgm:spPr>
    </dgm:pt>
    <dgm:pt modelId="{FDE39B48-3F6A-F244-A24C-67A65F7D10D1}" type="pres">
      <dgm:prSet presAssocID="{3D0BE665-FDA3-0C46-8B54-C55CBCB16476}" presName="iconRect" presStyleLbl="node1" presStyleIdx="1" presStyleCnt="6" custScaleX="101661"/>
      <dgm:spPr>
        <a:blipFill>
          <a:blip xmlns:r="http://schemas.openxmlformats.org/officeDocument/2006/relationships" r:embed="rId3"/>
          <a:srcRect/>
          <a:stretch>
            <a:fillRect l="-29000" r="-29000"/>
          </a:stretch>
        </a:blipFill>
      </dgm:spPr>
    </dgm:pt>
    <dgm:pt modelId="{1846DD01-779F-2B48-8DC2-F55AEAFB097A}" type="pres">
      <dgm:prSet presAssocID="{3D0BE665-FDA3-0C46-8B54-C55CBCB16476}" presName="spaceRect" presStyleCnt="0"/>
      <dgm:spPr/>
    </dgm:pt>
    <dgm:pt modelId="{99FA2420-E20B-B34F-9E9C-0227DF88C6DF}" type="pres">
      <dgm:prSet presAssocID="{3D0BE665-FDA3-0C46-8B54-C55CBCB16476}" presName="textRect" presStyleLbl="revTx" presStyleIdx="1" presStyleCnt="6">
        <dgm:presLayoutVars>
          <dgm:chMax val="1"/>
          <dgm:chPref val="1"/>
        </dgm:presLayoutVars>
      </dgm:prSet>
      <dgm:spPr/>
    </dgm:pt>
    <dgm:pt modelId="{AA1D6EBE-CBA8-BE45-BF55-8AEC9D959EFB}" type="pres">
      <dgm:prSet presAssocID="{354237DD-6992-C346-ADDB-2EA5FFC5C388}" presName="sibTrans" presStyleLbl="sibTrans2D1" presStyleIdx="0" presStyleCnt="0"/>
      <dgm:spPr/>
    </dgm:pt>
    <dgm:pt modelId="{0EFB75C7-647F-4A49-89B7-9EEF00A047AF}" type="pres">
      <dgm:prSet presAssocID="{23D2C7F1-C5B8-48A6-BB2A-8F464BAA006B}" presName="compNode" presStyleCnt="0"/>
      <dgm:spPr/>
    </dgm:pt>
    <dgm:pt modelId="{7999EC68-9D40-46CC-8FEF-80E49AE8A9E0}" type="pres">
      <dgm:prSet presAssocID="{23D2C7F1-C5B8-48A6-BB2A-8F464BAA006B}" presName="iconBgRect" presStyleLbl="bgShp" presStyleIdx="2" presStyleCnt="6"/>
      <dgm:spPr>
        <a:solidFill>
          <a:schemeClr val="tx2">
            <a:lumMod val="75000"/>
            <a:lumOff val="25000"/>
          </a:schemeClr>
        </a:solidFill>
      </dgm:spPr>
    </dgm:pt>
    <dgm:pt modelId="{7ABB208F-EA57-481F-8D57-C860EB22AD34}" type="pres">
      <dgm:prSet presAssocID="{23D2C7F1-C5B8-48A6-BB2A-8F464BAA006B}" presName="iconRect" presStyleLbl="node1" presStyleIdx="2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593AE4E-DCFE-42B9-8BD0-7180428856BF}" type="pres">
      <dgm:prSet presAssocID="{23D2C7F1-C5B8-48A6-BB2A-8F464BAA006B}" presName="spaceRect" presStyleCnt="0"/>
      <dgm:spPr/>
    </dgm:pt>
    <dgm:pt modelId="{E07BC5C9-EDF7-449C-BCFD-27EA5F18F1D4}" type="pres">
      <dgm:prSet presAssocID="{23D2C7F1-C5B8-48A6-BB2A-8F464BAA006B}" presName="textRect" presStyleLbl="revTx" presStyleIdx="2" presStyleCnt="6">
        <dgm:presLayoutVars>
          <dgm:chMax val="1"/>
          <dgm:chPref val="1"/>
        </dgm:presLayoutVars>
      </dgm:prSet>
      <dgm:spPr/>
    </dgm:pt>
    <dgm:pt modelId="{FB776D01-2D5B-4851-8FCC-FD507FD721BF}" type="pres">
      <dgm:prSet presAssocID="{05406251-63BB-460A-8256-2DEB3E0F98BA}" presName="sibTrans" presStyleLbl="sibTrans2D1" presStyleIdx="0" presStyleCnt="0"/>
      <dgm:spPr/>
    </dgm:pt>
    <dgm:pt modelId="{F8F0DC24-4058-44C4-9549-B4E8BCCCE921}" type="pres">
      <dgm:prSet presAssocID="{ECB6885C-B55E-48C5-AB69-8BAF62EF0DFC}" presName="compNode" presStyleCnt="0"/>
      <dgm:spPr/>
    </dgm:pt>
    <dgm:pt modelId="{F0379356-C5D3-4A6C-A430-3B3777AC483B}" type="pres">
      <dgm:prSet presAssocID="{ECB6885C-B55E-48C5-AB69-8BAF62EF0DFC}" presName="iconBgRect" presStyleLbl="bgShp" presStyleIdx="3" presStyleCnt="6"/>
      <dgm:spPr>
        <a:solidFill>
          <a:schemeClr val="tx2">
            <a:lumMod val="75000"/>
            <a:lumOff val="25000"/>
          </a:schemeClr>
        </a:solidFill>
      </dgm:spPr>
    </dgm:pt>
    <dgm:pt modelId="{19AB4830-A118-437A-8DE4-CEC1E7F2B0DB}" type="pres">
      <dgm:prSet presAssocID="{ECB6885C-B55E-48C5-AB69-8BAF62EF0DFC}" presName="iconRect" presStyleLbl="node1" presStyleIdx="3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FFC9145A-F73C-41F2-B5D3-617902302B50}" type="pres">
      <dgm:prSet presAssocID="{ECB6885C-B55E-48C5-AB69-8BAF62EF0DFC}" presName="spaceRect" presStyleCnt="0"/>
      <dgm:spPr/>
    </dgm:pt>
    <dgm:pt modelId="{43AD0110-D205-4CB5-8631-C3AE118A8D70}" type="pres">
      <dgm:prSet presAssocID="{ECB6885C-B55E-48C5-AB69-8BAF62EF0DFC}" presName="textRect" presStyleLbl="revTx" presStyleIdx="3" presStyleCnt="6">
        <dgm:presLayoutVars>
          <dgm:chMax val="1"/>
          <dgm:chPref val="1"/>
        </dgm:presLayoutVars>
      </dgm:prSet>
      <dgm:spPr/>
    </dgm:pt>
    <dgm:pt modelId="{1173B46F-967E-45BA-8BE2-CF3476124E23}" type="pres">
      <dgm:prSet presAssocID="{50E320DD-CCF1-4DED-9FE8-D638141042D8}" presName="sibTrans" presStyleLbl="sibTrans2D1" presStyleIdx="0" presStyleCnt="0"/>
      <dgm:spPr/>
    </dgm:pt>
    <dgm:pt modelId="{6ECC997C-3372-4241-9FFD-7893DC6BA73A}" type="pres">
      <dgm:prSet presAssocID="{3C426BE0-D066-4430-9B18-6A439CEB4D83}" presName="compNode" presStyleCnt="0"/>
      <dgm:spPr/>
    </dgm:pt>
    <dgm:pt modelId="{3FE385AE-1C3A-46A7-B560-57D9D566500F}" type="pres">
      <dgm:prSet presAssocID="{3C426BE0-D066-4430-9B18-6A439CEB4D83}" presName="iconBgRect" presStyleLbl="bgShp" presStyleIdx="4" presStyleCnt="6"/>
      <dgm:spPr>
        <a:solidFill>
          <a:schemeClr val="tx2">
            <a:lumMod val="75000"/>
            <a:lumOff val="25000"/>
          </a:schemeClr>
        </a:solidFill>
      </dgm:spPr>
    </dgm:pt>
    <dgm:pt modelId="{04B0A5D7-18AF-4A0E-B95A-2B4475445341}" type="pres">
      <dgm:prSet presAssocID="{3C426BE0-D066-4430-9B18-6A439CEB4D83}" presName="iconRect" presStyleLbl="node1" presStyleIdx="4" presStyleCnt="6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AD9545E-BEBF-4245-B1E8-287D2FC439BA}" type="pres">
      <dgm:prSet presAssocID="{3C426BE0-D066-4430-9B18-6A439CEB4D83}" presName="spaceRect" presStyleCnt="0"/>
      <dgm:spPr/>
    </dgm:pt>
    <dgm:pt modelId="{C01CCA47-ECA0-4703-8EF6-D84FE9FA4994}" type="pres">
      <dgm:prSet presAssocID="{3C426BE0-D066-4430-9B18-6A439CEB4D83}" presName="textRect" presStyleLbl="revTx" presStyleIdx="4" presStyleCnt="6">
        <dgm:presLayoutVars>
          <dgm:chMax val="1"/>
          <dgm:chPref val="1"/>
        </dgm:presLayoutVars>
      </dgm:prSet>
      <dgm:spPr/>
    </dgm:pt>
    <dgm:pt modelId="{919C4BC1-5469-42E0-8A49-A8DB403E4675}" type="pres">
      <dgm:prSet presAssocID="{4FC992DE-8CC7-4E2E-933A-151B16280FAB}" presName="sibTrans" presStyleLbl="sibTrans2D1" presStyleIdx="0" presStyleCnt="0"/>
      <dgm:spPr/>
    </dgm:pt>
    <dgm:pt modelId="{938AD7B4-06D9-4172-8FE6-B23DB80890B8}" type="pres">
      <dgm:prSet presAssocID="{D925AB20-FAF0-47F6-B4A9-886B7C4428F1}" presName="compNode" presStyleCnt="0"/>
      <dgm:spPr/>
    </dgm:pt>
    <dgm:pt modelId="{DC03B542-E6C7-4548-A3A7-0AD2B9FD58C2}" type="pres">
      <dgm:prSet presAssocID="{D925AB20-FAF0-47F6-B4A9-886B7C4428F1}" presName="iconBgRect" presStyleLbl="bgShp" presStyleIdx="5" presStyleCnt="6"/>
      <dgm:spPr>
        <a:solidFill>
          <a:schemeClr val="tx2">
            <a:lumMod val="75000"/>
            <a:lumOff val="25000"/>
          </a:schemeClr>
        </a:solidFill>
      </dgm:spPr>
    </dgm:pt>
    <dgm:pt modelId="{4A5D70EF-A153-4687-8D83-53674D365D48}" type="pres">
      <dgm:prSet presAssocID="{D925AB20-FAF0-47F6-B4A9-886B7C4428F1}" presName="iconRect" presStyleLbl="node1" presStyleIdx="5" presStyleCnt="6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A6EE39DA-1D4A-47F6-8E34-920732627A85}" type="pres">
      <dgm:prSet presAssocID="{D925AB20-FAF0-47F6-B4A9-886B7C4428F1}" presName="spaceRect" presStyleCnt="0"/>
      <dgm:spPr/>
    </dgm:pt>
    <dgm:pt modelId="{121A6228-D885-4CBA-8653-4CC40C82615F}" type="pres">
      <dgm:prSet presAssocID="{D925AB20-FAF0-47F6-B4A9-886B7C4428F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E08D809-1965-443D-8099-EE6C708A18D6}" srcId="{CDFF855F-96D4-44DC-9584-705C6F126BE7}" destId="{3C426BE0-D066-4430-9B18-6A439CEB4D83}" srcOrd="4" destOrd="0" parTransId="{6F27E4DF-BCB0-4196-B18A-A6876FC1918E}" sibTransId="{4FC992DE-8CC7-4E2E-933A-151B16280FAB}"/>
    <dgm:cxn modelId="{7907910E-D847-4E37-AA99-5A4AD6627087}" type="presOf" srcId="{50E320DD-CCF1-4DED-9FE8-D638141042D8}" destId="{1173B46F-967E-45BA-8BE2-CF3476124E23}" srcOrd="0" destOrd="0" presId="urn:microsoft.com/office/officeart/2018/2/layout/IconCircleList"/>
    <dgm:cxn modelId="{794CEE10-5864-B047-B87D-EC2E9FA2227E}" srcId="{CDFF855F-96D4-44DC-9584-705C6F126BE7}" destId="{3D0BE665-FDA3-0C46-8B54-C55CBCB16476}" srcOrd="1" destOrd="0" parTransId="{947D7739-E83A-0C4A-8E7A-173B4D3C24CF}" sibTransId="{354237DD-6992-C346-ADDB-2EA5FFC5C388}"/>
    <dgm:cxn modelId="{2C88B219-B38E-7746-B8BB-42C463EB5CE8}" type="presOf" srcId="{3D0BE665-FDA3-0C46-8B54-C55CBCB16476}" destId="{99FA2420-E20B-B34F-9E9C-0227DF88C6DF}" srcOrd="0" destOrd="0" presId="urn:microsoft.com/office/officeart/2018/2/layout/IconCircleList"/>
    <dgm:cxn modelId="{B6D81624-D8A2-41DA-A808-4DF6582E05E2}" type="presOf" srcId="{4FC992DE-8CC7-4E2E-933A-151B16280FAB}" destId="{919C4BC1-5469-42E0-8A49-A8DB403E4675}" srcOrd="0" destOrd="0" presId="urn:microsoft.com/office/officeart/2018/2/layout/IconCircleList"/>
    <dgm:cxn modelId="{24174C28-3EB1-4E9B-B72C-CEA75CBAAF40}" srcId="{CDFF855F-96D4-44DC-9584-705C6F126BE7}" destId="{23D2C7F1-C5B8-48A6-BB2A-8F464BAA006B}" srcOrd="2" destOrd="0" parTransId="{8012AA94-B631-408F-8A21-3FDA2C08ED3B}" sibTransId="{05406251-63BB-460A-8256-2DEB3E0F98BA}"/>
    <dgm:cxn modelId="{897C3A2D-364E-47AC-A9C7-1131BF0C51D8}" type="presOf" srcId="{3BCDDF8B-3710-4E65-8E3F-6DBD255852A4}" destId="{F6129AE9-0B0B-4293-B2BC-245683761B19}" srcOrd="0" destOrd="0" presId="urn:microsoft.com/office/officeart/2018/2/layout/IconCircleList"/>
    <dgm:cxn modelId="{98DDC52F-F58B-40E1-A1EC-7FDDFC3E5291}" type="presOf" srcId="{941E1393-149C-4E97-BDE7-5CCF1D2E2C5E}" destId="{6C2FAE80-8732-4148-B3A6-7F26BA2BF056}" srcOrd="0" destOrd="0" presId="urn:microsoft.com/office/officeart/2018/2/layout/IconCircleList"/>
    <dgm:cxn modelId="{A48B843E-CBB4-4ECF-A0CB-C48DA5D9E9FC}" type="presOf" srcId="{CDFF855F-96D4-44DC-9584-705C6F126BE7}" destId="{949CFB69-B811-4CE0-B41A-F7F3E085B76D}" srcOrd="0" destOrd="0" presId="urn:microsoft.com/office/officeart/2018/2/layout/IconCircleList"/>
    <dgm:cxn modelId="{44E69849-84A5-4C66-B996-B04C1AE6BFED}" type="presOf" srcId="{05406251-63BB-460A-8256-2DEB3E0F98BA}" destId="{FB776D01-2D5B-4851-8FCC-FD507FD721BF}" srcOrd="0" destOrd="0" presId="urn:microsoft.com/office/officeart/2018/2/layout/IconCircleList"/>
    <dgm:cxn modelId="{A9FC0457-468C-CE47-9082-5CE35393EF91}" type="presOf" srcId="{354237DD-6992-C346-ADDB-2EA5FFC5C388}" destId="{AA1D6EBE-CBA8-BE45-BF55-8AEC9D959EFB}" srcOrd="0" destOrd="0" presId="urn:microsoft.com/office/officeart/2018/2/layout/IconCircleList"/>
    <dgm:cxn modelId="{D18D0B6B-759D-4567-A1F0-A543B1C611FD}" type="presOf" srcId="{3C426BE0-D066-4430-9B18-6A439CEB4D83}" destId="{C01CCA47-ECA0-4703-8EF6-D84FE9FA4994}" srcOrd="0" destOrd="0" presId="urn:microsoft.com/office/officeart/2018/2/layout/IconCircleList"/>
    <dgm:cxn modelId="{BBF6AC90-09FB-4A56-AFEE-7E79EA307E20}" srcId="{CDFF855F-96D4-44DC-9584-705C6F126BE7}" destId="{ECB6885C-B55E-48C5-AB69-8BAF62EF0DFC}" srcOrd="3" destOrd="0" parTransId="{729CE13D-D42F-47A4-BA74-3EFE1AD9263D}" sibTransId="{50E320DD-CCF1-4DED-9FE8-D638141042D8}"/>
    <dgm:cxn modelId="{012E7EA6-543F-4524-8988-B40F69428E33}" type="presOf" srcId="{D925AB20-FAF0-47F6-B4A9-886B7C4428F1}" destId="{121A6228-D885-4CBA-8653-4CC40C82615F}" srcOrd="0" destOrd="0" presId="urn:microsoft.com/office/officeart/2018/2/layout/IconCircleList"/>
    <dgm:cxn modelId="{1DC883AE-EE58-441D-87BB-6E330964B125}" type="presOf" srcId="{ECB6885C-B55E-48C5-AB69-8BAF62EF0DFC}" destId="{43AD0110-D205-4CB5-8631-C3AE118A8D70}" srcOrd="0" destOrd="0" presId="urn:microsoft.com/office/officeart/2018/2/layout/IconCircleList"/>
    <dgm:cxn modelId="{1B02D8AE-14F3-494D-857D-A26C7D8649A1}" srcId="{CDFF855F-96D4-44DC-9584-705C6F126BE7}" destId="{D925AB20-FAF0-47F6-B4A9-886B7C4428F1}" srcOrd="5" destOrd="0" parTransId="{C1457B99-86B7-4349-85C3-B2E5EC7C9D77}" sibTransId="{AE5F9B69-2862-4A0F-B5F9-3C4A0C550FE4}"/>
    <dgm:cxn modelId="{A242C9D6-5608-480C-BB15-755A08998488}" type="presOf" srcId="{23D2C7F1-C5B8-48A6-BB2A-8F464BAA006B}" destId="{E07BC5C9-EDF7-449C-BCFD-27EA5F18F1D4}" srcOrd="0" destOrd="0" presId="urn:microsoft.com/office/officeart/2018/2/layout/IconCircleList"/>
    <dgm:cxn modelId="{479D05E4-B8FA-44F1-B00C-A065977A210A}" srcId="{CDFF855F-96D4-44DC-9584-705C6F126BE7}" destId="{3BCDDF8B-3710-4E65-8E3F-6DBD255852A4}" srcOrd="0" destOrd="0" parTransId="{20A9E973-8BD1-49B3-9D09-BF05D2FCECC5}" sibTransId="{941E1393-149C-4E97-BDE7-5CCF1D2E2C5E}"/>
    <dgm:cxn modelId="{04C3E145-6D64-4C6F-AB07-FF03726D145A}" type="presParOf" srcId="{949CFB69-B811-4CE0-B41A-F7F3E085B76D}" destId="{ED04AAF1-8E1E-42A9-9566-8C12C8C8D63C}" srcOrd="0" destOrd="0" presId="urn:microsoft.com/office/officeart/2018/2/layout/IconCircleList"/>
    <dgm:cxn modelId="{1F955E17-4880-4A8B-BBCC-8EAAB198F892}" type="presParOf" srcId="{ED04AAF1-8E1E-42A9-9566-8C12C8C8D63C}" destId="{39FB9347-933C-4C49-B083-F5343110BCB9}" srcOrd="0" destOrd="0" presId="urn:microsoft.com/office/officeart/2018/2/layout/IconCircleList"/>
    <dgm:cxn modelId="{C9948BA6-509F-4D39-A3AD-ED6D2EA4DBA6}" type="presParOf" srcId="{39FB9347-933C-4C49-B083-F5343110BCB9}" destId="{DC8AFECA-11AC-4DEC-AAE2-110B8B4A8403}" srcOrd="0" destOrd="0" presId="urn:microsoft.com/office/officeart/2018/2/layout/IconCircleList"/>
    <dgm:cxn modelId="{F0CE80F2-FCBE-4502-A5E4-0451E4445C97}" type="presParOf" srcId="{39FB9347-933C-4C49-B083-F5343110BCB9}" destId="{513880F2-AC83-4B53-A333-EE82C331B948}" srcOrd="1" destOrd="0" presId="urn:microsoft.com/office/officeart/2018/2/layout/IconCircleList"/>
    <dgm:cxn modelId="{24C02192-7E73-4E32-AAAE-6AA4F1AE10C4}" type="presParOf" srcId="{39FB9347-933C-4C49-B083-F5343110BCB9}" destId="{C72711CA-CCF5-4C92-871C-B86560B697B2}" srcOrd="2" destOrd="0" presId="urn:microsoft.com/office/officeart/2018/2/layout/IconCircleList"/>
    <dgm:cxn modelId="{9645B26B-F160-447C-9F2F-326D85E2B9AB}" type="presParOf" srcId="{39FB9347-933C-4C49-B083-F5343110BCB9}" destId="{F6129AE9-0B0B-4293-B2BC-245683761B19}" srcOrd="3" destOrd="0" presId="urn:microsoft.com/office/officeart/2018/2/layout/IconCircleList"/>
    <dgm:cxn modelId="{CBBE4405-079A-42AE-B3E2-B182C15FCAC1}" type="presParOf" srcId="{ED04AAF1-8E1E-42A9-9566-8C12C8C8D63C}" destId="{6C2FAE80-8732-4148-B3A6-7F26BA2BF056}" srcOrd="1" destOrd="0" presId="urn:microsoft.com/office/officeart/2018/2/layout/IconCircleList"/>
    <dgm:cxn modelId="{128D4AF0-F98D-1842-AB52-A2C767A2DEAB}" type="presParOf" srcId="{ED04AAF1-8E1E-42A9-9566-8C12C8C8D63C}" destId="{568885BB-6FB0-EC4A-8828-28713EC855F6}" srcOrd="2" destOrd="0" presId="urn:microsoft.com/office/officeart/2018/2/layout/IconCircleList"/>
    <dgm:cxn modelId="{7ADCFC07-B2F1-0D43-9498-AB9609D9B243}" type="presParOf" srcId="{568885BB-6FB0-EC4A-8828-28713EC855F6}" destId="{47B0561B-123C-524D-94CA-755377CEB95C}" srcOrd="0" destOrd="0" presId="urn:microsoft.com/office/officeart/2018/2/layout/IconCircleList"/>
    <dgm:cxn modelId="{60C36498-54D1-094E-A97E-ECE1AF320A34}" type="presParOf" srcId="{568885BB-6FB0-EC4A-8828-28713EC855F6}" destId="{FDE39B48-3F6A-F244-A24C-67A65F7D10D1}" srcOrd="1" destOrd="0" presId="urn:microsoft.com/office/officeart/2018/2/layout/IconCircleList"/>
    <dgm:cxn modelId="{1FBA2407-2B6D-E247-A254-74A6D9EC6124}" type="presParOf" srcId="{568885BB-6FB0-EC4A-8828-28713EC855F6}" destId="{1846DD01-779F-2B48-8DC2-F55AEAFB097A}" srcOrd="2" destOrd="0" presId="urn:microsoft.com/office/officeart/2018/2/layout/IconCircleList"/>
    <dgm:cxn modelId="{C3B357CB-7B32-C04D-9560-7A3B1E4F40A4}" type="presParOf" srcId="{568885BB-6FB0-EC4A-8828-28713EC855F6}" destId="{99FA2420-E20B-B34F-9E9C-0227DF88C6DF}" srcOrd="3" destOrd="0" presId="urn:microsoft.com/office/officeart/2018/2/layout/IconCircleList"/>
    <dgm:cxn modelId="{335E5C27-5866-FE49-B317-EBB53165A2FC}" type="presParOf" srcId="{ED04AAF1-8E1E-42A9-9566-8C12C8C8D63C}" destId="{AA1D6EBE-CBA8-BE45-BF55-8AEC9D959EFB}" srcOrd="3" destOrd="0" presId="urn:microsoft.com/office/officeart/2018/2/layout/IconCircleList"/>
    <dgm:cxn modelId="{9E8596F6-0423-48DC-8E4E-393757C92365}" type="presParOf" srcId="{ED04AAF1-8E1E-42A9-9566-8C12C8C8D63C}" destId="{0EFB75C7-647F-4A49-89B7-9EEF00A047AF}" srcOrd="4" destOrd="0" presId="urn:microsoft.com/office/officeart/2018/2/layout/IconCircleList"/>
    <dgm:cxn modelId="{C82588E1-59A8-45BC-B4BE-D4E425A9757B}" type="presParOf" srcId="{0EFB75C7-647F-4A49-89B7-9EEF00A047AF}" destId="{7999EC68-9D40-46CC-8FEF-80E49AE8A9E0}" srcOrd="0" destOrd="0" presId="urn:microsoft.com/office/officeart/2018/2/layout/IconCircleList"/>
    <dgm:cxn modelId="{C393F977-DD8B-4649-B0A8-D3BAC9D5F7AA}" type="presParOf" srcId="{0EFB75C7-647F-4A49-89B7-9EEF00A047AF}" destId="{7ABB208F-EA57-481F-8D57-C860EB22AD34}" srcOrd="1" destOrd="0" presId="urn:microsoft.com/office/officeart/2018/2/layout/IconCircleList"/>
    <dgm:cxn modelId="{33E70064-06AF-4542-B5FA-96EB02AACDE4}" type="presParOf" srcId="{0EFB75C7-647F-4A49-89B7-9EEF00A047AF}" destId="{D593AE4E-DCFE-42B9-8BD0-7180428856BF}" srcOrd="2" destOrd="0" presId="urn:microsoft.com/office/officeart/2018/2/layout/IconCircleList"/>
    <dgm:cxn modelId="{F608DF8B-D672-4966-B089-CC55E8941825}" type="presParOf" srcId="{0EFB75C7-647F-4A49-89B7-9EEF00A047AF}" destId="{E07BC5C9-EDF7-449C-BCFD-27EA5F18F1D4}" srcOrd="3" destOrd="0" presId="urn:microsoft.com/office/officeart/2018/2/layout/IconCircleList"/>
    <dgm:cxn modelId="{27D5D093-C222-4B01-A588-A426753DEA64}" type="presParOf" srcId="{ED04AAF1-8E1E-42A9-9566-8C12C8C8D63C}" destId="{FB776D01-2D5B-4851-8FCC-FD507FD721BF}" srcOrd="5" destOrd="0" presId="urn:microsoft.com/office/officeart/2018/2/layout/IconCircleList"/>
    <dgm:cxn modelId="{06D3F14F-1AD6-4B3E-B0F1-3B1967FCEF33}" type="presParOf" srcId="{ED04AAF1-8E1E-42A9-9566-8C12C8C8D63C}" destId="{F8F0DC24-4058-44C4-9549-B4E8BCCCE921}" srcOrd="6" destOrd="0" presId="urn:microsoft.com/office/officeart/2018/2/layout/IconCircleList"/>
    <dgm:cxn modelId="{5FEBEEDF-0972-42C7-AE5B-0C9FCF90D51B}" type="presParOf" srcId="{F8F0DC24-4058-44C4-9549-B4E8BCCCE921}" destId="{F0379356-C5D3-4A6C-A430-3B3777AC483B}" srcOrd="0" destOrd="0" presId="urn:microsoft.com/office/officeart/2018/2/layout/IconCircleList"/>
    <dgm:cxn modelId="{41228ED1-8CBC-4B02-9358-69289FF63D8A}" type="presParOf" srcId="{F8F0DC24-4058-44C4-9549-B4E8BCCCE921}" destId="{19AB4830-A118-437A-8DE4-CEC1E7F2B0DB}" srcOrd="1" destOrd="0" presId="urn:microsoft.com/office/officeart/2018/2/layout/IconCircleList"/>
    <dgm:cxn modelId="{43C483B8-96C7-4334-BCE3-A0C20BFF694F}" type="presParOf" srcId="{F8F0DC24-4058-44C4-9549-B4E8BCCCE921}" destId="{FFC9145A-F73C-41F2-B5D3-617902302B50}" srcOrd="2" destOrd="0" presId="urn:microsoft.com/office/officeart/2018/2/layout/IconCircleList"/>
    <dgm:cxn modelId="{B856076F-BCA4-423D-8AE6-628A5BE67C9A}" type="presParOf" srcId="{F8F0DC24-4058-44C4-9549-B4E8BCCCE921}" destId="{43AD0110-D205-4CB5-8631-C3AE118A8D70}" srcOrd="3" destOrd="0" presId="urn:microsoft.com/office/officeart/2018/2/layout/IconCircleList"/>
    <dgm:cxn modelId="{97EAC330-AD92-45C5-AF39-42B33E04098B}" type="presParOf" srcId="{ED04AAF1-8E1E-42A9-9566-8C12C8C8D63C}" destId="{1173B46F-967E-45BA-8BE2-CF3476124E23}" srcOrd="7" destOrd="0" presId="urn:microsoft.com/office/officeart/2018/2/layout/IconCircleList"/>
    <dgm:cxn modelId="{D6C835D1-DF17-4019-BE03-3AB6C1442123}" type="presParOf" srcId="{ED04AAF1-8E1E-42A9-9566-8C12C8C8D63C}" destId="{6ECC997C-3372-4241-9FFD-7893DC6BA73A}" srcOrd="8" destOrd="0" presId="urn:microsoft.com/office/officeart/2018/2/layout/IconCircleList"/>
    <dgm:cxn modelId="{B2D48AB2-BB44-47ED-84A7-276A9FE35B55}" type="presParOf" srcId="{6ECC997C-3372-4241-9FFD-7893DC6BA73A}" destId="{3FE385AE-1C3A-46A7-B560-57D9D566500F}" srcOrd="0" destOrd="0" presId="urn:microsoft.com/office/officeart/2018/2/layout/IconCircleList"/>
    <dgm:cxn modelId="{1E106689-264A-4B0F-B73C-35BC5AAE1B64}" type="presParOf" srcId="{6ECC997C-3372-4241-9FFD-7893DC6BA73A}" destId="{04B0A5D7-18AF-4A0E-B95A-2B4475445341}" srcOrd="1" destOrd="0" presId="urn:microsoft.com/office/officeart/2018/2/layout/IconCircleList"/>
    <dgm:cxn modelId="{C853909A-A058-4F93-9341-6D9785DD4FCA}" type="presParOf" srcId="{6ECC997C-3372-4241-9FFD-7893DC6BA73A}" destId="{FAD9545E-BEBF-4245-B1E8-287D2FC439BA}" srcOrd="2" destOrd="0" presId="urn:microsoft.com/office/officeart/2018/2/layout/IconCircleList"/>
    <dgm:cxn modelId="{9B5AFC94-0FCC-4465-924B-04978EA44C9C}" type="presParOf" srcId="{6ECC997C-3372-4241-9FFD-7893DC6BA73A}" destId="{C01CCA47-ECA0-4703-8EF6-D84FE9FA4994}" srcOrd="3" destOrd="0" presId="urn:microsoft.com/office/officeart/2018/2/layout/IconCircleList"/>
    <dgm:cxn modelId="{A4487BE2-D2CF-4AC6-988E-B4643C83855D}" type="presParOf" srcId="{ED04AAF1-8E1E-42A9-9566-8C12C8C8D63C}" destId="{919C4BC1-5469-42E0-8A49-A8DB403E4675}" srcOrd="9" destOrd="0" presId="urn:microsoft.com/office/officeart/2018/2/layout/IconCircleList"/>
    <dgm:cxn modelId="{D4BED85C-1196-4DF8-9FDE-FD307876FF7C}" type="presParOf" srcId="{ED04AAF1-8E1E-42A9-9566-8C12C8C8D63C}" destId="{938AD7B4-06D9-4172-8FE6-B23DB80890B8}" srcOrd="10" destOrd="0" presId="urn:microsoft.com/office/officeart/2018/2/layout/IconCircleList"/>
    <dgm:cxn modelId="{05BDC570-1761-4F55-BF2D-BB65B941A3A8}" type="presParOf" srcId="{938AD7B4-06D9-4172-8FE6-B23DB80890B8}" destId="{DC03B542-E6C7-4548-A3A7-0AD2B9FD58C2}" srcOrd="0" destOrd="0" presId="urn:microsoft.com/office/officeart/2018/2/layout/IconCircleList"/>
    <dgm:cxn modelId="{74A50FF1-6D51-4D30-8F70-34C26A288FFA}" type="presParOf" srcId="{938AD7B4-06D9-4172-8FE6-B23DB80890B8}" destId="{4A5D70EF-A153-4687-8D83-53674D365D48}" srcOrd="1" destOrd="0" presId="urn:microsoft.com/office/officeart/2018/2/layout/IconCircleList"/>
    <dgm:cxn modelId="{38D6E15A-CA9C-4801-85C8-87550AC39B2F}" type="presParOf" srcId="{938AD7B4-06D9-4172-8FE6-B23DB80890B8}" destId="{A6EE39DA-1D4A-47F6-8E34-920732627A85}" srcOrd="2" destOrd="0" presId="urn:microsoft.com/office/officeart/2018/2/layout/IconCircleList"/>
    <dgm:cxn modelId="{6A698E0D-9E97-4902-877F-E8EDA50E95DB}" type="presParOf" srcId="{938AD7B4-06D9-4172-8FE6-B23DB80890B8}" destId="{121A6228-D885-4CBA-8653-4CC40C8261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6DE4FE-D382-41C6-A0EC-327F0EF00E4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D0ADC20-F7C4-4FBB-B9DD-49D9F47737CF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This project entails the development of a multi-modal and the ML-based and real-time monitoring system, which is superior to the one used in fall detection technology at present.</a:t>
          </a:r>
        </a:p>
      </dgm:t>
    </dgm:pt>
    <dgm:pt modelId="{4205F64A-0FB3-40BA-BBD2-1DCC060A09EB}" type="parTrans" cxnId="{C8FD1EB9-7519-4144-B0BF-6276DFC8F4A0}">
      <dgm:prSet/>
      <dgm:spPr/>
      <dgm:t>
        <a:bodyPr/>
        <a:lstStyle/>
        <a:p>
          <a:endParaRPr lang="en-US"/>
        </a:p>
      </dgm:t>
    </dgm:pt>
    <dgm:pt modelId="{DA8DE55B-B5DD-4E0A-BB09-58A66C126DF9}" type="sibTrans" cxnId="{C8FD1EB9-7519-4144-B0BF-6276DFC8F4A0}">
      <dgm:prSet/>
      <dgm:spPr/>
      <dgm:t>
        <a:bodyPr/>
        <a:lstStyle/>
        <a:p>
          <a:endParaRPr lang="en-US"/>
        </a:p>
      </dgm:t>
    </dgm:pt>
    <dgm:pt modelId="{F35D05F1-A923-4FEE-BB29-CF92549080FC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We are incorporating wearables, environment sensors, glove cameras that are privacy friendly and vital signs tracking to provide all-day care to seniors.</a:t>
          </a:r>
        </a:p>
      </dgm:t>
    </dgm:pt>
    <dgm:pt modelId="{385EBFDC-8F02-4C3B-9338-6ABAAE9C1155}" type="parTrans" cxnId="{103C248A-2D07-42FB-9DF3-D5C17CFEB70B}">
      <dgm:prSet/>
      <dgm:spPr/>
      <dgm:t>
        <a:bodyPr/>
        <a:lstStyle/>
        <a:p>
          <a:endParaRPr lang="en-US"/>
        </a:p>
      </dgm:t>
    </dgm:pt>
    <dgm:pt modelId="{3D44C87E-0801-41B8-B5F3-029F779F28B9}" type="sibTrans" cxnId="{103C248A-2D07-42FB-9DF3-D5C17CFEB70B}">
      <dgm:prSet/>
      <dgm:spPr/>
      <dgm:t>
        <a:bodyPr/>
        <a:lstStyle/>
        <a:p>
          <a:endParaRPr lang="en-US"/>
        </a:p>
      </dgm:t>
    </dgm:pt>
    <dgm:pt modelId="{109B2C35-606D-4ADC-B8C8-B30B4D92A644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With sensor fusion, edge computing and the connection to electronic health records, quicker response, fewer false alerts, and improved overall experience of care in assisted living and hospitals are realized.</a:t>
          </a:r>
        </a:p>
      </dgm:t>
    </dgm:pt>
    <dgm:pt modelId="{567CD26A-6D93-403A-A380-3EBE94BBCE2C}" type="parTrans" cxnId="{514AC451-1A7F-4A2A-8611-4A6A5F59EB19}">
      <dgm:prSet/>
      <dgm:spPr/>
      <dgm:t>
        <a:bodyPr/>
        <a:lstStyle/>
        <a:p>
          <a:endParaRPr lang="en-US"/>
        </a:p>
      </dgm:t>
    </dgm:pt>
    <dgm:pt modelId="{BE05D132-44A8-4B4D-A80A-355799DB547F}" type="sibTrans" cxnId="{514AC451-1A7F-4A2A-8611-4A6A5F59EB19}">
      <dgm:prSet/>
      <dgm:spPr/>
      <dgm:t>
        <a:bodyPr/>
        <a:lstStyle/>
        <a:p>
          <a:endParaRPr lang="en-US"/>
        </a:p>
      </dgm:t>
    </dgm:pt>
    <dgm:pt modelId="{144B6987-CB09-4AD9-A176-FB035697163B}" type="pres">
      <dgm:prSet presAssocID="{EB6DE4FE-D382-41C6-A0EC-327F0EF00E48}" presName="root" presStyleCnt="0">
        <dgm:presLayoutVars>
          <dgm:dir/>
          <dgm:resizeHandles val="exact"/>
        </dgm:presLayoutVars>
      </dgm:prSet>
      <dgm:spPr/>
    </dgm:pt>
    <dgm:pt modelId="{93299348-0AE1-412B-9E7D-A42222DE8540}" type="pres">
      <dgm:prSet presAssocID="{9D0ADC20-F7C4-4FBB-B9DD-49D9F47737CF}" presName="compNode" presStyleCnt="0"/>
      <dgm:spPr/>
    </dgm:pt>
    <dgm:pt modelId="{DB1FAF9E-8C5A-45BF-A22A-0AF3AE21BE20}" type="pres">
      <dgm:prSet presAssocID="{9D0ADC20-F7C4-4FBB-B9DD-49D9F47737C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38100">
          <a:solidFill>
            <a:schemeClr val="tx1"/>
          </a:solidFill>
        </a:ln>
      </dgm:spPr>
    </dgm:pt>
    <dgm:pt modelId="{BC038372-2E71-4550-892D-733C0DFC907D}" type="pres">
      <dgm:prSet presAssocID="{9D0ADC20-F7C4-4FBB-B9DD-49D9F47737CF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DCBEED3-7408-4561-980D-2073C4B37753}" type="pres">
      <dgm:prSet presAssocID="{9D0ADC20-F7C4-4FBB-B9DD-49D9F47737CF}" presName="spaceRect" presStyleCnt="0"/>
      <dgm:spPr/>
    </dgm:pt>
    <dgm:pt modelId="{23351F89-99EA-441F-B340-92A6FE4BB5F7}" type="pres">
      <dgm:prSet presAssocID="{9D0ADC20-F7C4-4FBB-B9DD-49D9F47737CF}" presName="textRect" presStyleLbl="revTx" presStyleIdx="0" presStyleCnt="3">
        <dgm:presLayoutVars>
          <dgm:chMax val="1"/>
          <dgm:chPref val="1"/>
        </dgm:presLayoutVars>
      </dgm:prSet>
      <dgm:spPr/>
    </dgm:pt>
    <dgm:pt modelId="{2CF3E082-0EC0-41FD-B759-E0E4A4EC398C}" type="pres">
      <dgm:prSet presAssocID="{DA8DE55B-B5DD-4E0A-BB09-58A66C126DF9}" presName="sibTrans" presStyleCnt="0"/>
      <dgm:spPr/>
    </dgm:pt>
    <dgm:pt modelId="{345F6952-CEFC-454D-957E-CDC29D8CC06E}" type="pres">
      <dgm:prSet presAssocID="{F35D05F1-A923-4FEE-BB29-CF92549080FC}" presName="compNode" presStyleCnt="0"/>
      <dgm:spPr/>
    </dgm:pt>
    <dgm:pt modelId="{F1877F9A-50CC-4C28-9080-E9A2EB47741A}" type="pres">
      <dgm:prSet presAssocID="{F35D05F1-A923-4FEE-BB29-CF92549080F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38100">
          <a:solidFill>
            <a:schemeClr val="tx1"/>
          </a:solidFill>
        </a:ln>
      </dgm:spPr>
    </dgm:pt>
    <dgm:pt modelId="{96C6C682-61C7-46D7-8240-98A72FBA3A6E}" type="pres">
      <dgm:prSet presAssocID="{F35D05F1-A923-4FEE-BB29-CF92549080FC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4627398E-AC4F-43C4-B339-FDBE64BD4F67}" type="pres">
      <dgm:prSet presAssocID="{F35D05F1-A923-4FEE-BB29-CF92549080FC}" presName="spaceRect" presStyleCnt="0"/>
      <dgm:spPr/>
    </dgm:pt>
    <dgm:pt modelId="{B43A978A-DE8F-43F4-9290-3735BAE8284D}" type="pres">
      <dgm:prSet presAssocID="{F35D05F1-A923-4FEE-BB29-CF92549080FC}" presName="textRect" presStyleLbl="revTx" presStyleIdx="1" presStyleCnt="3">
        <dgm:presLayoutVars>
          <dgm:chMax val="1"/>
          <dgm:chPref val="1"/>
        </dgm:presLayoutVars>
      </dgm:prSet>
      <dgm:spPr/>
    </dgm:pt>
    <dgm:pt modelId="{CED2B67E-9223-4E6C-AA35-A6EDE1A3D36E}" type="pres">
      <dgm:prSet presAssocID="{3D44C87E-0801-41B8-B5F3-029F779F28B9}" presName="sibTrans" presStyleCnt="0"/>
      <dgm:spPr/>
    </dgm:pt>
    <dgm:pt modelId="{1E13D6C2-CFAE-4739-8172-0E0E72AD1C7E}" type="pres">
      <dgm:prSet presAssocID="{109B2C35-606D-4ADC-B8C8-B30B4D92A644}" presName="compNode" presStyleCnt="0"/>
      <dgm:spPr/>
    </dgm:pt>
    <dgm:pt modelId="{CAFE6449-6F82-4D97-9CE9-133383509D43}" type="pres">
      <dgm:prSet presAssocID="{109B2C35-606D-4ADC-B8C8-B30B4D92A64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38100">
          <a:solidFill>
            <a:schemeClr val="tx1"/>
          </a:solidFill>
        </a:ln>
      </dgm:spPr>
    </dgm:pt>
    <dgm:pt modelId="{75F2EF03-99FB-47FD-B4F8-FE38D74EDB21}" type="pres">
      <dgm:prSet presAssocID="{109B2C35-606D-4ADC-B8C8-B30B4D92A644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D37C6124-C3A8-45A1-B20B-75E334159A23}" type="pres">
      <dgm:prSet presAssocID="{109B2C35-606D-4ADC-B8C8-B30B4D92A644}" presName="spaceRect" presStyleCnt="0"/>
      <dgm:spPr/>
    </dgm:pt>
    <dgm:pt modelId="{5D4A22C0-56B1-4156-93D7-BC400497DECA}" type="pres">
      <dgm:prSet presAssocID="{109B2C35-606D-4ADC-B8C8-B30B4D92A64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14AC451-1A7F-4A2A-8611-4A6A5F59EB19}" srcId="{EB6DE4FE-D382-41C6-A0EC-327F0EF00E48}" destId="{109B2C35-606D-4ADC-B8C8-B30B4D92A644}" srcOrd="2" destOrd="0" parTransId="{567CD26A-6D93-403A-A380-3EBE94BBCE2C}" sibTransId="{BE05D132-44A8-4B4D-A80A-355799DB547F}"/>
    <dgm:cxn modelId="{103C248A-2D07-42FB-9DF3-D5C17CFEB70B}" srcId="{EB6DE4FE-D382-41C6-A0EC-327F0EF00E48}" destId="{F35D05F1-A923-4FEE-BB29-CF92549080FC}" srcOrd="1" destOrd="0" parTransId="{385EBFDC-8F02-4C3B-9338-6ABAAE9C1155}" sibTransId="{3D44C87E-0801-41B8-B5F3-029F779F28B9}"/>
    <dgm:cxn modelId="{DC113B8A-ACF1-4335-B391-493D69917DD8}" type="presOf" srcId="{109B2C35-606D-4ADC-B8C8-B30B4D92A644}" destId="{5D4A22C0-56B1-4156-93D7-BC400497DECA}" srcOrd="0" destOrd="0" presId="urn:microsoft.com/office/officeart/2018/5/layout/IconLeafLabelList"/>
    <dgm:cxn modelId="{C8FD1EB9-7519-4144-B0BF-6276DFC8F4A0}" srcId="{EB6DE4FE-D382-41C6-A0EC-327F0EF00E48}" destId="{9D0ADC20-F7C4-4FBB-B9DD-49D9F47737CF}" srcOrd="0" destOrd="0" parTransId="{4205F64A-0FB3-40BA-BBD2-1DCC060A09EB}" sibTransId="{DA8DE55B-B5DD-4E0A-BB09-58A66C126DF9}"/>
    <dgm:cxn modelId="{852E8CCB-B0D2-40DA-983D-CA8C48D7FA65}" type="presOf" srcId="{EB6DE4FE-D382-41C6-A0EC-327F0EF00E48}" destId="{144B6987-CB09-4AD9-A176-FB035697163B}" srcOrd="0" destOrd="0" presId="urn:microsoft.com/office/officeart/2018/5/layout/IconLeafLabelList"/>
    <dgm:cxn modelId="{579D6BE8-D677-4832-8288-EB3DD1FA6F5F}" type="presOf" srcId="{9D0ADC20-F7C4-4FBB-B9DD-49D9F47737CF}" destId="{23351F89-99EA-441F-B340-92A6FE4BB5F7}" srcOrd="0" destOrd="0" presId="urn:microsoft.com/office/officeart/2018/5/layout/IconLeafLabelList"/>
    <dgm:cxn modelId="{A07CFDF3-6428-451B-A375-2834D92DE579}" type="presOf" srcId="{F35D05F1-A923-4FEE-BB29-CF92549080FC}" destId="{B43A978A-DE8F-43F4-9290-3735BAE8284D}" srcOrd="0" destOrd="0" presId="urn:microsoft.com/office/officeart/2018/5/layout/IconLeafLabelList"/>
    <dgm:cxn modelId="{C0C26641-7CE3-4C39-8230-291C4ED5B1F4}" type="presParOf" srcId="{144B6987-CB09-4AD9-A176-FB035697163B}" destId="{93299348-0AE1-412B-9E7D-A42222DE8540}" srcOrd="0" destOrd="0" presId="urn:microsoft.com/office/officeart/2018/5/layout/IconLeafLabelList"/>
    <dgm:cxn modelId="{04FD711E-AB7D-41DC-8F73-D13FF6752790}" type="presParOf" srcId="{93299348-0AE1-412B-9E7D-A42222DE8540}" destId="{DB1FAF9E-8C5A-45BF-A22A-0AF3AE21BE20}" srcOrd="0" destOrd="0" presId="urn:microsoft.com/office/officeart/2018/5/layout/IconLeafLabelList"/>
    <dgm:cxn modelId="{4AF3CBEE-A616-4ABD-AAB8-CDFDF7DB2A20}" type="presParOf" srcId="{93299348-0AE1-412B-9E7D-A42222DE8540}" destId="{BC038372-2E71-4550-892D-733C0DFC907D}" srcOrd="1" destOrd="0" presId="urn:microsoft.com/office/officeart/2018/5/layout/IconLeafLabelList"/>
    <dgm:cxn modelId="{62507E76-EA6F-45B4-8267-D9FD2F3C391E}" type="presParOf" srcId="{93299348-0AE1-412B-9E7D-A42222DE8540}" destId="{9DCBEED3-7408-4561-980D-2073C4B37753}" srcOrd="2" destOrd="0" presId="urn:microsoft.com/office/officeart/2018/5/layout/IconLeafLabelList"/>
    <dgm:cxn modelId="{0E6170D0-0EB2-4CB3-B6AE-07EE535BAE4C}" type="presParOf" srcId="{93299348-0AE1-412B-9E7D-A42222DE8540}" destId="{23351F89-99EA-441F-B340-92A6FE4BB5F7}" srcOrd="3" destOrd="0" presId="urn:microsoft.com/office/officeart/2018/5/layout/IconLeafLabelList"/>
    <dgm:cxn modelId="{B97341F7-D408-4384-8934-4477635A9591}" type="presParOf" srcId="{144B6987-CB09-4AD9-A176-FB035697163B}" destId="{2CF3E082-0EC0-41FD-B759-E0E4A4EC398C}" srcOrd="1" destOrd="0" presId="urn:microsoft.com/office/officeart/2018/5/layout/IconLeafLabelList"/>
    <dgm:cxn modelId="{17D1FE6D-1564-42DF-91D3-6EBC8C55F162}" type="presParOf" srcId="{144B6987-CB09-4AD9-A176-FB035697163B}" destId="{345F6952-CEFC-454D-957E-CDC29D8CC06E}" srcOrd="2" destOrd="0" presId="urn:microsoft.com/office/officeart/2018/5/layout/IconLeafLabelList"/>
    <dgm:cxn modelId="{D22E57C3-C849-4EE1-BD15-E940E6A33E44}" type="presParOf" srcId="{345F6952-CEFC-454D-957E-CDC29D8CC06E}" destId="{F1877F9A-50CC-4C28-9080-E9A2EB47741A}" srcOrd="0" destOrd="0" presId="urn:microsoft.com/office/officeart/2018/5/layout/IconLeafLabelList"/>
    <dgm:cxn modelId="{17CB7139-5460-4B42-ABFF-1DF7EB0AA796}" type="presParOf" srcId="{345F6952-CEFC-454D-957E-CDC29D8CC06E}" destId="{96C6C682-61C7-46D7-8240-98A72FBA3A6E}" srcOrd="1" destOrd="0" presId="urn:microsoft.com/office/officeart/2018/5/layout/IconLeafLabelList"/>
    <dgm:cxn modelId="{121167F9-5293-4B54-8D0E-08DCF239E0C6}" type="presParOf" srcId="{345F6952-CEFC-454D-957E-CDC29D8CC06E}" destId="{4627398E-AC4F-43C4-B339-FDBE64BD4F67}" srcOrd="2" destOrd="0" presId="urn:microsoft.com/office/officeart/2018/5/layout/IconLeafLabelList"/>
    <dgm:cxn modelId="{445DBD18-3593-4531-B0A4-679845A3ED0C}" type="presParOf" srcId="{345F6952-CEFC-454D-957E-CDC29D8CC06E}" destId="{B43A978A-DE8F-43F4-9290-3735BAE8284D}" srcOrd="3" destOrd="0" presId="urn:microsoft.com/office/officeart/2018/5/layout/IconLeafLabelList"/>
    <dgm:cxn modelId="{0E7D788F-8457-4ECF-9108-BE09DDBD3650}" type="presParOf" srcId="{144B6987-CB09-4AD9-A176-FB035697163B}" destId="{CED2B67E-9223-4E6C-AA35-A6EDE1A3D36E}" srcOrd="3" destOrd="0" presId="urn:microsoft.com/office/officeart/2018/5/layout/IconLeafLabelList"/>
    <dgm:cxn modelId="{52DF0718-2149-4862-8FE2-A3F4D21D2E72}" type="presParOf" srcId="{144B6987-CB09-4AD9-A176-FB035697163B}" destId="{1E13D6C2-CFAE-4739-8172-0E0E72AD1C7E}" srcOrd="4" destOrd="0" presId="urn:microsoft.com/office/officeart/2018/5/layout/IconLeafLabelList"/>
    <dgm:cxn modelId="{C41E42C6-A656-4492-9DCA-C5D91C1E74EA}" type="presParOf" srcId="{1E13D6C2-CFAE-4739-8172-0E0E72AD1C7E}" destId="{CAFE6449-6F82-4D97-9CE9-133383509D43}" srcOrd="0" destOrd="0" presId="urn:microsoft.com/office/officeart/2018/5/layout/IconLeafLabelList"/>
    <dgm:cxn modelId="{F182441B-59EF-4BCF-8A81-D441EA1860E3}" type="presParOf" srcId="{1E13D6C2-CFAE-4739-8172-0E0E72AD1C7E}" destId="{75F2EF03-99FB-47FD-B4F8-FE38D74EDB21}" srcOrd="1" destOrd="0" presId="urn:microsoft.com/office/officeart/2018/5/layout/IconLeafLabelList"/>
    <dgm:cxn modelId="{54E6201D-5ACA-40F8-B54E-34EF07FF857F}" type="presParOf" srcId="{1E13D6C2-CFAE-4739-8172-0E0E72AD1C7E}" destId="{D37C6124-C3A8-45A1-B20B-75E334159A23}" srcOrd="2" destOrd="0" presId="urn:microsoft.com/office/officeart/2018/5/layout/IconLeafLabelList"/>
    <dgm:cxn modelId="{33DB510E-EC8B-48B0-8C1D-15441FC121AC}" type="presParOf" srcId="{1E13D6C2-CFAE-4739-8172-0E0E72AD1C7E}" destId="{5D4A22C0-56B1-4156-93D7-BC400497DEC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ED419-C8E2-3148-B63A-9E4D1AB312A3}">
      <dsp:nvSpPr>
        <dsp:cNvPr id="0" name=""/>
        <dsp:cNvSpPr/>
      </dsp:nvSpPr>
      <dsp:spPr>
        <a:xfrm>
          <a:off x="950084" y="3285"/>
          <a:ext cx="2892744" cy="1735646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Project Focus</a:t>
          </a:r>
          <a:br>
            <a:rPr lang="en-US" sz="1800" kern="1200"/>
          </a:br>
          <a:r>
            <a:rPr lang="en-US" sz="1800" kern="1200"/>
            <a:t>Design and evaluation of a privacy-preserving real-time monitoring system.</a:t>
          </a:r>
        </a:p>
      </dsp:txBody>
      <dsp:txXfrm>
        <a:off x="1034811" y="88012"/>
        <a:ext cx="2723290" cy="1566192"/>
      </dsp:txXfrm>
    </dsp:sp>
    <dsp:sp modelId="{1B5FEFE0-24AF-3B4D-AC41-A8104FBAB788}">
      <dsp:nvSpPr>
        <dsp:cNvPr id="0" name=""/>
        <dsp:cNvSpPr/>
      </dsp:nvSpPr>
      <dsp:spPr>
        <a:xfrm>
          <a:off x="4132102" y="3285"/>
          <a:ext cx="2892744" cy="1735646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Problem Context</a:t>
          </a:r>
          <a:br>
            <a:rPr lang="en-US" sz="1800" kern="1200" dirty="0"/>
          </a:br>
          <a:r>
            <a:rPr lang="en-US" sz="1800" kern="1200" dirty="0"/>
            <a:t>Seniors in assisted care are prone to falls, confusion, and unnoticed health issues.</a:t>
          </a:r>
        </a:p>
      </dsp:txBody>
      <dsp:txXfrm>
        <a:off x="4216829" y="88012"/>
        <a:ext cx="2723290" cy="1566192"/>
      </dsp:txXfrm>
    </dsp:sp>
    <dsp:sp modelId="{E6F03123-17F5-AD4D-B13D-D38A8C70671C}">
      <dsp:nvSpPr>
        <dsp:cNvPr id="0" name=""/>
        <dsp:cNvSpPr/>
      </dsp:nvSpPr>
      <dsp:spPr>
        <a:xfrm>
          <a:off x="7314121" y="3285"/>
          <a:ext cx="2892744" cy="1735646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r>
            <a:rPr lang="en-US" sz="1800" b="1" kern="1200" dirty="0"/>
            <a:t>System Capability</a:t>
          </a:r>
          <a:br>
            <a:rPr lang="en-US" sz="1800" kern="1200" dirty="0"/>
          </a:br>
          <a:r>
            <a:rPr lang="en-US" sz="1800" kern="1200" dirty="0"/>
            <a:t>Multi-modal ML system for continuous detection and rapid, precise responses.</a:t>
          </a:r>
        </a:p>
      </dsp:txBody>
      <dsp:txXfrm>
        <a:off x="7398848" y="88012"/>
        <a:ext cx="2723290" cy="1566192"/>
      </dsp:txXfrm>
    </dsp:sp>
    <dsp:sp modelId="{838D5ED9-411F-DA42-BB5D-2DD41DC40FAC}">
      <dsp:nvSpPr>
        <dsp:cNvPr id="0" name=""/>
        <dsp:cNvSpPr/>
      </dsp:nvSpPr>
      <dsp:spPr>
        <a:xfrm>
          <a:off x="2541093" y="2028206"/>
          <a:ext cx="2892744" cy="1735646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r>
            <a:rPr lang="en-US" sz="1800" b="1" kern="1200" dirty="0"/>
            <a:t>False Alarm Reduction</a:t>
          </a:r>
          <a:br>
            <a:rPr lang="en-US" sz="1800" kern="1200" dirty="0"/>
          </a:br>
          <a:r>
            <a:rPr lang="en-US" sz="1800" kern="1200" dirty="0"/>
            <a:t>Delivers accurate, actionable insights to minimize false triggers.</a:t>
          </a:r>
        </a:p>
      </dsp:txBody>
      <dsp:txXfrm>
        <a:off x="2625820" y="2112933"/>
        <a:ext cx="2723290" cy="1566192"/>
      </dsp:txXfrm>
    </dsp:sp>
    <dsp:sp modelId="{4095528B-A03A-6046-99FD-C80359998399}">
      <dsp:nvSpPr>
        <dsp:cNvPr id="0" name=""/>
        <dsp:cNvSpPr/>
      </dsp:nvSpPr>
      <dsp:spPr>
        <a:xfrm>
          <a:off x="5723112" y="2028206"/>
          <a:ext cx="2892744" cy="1735646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r>
            <a:rPr lang="en-US" sz="1800" b="1" kern="1200" dirty="0"/>
            <a:t>Secure EHR Integration</a:t>
          </a:r>
          <a:br>
            <a:rPr lang="en-US" sz="1800" kern="1200" dirty="0"/>
          </a:br>
          <a:r>
            <a:rPr lang="en-US" sz="1800" kern="1200" dirty="0"/>
            <a:t>Uses SMART to preserve EHR privacy while ensuring reliable outcomes.</a:t>
          </a:r>
        </a:p>
      </dsp:txBody>
      <dsp:txXfrm>
        <a:off x="5807839" y="2112933"/>
        <a:ext cx="2723290" cy="1566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03E2A-792E-AF4C-A3E2-D24865E755C8}">
      <dsp:nvSpPr>
        <dsp:cNvPr id="0" name=""/>
        <dsp:cNvSpPr/>
      </dsp:nvSpPr>
      <dsp:spPr>
        <a:xfrm>
          <a:off x="0" y="721677"/>
          <a:ext cx="3137892" cy="1992561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40FE2-4C67-A048-88C3-233707F5368C}">
      <dsp:nvSpPr>
        <dsp:cNvPr id="0" name=""/>
        <dsp:cNvSpPr/>
      </dsp:nvSpPr>
      <dsp:spPr>
        <a:xfrm>
          <a:off x="348654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elderly in assisted homes continue to be victims of falls they can avoid, stumbling and fall hurts, coupled with unproven cases of poor health conditions. </a:t>
          </a:r>
        </a:p>
      </dsp:txBody>
      <dsp:txXfrm>
        <a:off x="407014" y="1111259"/>
        <a:ext cx="3021172" cy="1875841"/>
      </dsp:txXfrm>
    </dsp:sp>
    <dsp:sp modelId="{13A3B444-140A-9E48-A300-8EE2362F5786}">
      <dsp:nvSpPr>
        <dsp:cNvPr id="0" name=""/>
        <dsp:cNvSpPr/>
      </dsp:nvSpPr>
      <dsp:spPr>
        <a:xfrm>
          <a:off x="3835201" y="721677"/>
          <a:ext cx="3137892" cy="1992561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D9E7E-91BC-3A42-9956-CAC270D79D78}">
      <dsp:nvSpPr>
        <dsp:cNvPr id="0" name=""/>
        <dsp:cNvSpPr/>
      </dsp:nvSpPr>
      <dsp:spPr>
        <a:xfrm>
          <a:off x="4183856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existing systems are fragile and very loud and so tend to make a multitude of alerts that individuals have long since learning to ignore and result in the fatigue of being alerted.</a:t>
          </a:r>
        </a:p>
      </dsp:txBody>
      <dsp:txXfrm>
        <a:off x="4242216" y="1111259"/>
        <a:ext cx="3021172" cy="1875841"/>
      </dsp:txXfrm>
    </dsp:sp>
    <dsp:sp modelId="{E59F019D-AB4C-1947-A94C-94E3C87405C3}">
      <dsp:nvSpPr>
        <dsp:cNvPr id="0" name=""/>
        <dsp:cNvSpPr/>
      </dsp:nvSpPr>
      <dsp:spPr>
        <a:xfrm>
          <a:off x="7670403" y="721677"/>
          <a:ext cx="3137892" cy="1992561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7D039-749F-274A-BB2E-E3F88C7BA6EE}">
      <dsp:nvSpPr>
        <dsp:cNvPr id="0" name=""/>
        <dsp:cNvSpPr/>
      </dsp:nvSpPr>
      <dsp:spPr>
        <a:xfrm>
          <a:off x="8019057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 based solutions make it more accurate, reduces the cases of false alarms, and causes the caregivers to feel confident with the alerts that it indicates.</a:t>
          </a:r>
        </a:p>
      </dsp:txBody>
      <dsp:txXfrm>
        <a:off x="8077417" y="1111259"/>
        <a:ext cx="3021172" cy="1875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AFECA-11AC-4DEC-AAE2-110B8B4A8403}">
      <dsp:nvSpPr>
        <dsp:cNvPr id="0" name=""/>
        <dsp:cNvSpPr/>
      </dsp:nvSpPr>
      <dsp:spPr>
        <a:xfrm>
          <a:off x="273815" y="643669"/>
          <a:ext cx="919693" cy="919693"/>
        </a:xfrm>
        <a:prstGeom prst="ellipse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3880F2-AC83-4B53-A333-EE82C331B948}">
      <dsp:nvSpPr>
        <dsp:cNvPr id="0" name=""/>
        <dsp:cNvSpPr/>
      </dsp:nvSpPr>
      <dsp:spPr>
        <a:xfrm>
          <a:off x="466951" y="836804"/>
          <a:ext cx="533422" cy="5334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29AE9-0B0B-4293-B2BC-245683761B19}">
      <dsp:nvSpPr>
        <dsp:cNvPr id="0" name=""/>
        <dsp:cNvSpPr/>
      </dsp:nvSpPr>
      <dsp:spPr>
        <a:xfrm>
          <a:off x="1390586" y="643669"/>
          <a:ext cx="2167848" cy="919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ML/DL: </a:t>
          </a:r>
          <a:r>
            <a:rPr lang="en-US" sz="1500" kern="1200"/>
            <a:t>PyTorch / TensorFlow (IMU CNN, MobileNetV3, fusion MLP)</a:t>
          </a:r>
        </a:p>
      </dsp:txBody>
      <dsp:txXfrm>
        <a:off x="1390586" y="643669"/>
        <a:ext cx="2167848" cy="919693"/>
      </dsp:txXfrm>
    </dsp:sp>
    <dsp:sp modelId="{47B0561B-123C-524D-94CA-755377CEB95C}">
      <dsp:nvSpPr>
        <dsp:cNvPr id="0" name=""/>
        <dsp:cNvSpPr/>
      </dsp:nvSpPr>
      <dsp:spPr>
        <a:xfrm>
          <a:off x="3936165" y="643669"/>
          <a:ext cx="919693" cy="919693"/>
        </a:xfrm>
        <a:prstGeom prst="ellipse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E39B48-3F6A-F244-A24C-67A65F7D10D1}">
      <dsp:nvSpPr>
        <dsp:cNvPr id="0" name=""/>
        <dsp:cNvSpPr/>
      </dsp:nvSpPr>
      <dsp:spPr>
        <a:xfrm>
          <a:off x="4124871" y="836804"/>
          <a:ext cx="542282" cy="53342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9000" r="-29000"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A2420-E20B-B34F-9E9C-0227DF88C6DF}">
      <dsp:nvSpPr>
        <dsp:cNvPr id="0" name=""/>
        <dsp:cNvSpPr/>
      </dsp:nvSpPr>
      <dsp:spPr>
        <a:xfrm>
          <a:off x="5052936" y="643669"/>
          <a:ext cx="2167848" cy="919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Virtual Studio Code</a:t>
          </a:r>
        </a:p>
      </dsp:txBody>
      <dsp:txXfrm>
        <a:off x="5052936" y="643669"/>
        <a:ext cx="2167848" cy="919693"/>
      </dsp:txXfrm>
    </dsp:sp>
    <dsp:sp modelId="{7999EC68-9D40-46CC-8FEF-80E49AE8A9E0}">
      <dsp:nvSpPr>
        <dsp:cNvPr id="0" name=""/>
        <dsp:cNvSpPr/>
      </dsp:nvSpPr>
      <dsp:spPr>
        <a:xfrm>
          <a:off x="7598515" y="643669"/>
          <a:ext cx="919693" cy="919693"/>
        </a:xfrm>
        <a:prstGeom prst="ellipse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B208F-EA57-481F-8D57-C860EB22AD34}">
      <dsp:nvSpPr>
        <dsp:cNvPr id="0" name=""/>
        <dsp:cNvSpPr/>
      </dsp:nvSpPr>
      <dsp:spPr>
        <a:xfrm>
          <a:off x="7791651" y="836804"/>
          <a:ext cx="533422" cy="53342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BC5C9-EDF7-449C-BCFD-27EA5F18F1D4}">
      <dsp:nvSpPr>
        <dsp:cNvPr id="0" name=""/>
        <dsp:cNvSpPr/>
      </dsp:nvSpPr>
      <dsp:spPr>
        <a:xfrm>
          <a:off x="8715285" y="643669"/>
          <a:ext cx="2167848" cy="919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Serving: </a:t>
          </a:r>
          <a:r>
            <a:rPr lang="en-US" sz="1500" kern="1200"/>
            <a:t>NVIDIA Triton (GPU) or ONNX Runtime/TFLite (edge)</a:t>
          </a:r>
        </a:p>
      </dsp:txBody>
      <dsp:txXfrm>
        <a:off x="8715285" y="643669"/>
        <a:ext cx="2167848" cy="919693"/>
      </dsp:txXfrm>
    </dsp:sp>
    <dsp:sp modelId="{F0379356-C5D3-4A6C-A430-3B3777AC483B}">
      <dsp:nvSpPr>
        <dsp:cNvPr id="0" name=""/>
        <dsp:cNvSpPr/>
      </dsp:nvSpPr>
      <dsp:spPr>
        <a:xfrm>
          <a:off x="273815" y="2203775"/>
          <a:ext cx="919693" cy="919693"/>
        </a:xfrm>
        <a:prstGeom prst="ellipse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B4830-A118-437A-8DE4-CEC1E7F2B0DB}">
      <dsp:nvSpPr>
        <dsp:cNvPr id="0" name=""/>
        <dsp:cNvSpPr/>
      </dsp:nvSpPr>
      <dsp:spPr>
        <a:xfrm>
          <a:off x="466951" y="2396911"/>
          <a:ext cx="533422" cy="533422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D0110-D205-4CB5-8631-C3AE118A8D70}">
      <dsp:nvSpPr>
        <dsp:cNvPr id="0" name=""/>
        <dsp:cNvSpPr/>
      </dsp:nvSpPr>
      <dsp:spPr>
        <a:xfrm>
          <a:off x="1390586" y="2203775"/>
          <a:ext cx="2167848" cy="919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Streaming</a:t>
          </a:r>
          <a:r>
            <a:rPr lang="en-US" sz="1500" kern="1200"/>
            <a:t>: Redpanda/Kafka topics (inference.events, alerts.raised)</a:t>
          </a:r>
        </a:p>
      </dsp:txBody>
      <dsp:txXfrm>
        <a:off x="1390586" y="2203775"/>
        <a:ext cx="2167848" cy="919693"/>
      </dsp:txXfrm>
    </dsp:sp>
    <dsp:sp modelId="{3FE385AE-1C3A-46A7-B560-57D9D566500F}">
      <dsp:nvSpPr>
        <dsp:cNvPr id="0" name=""/>
        <dsp:cNvSpPr/>
      </dsp:nvSpPr>
      <dsp:spPr>
        <a:xfrm>
          <a:off x="3936165" y="2203775"/>
          <a:ext cx="919693" cy="919693"/>
        </a:xfrm>
        <a:prstGeom prst="ellipse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0A5D7-18AF-4A0E-B95A-2B4475445341}">
      <dsp:nvSpPr>
        <dsp:cNvPr id="0" name=""/>
        <dsp:cNvSpPr/>
      </dsp:nvSpPr>
      <dsp:spPr>
        <a:xfrm>
          <a:off x="4129301" y="2396911"/>
          <a:ext cx="533422" cy="53342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CCA47-ECA0-4703-8EF6-D84FE9FA4994}">
      <dsp:nvSpPr>
        <dsp:cNvPr id="0" name=""/>
        <dsp:cNvSpPr/>
      </dsp:nvSpPr>
      <dsp:spPr>
        <a:xfrm>
          <a:off x="5052936" y="2203775"/>
          <a:ext cx="2167848" cy="919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APIs/UI: </a:t>
          </a:r>
          <a:r>
            <a:rPr lang="en-US" sz="1500" kern="1200"/>
            <a:t>FastAPI (REST + SSE), React/Next.js (dashboard)</a:t>
          </a:r>
        </a:p>
      </dsp:txBody>
      <dsp:txXfrm>
        <a:off x="5052936" y="2203775"/>
        <a:ext cx="2167848" cy="919693"/>
      </dsp:txXfrm>
    </dsp:sp>
    <dsp:sp modelId="{DC03B542-E6C7-4548-A3A7-0AD2B9FD58C2}">
      <dsp:nvSpPr>
        <dsp:cNvPr id="0" name=""/>
        <dsp:cNvSpPr/>
      </dsp:nvSpPr>
      <dsp:spPr>
        <a:xfrm>
          <a:off x="7598515" y="2203775"/>
          <a:ext cx="919693" cy="919693"/>
        </a:xfrm>
        <a:prstGeom prst="ellipse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5D70EF-A153-4687-8D83-53674D365D48}">
      <dsp:nvSpPr>
        <dsp:cNvPr id="0" name=""/>
        <dsp:cNvSpPr/>
      </dsp:nvSpPr>
      <dsp:spPr>
        <a:xfrm>
          <a:off x="7791651" y="2396911"/>
          <a:ext cx="533422" cy="533422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A6228-D885-4CBA-8653-4CC40C82615F}">
      <dsp:nvSpPr>
        <dsp:cNvPr id="0" name=""/>
        <dsp:cNvSpPr/>
      </dsp:nvSpPr>
      <dsp:spPr>
        <a:xfrm>
          <a:off x="8715285" y="2203775"/>
          <a:ext cx="2167848" cy="919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EHR: </a:t>
          </a:r>
          <a:r>
            <a:rPr lang="en-US" sz="1500" kern="1200" dirty="0"/>
            <a:t>SMART on FHIR bridge (Observations, Detected Issues)</a:t>
          </a:r>
        </a:p>
      </dsp:txBody>
      <dsp:txXfrm>
        <a:off x="8715285" y="2203775"/>
        <a:ext cx="2167848" cy="9196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FAF9E-8C5A-45BF-A22A-0AF3AE21BE20}">
      <dsp:nvSpPr>
        <dsp:cNvPr id="0" name=""/>
        <dsp:cNvSpPr/>
      </dsp:nvSpPr>
      <dsp:spPr>
        <a:xfrm>
          <a:off x="666724" y="128568"/>
          <a:ext cx="2024437" cy="2024437"/>
        </a:xfrm>
        <a:prstGeom prst="round2DiagRect">
          <a:avLst>
            <a:gd name="adj1" fmla="val 29727"/>
            <a:gd name="adj2" fmla="val 0"/>
          </a:avLst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38100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38372-2E71-4550-892D-733C0DFC907D}">
      <dsp:nvSpPr>
        <dsp:cNvPr id="0" name=""/>
        <dsp:cNvSpPr/>
      </dsp:nvSpPr>
      <dsp:spPr>
        <a:xfrm>
          <a:off x="1098162" y="560006"/>
          <a:ext cx="1161562" cy="1161562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51F89-99EA-441F-B340-92A6FE4BB5F7}">
      <dsp:nvSpPr>
        <dsp:cNvPr id="0" name=""/>
        <dsp:cNvSpPr/>
      </dsp:nvSpPr>
      <dsp:spPr>
        <a:xfrm>
          <a:off x="19568" y="2783569"/>
          <a:ext cx="33187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project entails the development of a multi-modal and the ML-based and real-time monitoring system, which is superior to the one used in fall detection technology at present.</a:t>
          </a:r>
        </a:p>
      </dsp:txBody>
      <dsp:txXfrm>
        <a:off x="19568" y="2783569"/>
        <a:ext cx="3318750" cy="855000"/>
      </dsp:txXfrm>
    </dsp:sp>
    <dsp:sp modelId="{F1877F9A-50CC-4C28-9080-E9A2EB47741A}">
      <dsp:nvSpPr>
        <dsp:cNvPr id="0" name=""/>
        <dsp:cNvSpPr/>
      </dsp:nvSpPr>
      <dsp:spPr>
        <a:xfrm>
          <a:off x="4566256" y="128568"/>
          <a:ext cx="2024437" cy="2024437"/>
        </a:xfrm>
        <a:prstGeom prst="round2DiagRect">
          <a:avLst>
            <a:gd name="adj1" fmla="val 29727"/>
            <a:gd name="adj2" fmla="val 0"/>
          </a:avLst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38100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6C682-61C7-46D7-8240-98A72FBA3A6E}">
      <dsp:nvSpPr>
        <dsp:cNvPr id="0" name=""/>
        <dsp:cNvSpPr/>
      </dsp:nvSpPr>
      <dsp:spPr>
        <a:xfrm>
          <a:off x="4997693" y="560006"/>
          <a:ext cx="1161562" cy="116156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A978A-DE8F-43F4-9290-3735BAE8284D}">
      <dsp:nvSpPr>
        <dsp:cNvPr id="0" name=""/>
        <dsp:cNvSpPr/>
      </dsp:nvSpPr>
      <dsp:spPr>
        <a:xfrm>
          <a:off x="3919100" y="2783569"/>
          <a:ext cx="33187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 are incorporating wearables, environment sensors, glove cameras that are privacy friendly and vital signs tracking to provide all-day care to seniors.</a:t>
          </a:r>
        </a:p>
      </dsp:txBody>
      <dsp:txXfrm>
        <a:off x="3919100" y="2783569"/>
        <a:ext cx="3318750" cy="855000"/>
      </dsp:txXfrm>
    </dsp:sp>
    <dsp:sp modelId="{CAFE6449-6F82-4D97-9CE9-133383509D43}">
      <dsp:nvSpPr>
        <dsp:cNvPr id="0" name=""/>
        <dsp:cNvSpPr/>
      </dsp:nvSpPr>
      <dsp:spPr>
        <a:xfrm>
          <a:off x="8465787" y="128568"/>
          <a:ext cx="2024437" cy="2024437"/>
        </a:xfrm>
        <a:prstGeom prst="round2DiagRect">
          <a:avLst>
            <a:gd name="adj1" fmla="val 29727"/>
            <a:gd name="adj2" fmla="val 0"/>
          </a:avLst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38100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2EF03-99FB-47FD-B4F8-FE38D74EDB21}">
      <dsp:nvSpPr>
        <dsp:cNvPr id="0" name=""/>
        <dsp:cNvSpPr/>
      </dsp:nvSpPr>
      <dsp:spPr>
        <a:xfrm>
          <a:off x="8897225" y="560006"/>
          <a:ext cx="1161562" cy="1161562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A22C0-56B1-4156-93D7-BC400497DECA}">
      <dsp:nvSpPr>
        <dsp:cNvPr id="0" name=""/>
        <dsp:cNvSpPr/>
      </dsp:nvSpPr>
      <dsp:spPr>
        <a:xfrm>
          <a:off x="7818631" y="2783569"/>
          <a:ext cx="33187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With sensor fusion, edge computing and the connection to electronic health records, quicker response, fewer false alerts, and improved overall experience of care in assisted living and hospitals are realized.</a:t>
          </a:r>
        </a:p>
      </dsp:txBody>
      <dsp:txXfrm>
        <a:off x="7818631" y="2783569"/>
        <a:ext cx="3318750" cy="85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BD902-286A-8946-9A77-6A7CD446DD5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E6D7F-D36B-644F-9458-5441C25DD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0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207D2D-C40F-B340-AA6C-83143B0BC2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Alarm fatigue is real sometimes the response time is slow and maybe short staff. </a:t>
            </a:r>
          </a:p>
          <a:p>
            <a:r>
              <a:rPr lang="en-US" dirty="0"/>
              <a:t>Fusion plus calibrations can raise precision without losing recall.</a:t>
            </a:r>
          </a:p>
          <a:p>
            <a:r>
              <a:rPr lang="en-US" dirty="0"/>
              <a:t>Using ML can provide better results and can reduce the cases of false alarms and improve the quality of life.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207D2D-C40F-B340-AA6C-83143B0BC2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01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207D2D-C40F-B340-AA6C-83143B0BC2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28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RTMMS provides privacy-first, real-time safety with measurable SLAs. (Service level Agreements)</a:t>
            </a:r>
          </a:p>
          <a:p>
            <a:r>
              <a:rPr lang="en-US" dirty="0"/>
              <a:t>Fusion + calibration reduce alarm burden while preserving recall.</a:t>
            </a:r>
          </a:p>
          <a:p>
            <a:r>
              <a:rPr lang="en-US" dirty="0"/>
              <a:t>EHR integration enables auditability and clinical handoff.</a:t>
            </a:r>
          </a:p>
          <a:p>
            <a:r>
              <a:rPr lang="en-US" dirty="0"/>
              <a:t>By maintaining the PHI as a bridge to protect the EHR  can guarantee the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207D2D-C40F-B340-AA6C-83143B0BC2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14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DDD5-EA7C-3E47-8BE6-1F47A7B1F478}" type="datetime1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8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E84F4-C6FE-B94C-8004-F6007ADB10EF}" type="datetime1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5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CA9F-0F6B-F840-B200-E3DAB3BA0724}" type="datetime1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5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46A9-5159-DB4F-8606-554107F6639E}" type="datetime1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05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5039-9034-7A45-87F5-A4244E6760AA}" type="datetime1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6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AB0CC-CCB6-F14B-82BE-F5E5DBCABD89}" type="datetime1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22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BF8F-D878-4846-BA33-D9E53F857A86}" type="datetime1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0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EDAE-699F-FD41-A56E-9CDA1589B582}" type="datetime1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4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AE2F-E4AB-7F4D-8919-F69D0BDB6CB2}" type="datetime1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9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5C03-78D9-A94B-AE1E-25A829227946}" type="datetime1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3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8F5CF-D2A9-A64A-AADA-45DDD10337D2}" type="datetime1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0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2C47D030-BEF2-F04D-8E00-5C95FAE30972}" type="datetime1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CS699B_FA25 - Professional Seminar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4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9019803/#Sec12" TargetMode="External"/><Relationship Id="rId2" Type="http://schemas.openxmlformats.org/officeDocument/2006/relationships/hyperlink" Target="https://www.mdpi.com/1424-8220/19/9/198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cforum.biomedcentral.com/articles/10.1186/s13054-021-03766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90874" y="2116394"/>
            <a:ext cx="4001197" cy="160139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Multi-Modal Monitoring System for Assisted Living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29268" y="3717791"/>
            <a:ext cx="4262803" cy="2189214"/>
          </a:xfrm>
        </p:spPr>
        <p:txBody>
          <a:bodyPr>
            <a:norm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CS699B_FA25 Project Analysis &amp; Design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Pavan Kumar Pekala         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6762E5D9-4B44-6545-F32B-C8EEF93DD4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97" r="21715" b="-2"/>
          <a:stretch>
            <a:fillRect/>
          </a:stretch>
        </p:blipFill>
        <p:spPr>
          <a:xfrm>
            <a:off x="990295" y="832589"/>
            <a:ext cx="5283896" cy="5178106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BDDCF-3CEB-0756-092B-229C448BF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55E04-4F20-F3BF-5F79-83B04D6D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" y="1273830"/>
            <a:ext cx="11155680" cy="100513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72114" y="6998678"/>
            <a:ext cx="18473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endParaRPr sz="4400" dirty="0"/>
          </a:p>
        </p:txBody>
      </p:sp>
      <p:sp>
        <p:nvSpPr>
          <p:cNvPr id="4" name="Rectangle 3"/>
          <p:cNvSpPr/>
          <p:nvPr/>
        </p:nvSpPr>
        <p:spPr>
          <a:xfrm>
            <a:off x="757311" y="3042139"/>
            <a:ext cx="1554480" cy="2743200"/>
          </a:xfrm>
          <a:prstGeom prst="rect">
            <a:avLst/>
          </a:prstGeom>
          <a:solidFill>
            <a:srgbClr val="FFB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/>
            </a:pP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/>
            </a:pPr>
            <a:r>
              <a:rPr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Falls, Wandering &amp; Deterioration</a:t>
            </a:r>
          </a:p>
          <a:p>
            <a:pPr algn="ctr">
              <a:defRPr sz="1200"/>
            </a:pPr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concerns in assisted living.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5939" y="3042139"/>
            <a:ext cx="1554480" cy="2743200"/>
          </a:xfrm>
          <a:prstGeom prst="rect">
            <a:avLst/>
          </a:prstGeom>
          <a:solidFill>
            <a:srgbClr val="FFE6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3200" b="1"/>
            </a:pPr>
            <a:endParaRPr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200"/>
            </a:pPr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Multi-Modal Monitoring System for sub-second detection.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74566" y="3042139"/>
            <a:ext cx="1492347" cy="2743200"/>
          </a:xfrm>
          <a:prstGeom prst="rect">
            <a:avLst/>
          </a:prstGeom>
          <a:solidFill>
            <a:srgbClr val="CCFF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/>
            </a:pP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/>
            </a:pPr>
            <a:r>
              <a:rPr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Integration</a:t>
            </a:r>
          </a:p>
          <a:p>
            <a:pPr algn="ctr">
              <a:defRPr sz="1200"/>
            </a:pPr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from wearables, ambient IoT,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depth/mmWave sensors.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3190" y="3055679"/>
            <a:ext cx="1554480" cy="2743200"/>
          </a:xfrm>
          <a:prstGeom prst="rect">
            <a:avLst/>
          </a:prstGeom>
          <a:solidFill>
            <a:srgbClr val="CCCC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/>
            </a:pPr>
            <a:endParaRPr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/>
            </a:pPr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Protection</a:t>
            </a:r>
          </a:p>
          <a:p>
            <a:pPr algn="ctr">
              <a:defRPr sz="1200"/>
            </a:pPr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secure handling of patient EHRs.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705064" y="3055679"/>
            <a:ext cx="1554480" cy="2743200"/>
          </a:xfrm>
          <a:prstGeom prst="rect">
            <a:avLst/>
          </a:prstGeom>
          <a:solidFill>
            <a:srgbClr val="B3D9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/>
            </a:pPr>
            <a:endParaRPr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/>
            </a:pPr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</a:p>
          <a:p>
            <a:pPr algn="ctr">
              <a:defRPr sz="1200"/>
            </a:pPr>
            <a:r>
              <a:rPr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vitals, reviews live data, and enables quick action.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0250558F-18EA-F30B-7902-8C49BA15D6E5}"/>
              </a:ext>
            </a:extLst>
          </p:cNvPr>
          <p:cNvSpPr/>
          <p:nvPr/>
        </p:nvSpPr>
        <p:spPr>
          <a:xfrm>
            <a:off x="2366889" y="4221539"/>
            <a:ext cx="543951" cy="38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E9A580C2-75C2-704B-E70C-22FC0F5EA95D}"/>
              </a:ext>
            </a:extLst>
          </p:cNvPr>
          <p:cNvSpPr/>
          <p:nvPr/>
        </p:nvSpPr>
        <p:spPr>
          <a:xfrm>
            <a:off x="4575518" y="4221539"/>
            <a:ext cx="536916" cy="4114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3D571CC3-8AFF-7745-CEA4-6A5BDAAB8057}"/>
              </a:ext>
            </a:extLst>
          </p:cNvPr>
          <p:cNvSpPr/>
          <p:nvPr/>
        </p:nvSpPr>
        <p:spPr>
          <a:xfrm>
            <a:off x="6729044" y="4221539"/>
            <a:ext cx="592015" cy="4114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747733A-9FE3-3D24-02D1-B8AAE11C404F}"/>
              </a:ext>
            </a:extLst>
          </p:cNvPr>
          <p:cNvSpPr/>
          <p:nvPr/>
        </p:nvSpPr>
        <p:spPr>
          <a:xfrm>
            <a:off x="8999801" y="4221539"/>
            <a:ext cx="654146" cy="4114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8680D5BF-13ED-198F-77ED-9FD68533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92C8566-84B6-6D4C-A4D9-B14587D0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61182-A029-A5EE-3A3B-9F2101F06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9EF3BC-B590-914A-8B09-5DFD4103C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6886818"/>
              </p:ext>
            </p:extLst>
          </p:nvPr>
        </p:nvGraphicFramePr>
        <p:xfrm>
          <a:off x="516001" y="2441448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CFB87-E12A-5F25-6373-81475FC1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E35DC-A4C4-7AC8-E697-CB3FE680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77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3E83CB-6A5A-A618-508D-F7E10F251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8134469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DF5D0-F25A-7B05-D562-9C6012CE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BF4D5-46D9-743F-3D0F-7950B820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2C3664-BB26-0A23-5BEA-E13DBA59F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8519277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D25765-16EA-F34B-B421-5D428B12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B521881-220E-60AE-7CB1-94193224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135BEC4-EA95-D037-0BA9-1842F363A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869" y="2601702"/>
            <a:ext cx="3465681" cy="24505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Functional specification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3F026C-6603-0263-17F2-3B01F4D4D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337117"/>
              </p:ext>
            </p:extLst>
          </p:nvPr>
        </p:nvGraphicFramePr>
        <p:xfrm>
          <a:off x="4232366" y="884635"/>
          <a:ext cx="7438427" cy="5187640"/>
        </p:xfrm>
        <a:graphic>
          <a:graphicData uri="http://schemas.openxmlformats.org/drawingml/2006/table">
            <a:tbl>
              <a:tblPr>
                <a:solidFill>
                  <a:schemeClr val="accent1">
                    <a:lumMod val="20000"/>
                    <a:lumOff val="80000"/>
                  </a:schemeClr>
                </a:solidFill>
                <a:tableStyleId>{8EC20E35-A176-4012-BC5E-935CFFF8708E}</a:tableStyleId>
              </a:tblPr>
              <a:tblGrid>
                <a:gridCol w="3303001">
                  <a:extLst>
                    <a:ext uri="{9D8B030D-6E8A-4147-A177-3AD203B41FA5}">
                      <a16:colId xmlns:a16="http://schemas.microsoft.com/office/drawing/2014/main" val="3838943501"/>
                    </a:ext>
                  </a:extLst>
                </a:gridCol>
                <a:gridCol w="4135426">
                  <a:extLst>
                    <a:ext uri="{9D8B030D-6E8A-4147-A177-3AD203B41FA5}">
                      <a16:colId xmlns:a16="http://schemas.microsoft.com/office/drawing/2014/main" val="705227712"/>
                    </a:ext>
                  </a:extLst>
                </a:gridCol>
              </a:tblGrid>
              <a:tr h="348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</a:t>
                      </a:r>
                      <a:endParaRPr lang="en-US" sz="130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  <a:endParaRPr lang="en-US" sz="13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291920"/>
                  </a:ext>
                </a:extLst>
              </a:tr>
              <a:tr h="54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Administrator</a:t>
                      </a:r>
                      <a:endParaRPr lang="en-US" sz="13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Manages overall system configuration, user accounts, and ensures data privacy and security.</a:t>
                      </a: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96027"/>
                  </a:ext>
                </a:extLst>
              </a:tr>
              <a:tr h="74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 Team (Doctors/Nurses)</a:t>
                      </a:r>
                      <a:endParaRPr lang="en-US" sz="130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patient vitals, receives alerts (e.g., fall detection, abnormal vitals), and acknowledges or responds to incidents.</a:t>
                      </a: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221956"/>
                  </a:ext>
                </a:extLst>
              </a:tr>
              <a:tr h="74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</a:t>
                      </a:r>
                      <a:endParaRPr lang="en-US" sz="130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Wears sensor devices (IMU, SpO₂, heart rate monitor), views their vitals on the dashboard, and can request help using the “I Need Help” button.</a:t>
                      </a: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166221"/>
                  </a:ext>
                </a:extLst>
              </a:tr>
              <a:tr h="74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Device / Gateway</a:t>
                      </a:r>
                      <a:endParaRPr lang="en-US" sz="13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Collects multi-modal data from sensors, preprocesses it locally, and sends it securely to the cloud for analysis.</a:t>
                      </a: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347695"/>
                  </a:ext>
                </a:extLst>
              </a:tr>
              <a:tr h="74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Engine</a:t>
                      </a:r>
                      <a:endParaRPr lang="en-US" sz="13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 incoming sensor data, performs fusion analysis, detects abnormal events, and triggers alerts based on model inference.</a:t>
                      </a: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22998"/>
                  </a:ext>
                </a:extLst>
              </a:tr>
              <a:tr h="54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Server</a:t>
                      </a:r>
                      <a:endParaRPr lang="en-US" sz="13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historical alerts, vitals, and incident logs for reporting and further analysis.</a:t>
                      </a: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424177"/>
                  </a:ext>
                </a:extLst>
              </a:tr>
              <a:tr h="74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EHR / Hospital System</a:t>
                      </a:r>
                      <a:endParaRPr lang="en-US" sz="13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Receives anonymized health data and alerts through the SMART on FHIR interface for medical record integration.</a:t>
                      </a:r>
                    </a:p>
                  </a:txBody>
                  <a:tcPr marL="46288" marR="46288" marT="23144" marB="775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326051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D191E-D778-4E99-85C8-F45F63BB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6753E-CB33-C691-D196-211A56C0B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110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E243-41E3-3DE7-C52A-E6B7C5A9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A805B3-9AEB-D2C1-73C6-2867F7B04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49499" y="2128799"/>
            <a:ext cx="7992679" cy="431800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AB1ED-0B07-BEC3-7D94-905F58FA1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DB2C1-AA12-99EF-FF9B-DF18D4BE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0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39683-21D7-0502-9075-12B8BD383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DC59FD-C412-5AA6-F0BD-DD7E4ED13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684" y="1920944"/>
            <a:ext cx="7848600" cy="4444678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56B4E-CA29-517C-A8D7-9B3E9E48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85EF9-91A7-8BF8-6CDC-4A391C14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977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CC6D-FF6F-6D4A-2928-CDAB57792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AFA618-5223-3BE8-D00C-7CA6B17D8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1037" y="1893125"/>
            <a:ext cx="6034617" cy="452596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7016A-97CA-3701-A620-D86A73B0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66099-3418-ADF9-B9C9-86AE263C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85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1985A-5CCB-9CCF-E298-8B28EEFB3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BA850A-4C14-A09D-01EB-11F5E184A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1770928"/>
            <a:ext cx="8636000" cy="4642572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13CE0-2DCA-F15C-17ED-51BE1DDC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39355-2D7B-8485-F0D0-5B4FE3AF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73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37B3-493C-C8C0-5CA3-9E59F0812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1923"/>
          </a:xfrm>
        </p:spPr>
        <p:txBody>
          <a:bodyPr>
            <a:normAutofit/>
          </a:bodyPr>
          <a:lstStyle/>
          <a:p>
            <a:pPr algn="ctr"/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– Label &amp; EHR Write Back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69D75-8B1C-35FD-896A-C2AAA1A18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655" y="2028497"/>
            <a:ext cx="10621108" cy="3993692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B3647-01F3-D56D-53A8-2B1C2029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969E2-5F8B-DB5F-CE42-FF5CCF32A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691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73EC-DA4A-4BF2-2A19-AD3CD9ACD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Chart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309CD0-19C7-9910-5F53-A7CF138FE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6850" y="1672431"/>
            <a:ext cx="6718300" cy="438150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53A41-34A6-F57B-F0DA-BC2B591A9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494E0-0C18-69D1-18EA-AF27A5CBA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893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5D5B-8019-237C-1D66-00AE0E98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34778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15D70B-8ED5-5B2A-CD23-ECA3EBF73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3797" y="1823330"/>
            <a:ext cx="9435224" cy="496088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E1C81-125A-B0E8-9EE7-DAE63719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00A5C-0EC3-09E1-B783-451EBD24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ECB10-5F6D-D4AA-29D7-50DB62443476}"/>
              </a:ext>
            </a:extLst>
          </p:cNvPr>
          <p:cNvSpPr txBox="1"/>
          <p:nvPr/>
        </p:nvSpPr>
        <p:spPr>
          <a:xfrm>
            <a:off x="1481959" y="1996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620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24ED-EFAD-E70C-07C6-34B83E789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988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265FD-99FC-42E1-00C0-AA2E440EF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345" y="1709928"/>
            <a:ext cx="8978900" cy="4970462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B0CFF-1A8E-0883-D58A-23AC2B0D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CA105-177E-E550-C796-A4FF3FD6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825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5954-BEC7-D184-EADA-9AB83133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6695-E36D-DC68-369E-95628D39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764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3B27B1-B634-E001-01D0-43BDE17A8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213945" y="1923289"/>
            <a:ext cx="8229600" cy="4495799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27ADC-A487-F44E-00FB-15FFDE84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B1928-CAA5-A3E7-01A5-487C0A28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36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8772-C9E6-6D36-C546-22FA59B5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68681"/>
            <a:ext cx="11155680" cy="87571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794FCA-3700-71A0-85BD-CFB917B8F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0062" y="1818759"/>
            <a:ext cx="6685338" cy="452596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FDCED-FE4B-5C4F-3303-FE448CD6F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9FF77-21D8-A3D0-C473-9EDDC39C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703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A694D-07A1-B46F-204D-96812B60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8201"/>
            <a:ext cx="11155680" cy="88192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DFAA99-520B-00E5-5155-3B089D6A0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700" y="1839310"/>
            <a:ext cx="8001000" cy="461229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5D75E-E30F-9868-29FF-6187C2A4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ECEC6-63CC-75B1-66E2-DC2F9F91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996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B6C7-1006-88F6-604C-3ECBA8D8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988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side - Dashboard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5E2296-C3AF-3C47-E8D7-9495742BBD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358" y="2105851"/>
            <a:ext cx="8229600" cy="4495799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CFA2B2-8C5E-F9B2-6AA9-1007B62E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F5EF4-162B-5817-93D5-E28E3E9E5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22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6F7F-4E19-F063-9D4E-50245D78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315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Team side -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267206-AEA2-2F72-800B-39DC5C8B3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7931" y="1928050"/>
            <a:ext cx="8229600" cy="467360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F5FB4-FBF6-BCBE-E47F-66E3F268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73787"/>
            <a:ext cx="4114800" cy="365125"/>
          </a:xfrm>
        </p:spPr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3119B-AAB8-E20A-4275-85DE3C4B5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893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0324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Future Issues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3228" y="1938107"/>
            <a:ext cx="1371600" cy="16459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dirty="0"/>
          </a:p>
          <a:p>
            <a:pPr algn="ctr">
              <a:defRPr sz="2800" b="1"/>
            </a:pPr>
            <a:r>
              <a:rPr sz="1400" dirty="0"/>
              <a:t>Data Privacy &amp; Security</a:t>
            </a:r>
          </a:p>
          <a:p>
            <a:pPr algn="ctr">
              <a:defRPr sz="1100"/>
            </a:pPr>
            <a:r>
              <a:rPr sz="1100" dirty="0"/>
              <a:t>Protecting EHRs, API vulnerabilities, and compliance with HIPAA/GDPR.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50254" y="1938107"/>
            <a:ext cx="1371600" cy="16459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rPr sz="1400" dirty="0"/>
              <a:t>Sensor Reliability</a:t>
            </a:r>
          </a:p>
          <a:p>
            <a:pPr algn="ctr">
              <a:defRPr sz="1100"/>
            </a:pPr>
            <a:r>
              <a:rPr sz="1100" dirty="0"/>
              <a:t>Signal interference, calibration drift, and false alerts.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7280" y="1938107"/>
            <a:ext cx="1371600" cy="16459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/>
            </a:pPr>
            <a:r>
              <a:rPr sz="1400" dirty="0"/>
              <a:t>Model Bias &amp; Generalization</a:t>
            </a:r>
          </a:p>
          <a:p>
            <a:pPr algn="ctr">
              <a:defRPr sz="1100"/>
            </a:pPr>
            <a:r>
              <a:rPr sz="1100" dirty="0"/>
              <a:t>Overfitting to specific environments and demographic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64306" y="1938107"/>
            <a:ext cx="1371600" cy="16459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/>
            </a:pPr>
            <a:r>
              <a:rPr sz="1400" dirty="0"/>
              <a:t>System Integration</a:t>
            </a:r>
          </a:p>
          <a:p>
            <a:pPr algn="ctr">
              <a:defRPr sz="1100"/>
            </a:pPr>
            <a:r>
              <a:rPr sz="1100" dirty="0"/>
              <a:t>Challenges syncing SMART/FHIR with legacy EHR systems.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1332" y="1938107"/>
            <a:ext cx="1371600" cy="16459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/>
            </a:pPr>
            <a:r>
              <a:rPr sz="1400" dirty="0"/>
              <a:t>Real-Time Constraints</a:t>
            </a:r>
          </a:p>
          <a:p>
            <a:pPr algn="ctr">
              <a:defRPr sz="1100"/>
            </a:pPr>
            <a:r>
              <a:rPr sz="1100" dirty="0"/>
              <a:t>Maintaining sub-second detection under network latency.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5680" y="3840479"/>
            <a:ext cx="1371600" cy="16459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rPr sz="1400" dirty="0"/>
              <a:t>User Adoption</a:t>
            </a:r>
          </a:p>
          <a:p>
            <a:pPr algn="ctr">
              <a:defRPr sz="1100"/>
            </a:pPr>
            <a:r>
              <a:rPr sz="1100" dirty="0"/>
              <a:t>Resistance from elderly users and need for intuitive interfaces.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880" y="3840479"/>
            <a:ext cx="1371600" cy="16459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/>
            </a:pPr>
            <a:r>
              <a:rPr sz="1400" dirty="0"/>
              <a:t>Scalability &amp; Maintenance</a:t>
            </a:r>
          </a:p>
          <a:p>
            <a:pPr algn="ctr">
              <a:defRPr sz="1100"/>
            </a:pPr>
            <a:r>
              <a:rPr sz="1100" dirty="0"/>
              <a:t>Growing data loads require retraining and system upkeep.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90F784-8192-65BB-90DF-82352F61281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64828" y="2761067"/>
            <a:ext cx="58542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414520-C146-AC94-07F5-3AB0BFE7F75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21854" y="2761067"/>
            <a:ext cx="58542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F4173B-AA32-FCFA-C43A-8A793479B07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278880" y="2761067"/>
            <a:ext cx="58542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AC83F8-0265-9CA1-C0C8-FFC95C3FBBB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235906" y="2761067"/>
            <a:ext cx="58542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A9CC3D1-0FAC-7CB7-9D20-F4714EBA5926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4907280" y="4663439"/>
            <a:ext cx="13716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BEFFE9F2-CCDF-BFF6-53A3-A5C8D4D2F66B}"/>
              </a:ext>
            </a:extLst>
          </p:cNvPr>
          <p:cNvCxnSpPr>
            <a:stCxn id="8" idx="2"/>
            <a:endCxn id="11" idx="3"/>
          </p:cNvCxnSpPr>
          <p:nvPr/>
        </p:nvCxnSpPr>
        <p:spPr>
          <a:xfrm rot="5400000">
            <a:off x="8039100" y="3195407"/>
            <a:ext cx="1079412" cy="1856652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F70A2494-B0C5-35E9-A5B1-67AF6B11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BB548DB-898A-8F15-5FA0-FE58C1B0C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71413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17F4269-514B-61CC-AF51-5DABD089FE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914310"/>
              </p:ext>
            </p:extLst>
          </p:nvPr>
        </p:nvGraphicFramePr>
        <p:xfrm>
          <a:off x="517869" y="2296746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214DF-FAF1-AA53-2126-12CB40CF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5DDDC-42FE-761D-5900-FDB633AF3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12DB9-4DD2-82AA-8DA1-1B5E7A09B452}"/>
              </a:ext>
            </a:extLst>
          </p:cNvPr>
          <p:cNvSpPr txBox="1"/>
          <p:nvPr/>
        </p:nvSpPr>
        <p:spPr>
          <a:xfrm>
            <a:off x="1734207" y="1996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8732520" cy="14630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870" y="2112264"/>
            <a:ext cx="8732520" cy="3767328"/>
          </a:xfrm>
        </p:spPr>
        <p:txBody>
          <a:bodyPr>
            <a:normAutofit/>
          </a:bodyPr>
          <a:lstStyle/>
          <a:p>
            <a:pPr>
              <a:spcAft>
                <a:spcPts val="1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UP-Fall Detection Dataset: A Multimodal Approach by Lourdes Martínez-Villasenor, Hiram Ponce, Jorge Brieva, Ernesto Moya-Albor, Jose Nunez-Martínez and Carlos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Peñafort-Asturiano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https://www.mdpi.com/1424-8220/19/9/1988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Wandering Detection: CNN for Elderly Wandering Prediction in Indoor Scenarios by Rafael Oliveira, Rafael Feres, Fabio Barreto and Raphael Abreu.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https://pmc.ncbi.nlm.nih.gov/articles/PMC9019803/#Sec12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Aft>
                <a:spcPts val="1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Undetected physiological deterioration: The impact of wearable continuous vital sign monitoring on deterioration detection and clinical outcomes in hospitalized patients by Carlos Areia, Christopher Biggs, Mauro Santos, Neal Thurley, Stephen Gerry, Lionel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Tarassenko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Peter Watkinson and Sarah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https://ccforum.biomedcentral.com/articles/10.1186/s13054-021-03766-4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024FA-B182-1025-2690-E2A86F25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CS699B_FA25 - Professional Seminar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9633-B9CF-DC82-B5DB-E1312350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1116</Words>
  <Application>Microsoft Macintosh PowerPoint</Application>
  <PresentationFormat>Widescreen</PresentationFormat>
  <Paragraphs>146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Bierstadt</vt:lpstr>
      <vt:lpstr>Times New Roman</vt:lpstr>
      <vt:lpstr>GestaltVTI</vt:lpstr>
      <vt:lpstr>Real-Time Multi-Modal Monitoring System for Assisted Living</vt:lpstr>
      <vt:lpstr>Abstract </vt:lpstr>
      <vt:lpstr>Problem Statement </vt:lpstr>
      <vt:lpstr>Motivation</vt:lpstr>
      <vt:lpstr>Technologies Used</vt:lpstr>
      <vt:lpstr>PowerPoint Presentation</vt:lpstr>
      <vt:lpstr>Use Case Diagram</vt:lpstr>
      <vt:lpstr>Class Diagram </vt:lpstr>
      <vt:lpstr>Object Diagram </vt:lpstr>
      <vt:lpstr>Sequence Diagram </vt:lpstr>
      <vt:lpstr>Sequence Diagram – Label &amp; EHR Write Back</vt:lpstr>
      <vt:lpstr>State Chart Diagram </vt:lpstr>
      <vt:lpstr>Deployment Diagram </vt:lpstr>
      <vt:lpstr>Package Diagram </vt:lpstr>
      <vt:lpstr>Entity Relationship diagram </vt:lpstr>
      <vt:lpstr>Navigation Diagram </vt:lpstr>
      <vt:lpstr>System Design Diagram </vt:lpstr>
      <vt:lpstr>Patient side - Dashboard </vt:lpstr>
      <vt:lpstr>Care Team side - Dashboard</vt:lpstr>
      <vt:lpstr>Possible Future Issues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Pekala, Pavan Kumar</dc:creator>
  <cp:lastModifiedBy>Pekala, Pavan Kumar</cp:lastModifiedBy>
  <cp:revision>8</cp:revision>
  <dcterms:created xsi:type="dcterms:W3CDTF">2025-11-01T21:20:38Z</dcterms:created>
  <dcterms:modified xsi:type="dcterms:W3CDTF">2025-11-03T01:03:57Z</dcterms:modified>
</cp:coreProperties>
</file>