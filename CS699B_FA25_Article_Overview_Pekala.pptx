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1" r:id="rId3"/>
    <p:sldId id="272" r:id="rId4"/>
    <p:sldId id="258" r:id="rId5"/>
    <p:sldId id="264" r:id="rId6"/>
    <p:sldId id="265" r:id="rId7"/>
    <p:sldId id="259" r:id="rId8"/>
    <p:sldId id="260" r:id="rId9"/>
    <p:sldId id="266" r:id="rId10"/>
    <p:sldId id="267" r:id="rId11"/>
    <p:sldId id="268" r:id="rId12"/>
    <p:sldId id="269" r:id="rId13"/>
    <p:sldId id="275" r:id="rId14"/>
    <p:sldId id="276" r:id="rId15"/>
    <p:sldId id="273" r:id="rId16"/>
    <p:sldId id="270" r:id="rId17"/>
    <p:sldId id="26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31"/>
    <p:restoredTop sz="86089"/>
  </p:normalViewPr>
  <p:slideViewPr>
    <p:cSldViewPr snapToGrid="0" snapToObjects="1">
      <p:cViewPr>
        <p:scale>
          <a:sx n="130" d="100"/>
          <a:sy n="130" d="100"/>
        </p:scale>
        <p:origin x="1008"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EEF4F-FCCF-1D48-8443-FAA535078E3C}" type="datetimeFigureOut">
              <a:rPr lang="en-US" smtClean="0"/>
              <a:t>11/1/25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07D2D-C40F-B340-AA6C-83143B0BC2F8}" type="slidenum">
              <a:rPr lang="en-US" smtClean="0"/>
              <a:t>‹#›</a:t>
            </a:fld>
            <a:endParaRPr lang="en-US"/>
          </a:p>
        </p:txBody>
      </p:sp>
    </p:spTree>
    <p:extLst>
      <p:ext uri="{BB962C8B-B14F-4D97-AF65-F5344CB8AC3E}">
        <p14:creationId xmlns:p14="http://schemas.microsoft.com/office/powerpoint/2010/main" val="220549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1</a:t>
            </a:fld>
            <a:endParaRPr lang="en-US"/>
          </a:p>
        </p:txBody>
      </p:sp>
    </p:spTree>
    <p:extLst>
      <p:ext uri="{BB962C8B-B14F-4D97-AF65-F5344CB8AC3E}">
        <p14:creationId xmlns:p14="http://schemas.microsoft.com/office/powerpoint/2010/main" val="8952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is to provide faster care and accurate results.</a:t>
            </a:r>
          </a:p>
          <a:p>
            <a:r>
              <a:rPr lang="en-US" dirty="0"/>
              <a:t>Inertial Measurement unit (IMU) is a device that measures body’s specific force and orientation in 3D space</a:t>
            </a:r>
          </a:p>
          <a:p>
            <a:r>
              <a:rPr lang="en-US" dirty="0"/>
              <a:t>Likewise, depth/millimeterWave(mmWave)/thermal, ambient IoT, audio, and vitals combining all of these makes a multi modal</a:t>
            </a:r>
          </a:p>
          <a:p>
            <a:r>
              <a:rPr lang="en-US" dirty="0"/>
              <a:t>The benefit of a multi modal is fewer false alarms than single sensor systems.</a:t>
            </a:r>
          </a:p>
          <a:p>
            <a:r>
              <a:rPr lang="en-US" dirty="0"/>
              <a:t>Unimodal and Late fusion can be sufficed for simpler tasks but early fusion shines in tasks requiring deep modality interactions such as emotion recognition.</a:t>
            </a:r>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2</a:t>
            </a:fld>
            <a:endParaRPr lang="en-US"/>
          </a:p>
        </p:txBody>
      </p:sp>
    </p:spTree>
    <p:extLst>
      <p:ext uri="{BB962C8B-B14F-4D97-AF65-F5344CB8AC3E}">
        <p14:creationId xmlns:p14="http://schemas.microsoft.com/office/powerpoint/2010/main" val="2629035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major problems in assisted living are falls, wandering and undetected physiological deterioration.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Developing a system to provide rapid detection that delivers clear and actionable alerts to medical staff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Sub Second detection - critical for real-time alerts</a:t>
            </a: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Feeding the data of Electronic Health Record (EHR) through Substitutable Medical Applications Reusable Technologies (SMART) on Fast Healthcare Interoperability Resources (FHIR) as a bridge to preserve the Protected Health Information (PHI) and ensures that no message is passed but it results in auditability and clinical handoff.</a:t>
            </a:r>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3</a:t>
            </a:fld>
            <a:endParaRPr lang="en-US"/>
          </a:p>
        </p:txBody>
      </p:sp>
    </p:spTree>
    <p:extLst>
      <p:ext uri="{BB962C8B-B14F-4D97-AF65-F5344CB8AC3E}">
        <p14:creationId xmlns:p14="http://schemas.microsoft.com/office/powerpoint/2010/main" val="3210891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 fatigue is real sometimes the response time is slow and maybe short staff. </a:t>
            </a:r>
          </a:p>
          <a:p>
            <a:r>
              <a:rPr lang="en-US" dirty="0"/>
              <a:t>Fusion plus calibrations can raise precision without losing recall.</a:t>
            </a:r>
          </a:p>
          <a:p>
            <a:r>
              <a:rPr lang="en-US" dirty="0"/>
              <a:t>Using ML can provide better results and can reduce the cases of false alarms and improve the quality of life.</a:t>
            </a:r>
          </a:p>
          <a:p>
            <a:endParaRPr lang="en-US" dirty="0"/>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4</a:t>
            </a:fld>
            <a:endParaRPr lang="en-US"/>
          </a:p>
        </p:txBody>
      </p:sp>
    </p:spTree>
    <p:extLst>
      <p:ext uri="{BB962C8B-B14F-4D97-AF65-F5344CB8AC3E}">
        <p14:creationId xmlns:p14="http://schemas.microsoft.com/office/powerpoint/2010/main" val="3216101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Detect high-risk events quickly with very low false alarms.</a:t>
            </a:r>
          </a:p>
          <a:p>
            <a:r>
              <a:rPr lang="en-US" dirty="0"/>
              <a:t>This is already an implemented model but privacy preserving fusion and bathroom safe privacy preserving fall systems are still being developed.</a:t>
            </a:r>
          </a:p>
          <a:p>
            <a:endParaRPr lang="en-US" dirty="0"/>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5</a:t>
            </a:fld>
            <a:endParaRPr lang="en-US"/>
          </a:p>
        </p:txBody>
      </p:sp>
    </p:spTree>
    <p:extLst>
      <p:ext uri="{BB962C8B-B14F-4D97-AF65-F5344CB8AC3E}">
        <p14:creationId xmlns:p14="http://schemas.microsoft.com/office/powerpoint/2010/main" val="4140467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The events to detect are falls, wandering and distress and abnormal vital condition.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builds a Unified pipeline that captures → fuse → score → alert → EHR.</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Example: A fall is detected (video + accelerometer), scored at 0.97, alerted to staff, logged in EHR, and reviewed/labeled for accuracy, with all steps audited</a:t>
            </a:r>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6</a:t>
            </a:fld>
            <a:endParaRPr lang="en-US"/>
          </a:p>
        </p:txBody>
      </p:sp>
    </p:spTree>
    <p:extLst>
      <p:ext uri="{BB962C8B-B14F-4D97-AF65-F5344CB8AC3E}">
        <p14:creationId xmlns:p14="http://schemas.microsoft.com/office/powerpoint/2010/main" val="1967355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Federated learning can improve the detection or improve treatment plans without sharing the patient's health records.</a:t>
            </a:r>
          </a:p>
          <a:p>
            <a:r>
              <a:rPr lang="en-US" dirty="0"/>
              <a:t>Predictive analysis uses statistical models and ML Algorithms to enhance the actions before they occur.</a:t>
            </a:r>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12</a:t>
            </a:fld>
            <a:endParaRPr lang="en-US"/>
          </a:p>
        </p:txBody>
      </p:sp>
    </p:spTree>
    <p:extLst>
      <p:ext uri="{BB962C8B-B14F-4D97-AF65-F5344CB8AC3E}">
        <p14:creationId xmlns:p14="http://schemas.microsoft.com/office/powerpoint/2010/main" val="589197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Faster response → fewer complications after falls.</a:t>
            </a:r>
          </a:p>
          <a:p>
            <a:r>
              <a:rPr lang="en-US" dirty="0"/>
              <a:t>Prevents unsafe elopement with discrete alerts.</a:t>
            </a:r>
          </a:p>
          <a:p>
            <a:r>
              <a:rPr lang="en-US" dirty="0"/>
              <a:t>Reduces caregiver alarm fatigue families gain peace of mind.</a:t>
            </a:r>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13</a:t>
            </a:fld>
            <a:endParaRPr lang="en-US"/>
          </a:p>
        </p:txBody>
      </p:sp>
    </p:spTree>
    <p:extLst>
      <p:ext uri="{BB962C8B-B14F-4D97-AF65-F5344CB8AC3E}">
        <p14:creationId xmlns:p14="http://schemas.microsoft.com/office/powerpoint/2010/main" val="2239113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Area under the Precision recall curve.</a:t>
            </a:r>
          </a:p>
          <a:p>
            <a:r>
              <a:rPr lang="en-US" dirty="0"/>
              <a:t>The targets for our system is AUPRC &gt; 0.85 and false alarms &lt; 0.20 per resident. Tuning the system to to achieve these targets can help in enhancing the systems performance.</a:t>
            </a:r>
            <a:br>
              <a:rPr lang="en-US" dirty="0"/>
            </a:br>
            <a:r>
              <a:rPr lang="en-US" dirty="0"/>
              <a:t>Across many studies wearables needs to be tested more rigorously to see better results and reduce the false alarms.</a:t>
            </a:r>
          </a:p>
        </p:txBody>
      </p:sp>
      <p:sp>
        <p:nvSpPr>
          <p:cNvPr id="4" name="Slide Number Placeholder 3"/>
          <p:cNvSpPr>
            <a:spLocks noGrp="1"/>
          </p:cNvSpPr>
          <p:nvPr>
            <p:ph type="sldNum" sz="quarter" idx="5"/>
          </p:nvPr>
        </p:nvSpPr>
        <p:spPr/>
        <p:txBody>
          <a:bodyPr/>
          <a:lstStyle/>
          <a:p>
            <a:fld id="{40207D2D-C40F-B340-AA6C-83143B0BC2F8}" type="slidenum">
              <a:rPr lang="en-US" smtClean="0"/>
              <a:t>15</a:t>
            </a:fld>
            <a:endParaRPr lang="en-US"/>
          </a:p>
        </p:txBody>
      </p:sp>
    </p:spTree>
    <p:extLst>
      <p:ext uri="{BB962C8B-B14F-4D97-AF65-F5344CB8AC3E}">
        <p14:creationId xmlns:p14="http://schemas.microsoft.com/office/powerpoint/2010/main" val="2116437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RTMMS provides privacy-first, real-time safety with measurable SLAs. (Service level Agreements)</a:t>
            </a:r>
          </a:p>
          <a:p>
            <a:r>
              <a:rPr lang="en-US" dirty="0"/>
              <a:t>Fusion + calibration reduce alarm burden while preserving recall.</a:t>
            </a:r>
          </a:p>
          <a:p>
            <a:r>
              <a:rPr lang="en-US" dirty="0"/>
              <a:t>EHR integration enables auditability and clinical handoff.</a:t>
            </a:r>
          </a:p>
          <a:p>
            <a:r>
              <a:rPr lang="en-US" dirty="0"/>
              <a:t>By maintaining the PHI as a bridge to protect the EHR  can guarantee the privacy.</a:t>
            </a:r>
          </a:p>
        </p:txBody>
      </p:sp>
      <p:sp>
        <p:nvSpPr>
          <p:cNvPr id="4" name="Slide Number Placeholder 3"/>
          <p:cNvSpPr>
            <a:spLocks noGrp="1"/>
          </p:cNvSpPr>
          <p:nvPr>
            <p:ph type="sldNum" sz="quarter" idx="5"/>
          </p:nvPr>
        </p:nvSpPr>
        <p:spPr/>
        <p:txBody>
          <a:bodyPr/>
          <a:lstStyle/>
          <a:p>
            <a:fld id="{40207D2D-C40F-B340-AA6C-83143B0BC2F8}" type="slidenum">
              <a:rPr lang="en-US" smtClean="0"/>
              <a:t>16</a:t>
            </a:fld>
            <a:endParaRPr lang="en-US"/>
          </a:p>
        </p:txBody>
      </p:sp>
    </p:spTree>
    <p:extLst>
      <p:ext uri="{BB962C8B-B14F-4D97-AF65-F5344CB8AC3E}">
        <p14:creationId xmlns:p14="http://schemas.microsoft.com/office/powerpoint/2010/main" val="3504014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mc.ncbi.nlm.nih.gov/articles/PMC9019803/#Sec12" TargetMode="External"/><Relationship Id="rId2" Type="http://schemas.openxmlformats.org/officeDocument/2006/relationships/hyperlink" Target="https://www.mdpi.com/1424-8220/19/9/1988" TargetMode="External"/><Relationship Id="rId1" Type="http://schemas.openxmlformats.org/officeDocument/2006/relationships/slideLayout" Target="../slideLayouts/slideLayout2.xml"/><Relationship Id="rId4" Type="http://schemas.openxmlformats.org/officeDocument/2006/relationships/hyperlink" Target="https://ccforum.biomedcentral.com/articles/10.1186/s13054-021-03766-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646037" y="739978"/>
            <a:ext cx="4001197" cy="3004145"/>
          </a:xfrm>
        </p:spPr>
        <p:txBody>
          <a:bodyPr>
            <a:normAutofit/>
          </a:bodyPr>
          <a:lstStyle/>
          <a:p>
            <a:pPr>
              <a:lnSpc>
                <a:spcPct val="90000"/>
              </a:lnSpc>
            </a:pPr>
            <a:r>
              <a:rPr lang="en-US" sz="2500" dirty="0">
                <a:latin typeface="Times New Roman" panose="02020603050405020304" pitchFamily="18" charset="0"/>
                <a:cs typeface="Times New Roman" panose="02020603050405020304" pitchFamily="18" charset="0"/>
              </a:rPr>
              <a:t>Real-Time Multi-Modal Monitoring System for Assisted Living</a:t>
            </a:r>
          </a:p>
        </p:txBody>
      </p:sp>
      <p:sp>
        <p:nvSpPr>
          <p:cNvPr id="3" name="Subtitle 2"/>
          <p:cNvSpPr>
            <a:spLocks noGrp="1"/>
          </p:cNvSpPr>
          <p:nvPr>
            <p:ph type="subTitle" idx="1"/>
          </p:nvPr>
        </p:nvSpPr>
        <p:spPr>
          <a:xfrm>
            <a:off x="4646036" y="3836197"/>
            <a:ext cx="4001198" cy="2189214"/>
          </a:xfrm>
        </p:spPr>
        <p:txBody>
          <a:bodyPr>
            <a:normAutofit lnSpcReduction="10000"/>
          </a:bodyPr>
          <a:lstStyle/>
          <a:p>
            <a:endParaRPr lang="en-US" sz="25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                                         </a:t>
            </a:r>
          </a:p>
          <a:p>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CS699B_FA25 – Article Presentation</a:t>
            </a:r>
          </a:p>
          <a:p>
            <a:r>
              <a:rPr lang="en-US" sz="2000" dirty="0">
                <a:solidFill>
                  <a:schemeClr val="tx1"/>
                </a:solidFill>
                <a:latin typeface="Times New Roman" panose="02020603050405020304" pitchFamily="18" charset="0"/>
                <a:cs typeface="Times New Roman" panose="02020603050405020304" pitchFamily="18" charset="0"/>
              </a:rPr>
              <a:t>            - Pavan Kumar Pekala</a:t>
            </a:r>
            <a:endParaRPr lang="en-US" sz="2500" dirty="0">
              <a:solidFill>
                <a:schemeClr val="tx1"/>
              </a:solidFill>
              <a:latin typeface="Times New Roman" panose="02020603050405020304" pitchFamily="18" charset="0"/>
              <a:cs typeface="Times New Roman" panose="02020603050405020304" pitchFamily="18" charset="0"/>
            </a:endParaRPr>
          </a:p>
        </p:txBody>
      </p:sp>
      <p:sp>
        <p:nvSpPr>
          <p:cNvPr id="51" name="Freeform: Shape 41">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1"/>
            <a:ext cx="866357"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43">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61789" y="0"/>
            <a:ext cx="1303050"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19805"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47">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73320" y="5717906"/>
            <a:ext cx="1328707"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5" name="Picture 4" descr="Digital financial graph">
            <a:extLst>
              <a:ext uri="{FF2B5EF4-FFF2-40B4-BE49-F238E27FC236}">
                <a16:creationId xmlns:a16="http://schemas.microsoft.com/office/drawing/2014/main" id="{6762E5D9-4B44-6545-F32B-C8EEF93DD455}"/>
              </a:ext>
            </a:extLst>
          </p:cNvPr>
          <p:cNvPicPr>
            <a:picLocks noChangeAspect="1"/>
          </p:cNvPicPr>
          <p:nvPr/>
        </p:nvPicPr>
        <p:blipFill>
          <a:blip r:embed="rId3"/>
          <a:srcRect l="36097" r="21715" b="-2"/>
          <a:stretch>
            <a:fillRect/>
          </a:stretch>
        </p:blipFill>
        <p:spPr>
          <a:xfrm>
            <a:off x="315310" y="598721"/>
            <a:ext cx="4750676" cy="4961252"/>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52" name="Freeform: Shape 51">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390384" y="6258756"/>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B9F27F-6A46-BC6F-B10F-046D0E8C2B8B}"/>
              </a:ext>
            </a:extLst>
          </p:cNvPr>
          <p:cNvSpPr>
            <a:spLocks noGrp="1"/>
          </p:cNvSpPr>
          <p:nvPr>
            <p:ph type="title"/>
          </p:nvPr>
        </p:nvSpPr>
        <p:spPr>
          <a:xfrm>
            <a:off x="473202" y="640080"/>
            <a:ext cx="3614166" cy="1481328"/>
          </a:xfrm>
        </p:spPr>
        <p:txBody>
          <a:bodyPr anchor="b">
            <a:normAutofit/>
          </a:bodyPr>
          <a:lstStyle/>
          <a:p>
            <a:pPr>
              <a:lnSpc>
                <a:spcPct val="90000"/>
              </a:lnSpc>
            </a:pPr>
            <a:r>
              <a:rPr lang="en-US" sz="2900" b="1" dirty="0">
                <a:latin typeface="Times New Roman" panose="02020603050405020304" pitchFamily="18" charset="0"/>
                <a:cs typeface="Times New Roman" panose="02020603050405020304" pitchFamily="18" charset="0"/>
              </a:rPr>
              <a:t>What is Real-Time Multi-Modal Monitoring System?</a:t>
            </a:r>
          </a:p>
        </p:txBody>
      </p:sp>
      <p:sp>
        <p:nvSpPr>
          <p:cNvPr id="103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9AEF78-73F0-94D0-839C-5D2EB7C94CA6}"/>
              </a:ext>
            </a:extLst>
          </p:cNvPr>
          <p:cNvSpPr>
            <a:spLocks noGrp="1"/>
          </p:cNvSpPr>
          <p:nvPr>
            <p:ph idx="1"/>
          </p:nvPr>
        </p:nvSpPr>
        <p:spPr>
          <a:xfrm>
            <a:off x="473202" y="2660904"/>
            <a:ext cx="3614166" cy="3547872"/>
          </a:xfrm>
        </p:spPr>
        <p:txBody>
          <a:bodyPr anchor="t">
            <a:normAutofit/>
          </a:bodyPr>
          <a:lstStyle/>
          <a:p>
            <a:r>
              <a:rPr lang="en-US" sz="1900" dirty="0">
                <a:latin typeface="Times New Roman" panose="02020603050405020304" pitchFamily="18" charset="0"/>
                <a:cs typeface="Times New Roman" panose="02020603050405020304" pitchFamily="18" charset="0"/>
              </a:rPr>
              <a:t>It is a method that helps in processing multiple types of data that helps in early detection of physiological disturbances.</a:t>
            </a:r>
          </a:p>
          <a:p>
            <a:r>
              <a:rPr lang="en-US" sz="1900" dirty="0">
                <a:latin typeface="Times New Roman" panose="02020603050405020304" pitchFamily="18" charset="0"/>
                <a:cs typeface="Times New Roman" panose="02020603050405020304" pitchFamily="18" charset="0"/>
              </a:rPr>
              <a:t>The data can be analyzed or processed by using Unimodal models.</a:t>
            </a:r>
          </a:p>
          <a:p>
            <a:r>
              <a:rPr lang="en-US" sz="1900" dirty="0">
                <a:latin typeface="Times New Roman" panose="02020603050405020304" pitchFamily="18" charset="0"/>
                <a:cs typeface="Times New Roman" panose="02020603050405020304" pitchFamily="18" charset="0"/>
              </a:rPr>
              <a:t>Late-fusion and Meta Learner can be used for multiple types of data.</a:t>
            </a:r>
          </a:p>
        </p:txBody>
      </p:sp>
      <p:pic>
        <p:nvPicPr>
          <p:cNvPr id="1026" name="Picture 2">
            <a:extLst>
              <a:ext uri="{FF2B5EF4-FFF2-40B4-BE49-F238E27FC236}">
                <a16:creationId xmlns:a16="http://schemas.microsoft.com/office/drawing/2014/main" id="{36688E22-3E41-15C1-96C7-2CB41A886A8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4286" y="1381887"/>
            <a:ext cx="4094226" cy="4094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192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5E8EBDB-65A6-0E4E-1E6A-944A05BB4C02}"/>
              </a:ext>
            </a:extLst>
          </p:cNvPr>
          <p:cNvSpPr txBox="1"/>
          <p:nvPr/>
        </p:nvSpPr>
        <p:spPr>
          <a:xfrm>
            <a:off x="628650" y="365125"/>
            <a:ext cx="4168866"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500" b="1" kern="1200" dirty="0">
                <a:solidFill>
                  <a:schemeClr val="tx1"/>
                </a:solidFill>
                <a:latin typeface="Times New Roman" panose="02020603050405020304" pitchFamily="18" charset="0"/>
                <a:ea typeface="+mj-ea"/>
                <a:cs typeface="Times New Roman" panose="02020603050405020304" pitchFamily="18" charset="0"/>
              </a:rPr>
              <a:t>Abstract</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97BCB463-53CF-2D9E-8C41-4BD51A760134}"/>
              </a:ext>
            </a:extLst>
          </p:cNvPr>
          <p:cNvSpPr txBox="1"/>
          <p:nvPr/>
        </p:nvSpPr>
        <p:spPr>
          <a:xfrm>
            <a:off x="628650" y="1690688"/>
            <a:ext cx="4168866" cy="4351338"/>
          </a:xfrm>
          <a:prstGeom prst="rect">
            <a:avLst/>
          </a:prstGeom>
        </p:spPr>
        <p:txBody>
          <a:bodyPr vert="horz" lIns="91440" tIns="45720" rIns="91440" bIns="45720" rtlCol="0">
            <a:noAutofit/>
          </a:bodyPr>
          <a:lstStyle/>
          <a:p>
            <a:pPr marL="285750" indent="-285750" defTabSz="914400">
              <a:lnSpc>
                <a:spcPct val="90000"/>
              </a:lnSpc>
              <a:spcBef>
                <a:spcPts val="100"/>
              </a:spcBef>
              <a:spcAft>
                <a:spcPts val="2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main concerns of the assisted living are Falls, wandering, and undetected physiological deterioration.</a:t>
            </a:r>
          </a:p>
          <a:p>
            <a:pPr marL="285750" indent="-285750" defTabSz="914400">
              <a:lnSpc>
                <a:spcPct val="90000"/>
              </a:lnSpc>
              <a:spcBef>
                <a:spcPts val="100"/>
              </a:spcBef>
              <a:spcAft>
                <a:spcPts val="2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We are proposing a RTMMS to give best results in high accuracy and precision to the sub-second detection.</a:t>
            </a:r>
          </a:p>
          <a:p>
            <a:pPr marL="285750" indent="-285750" defTabSz="914400">
              <a:lnSpc>
                <a:spcPct val="90000"/>
              </a:lnSpc>
              <a:spcBef>
                <a:spcPts val="100"/>
              </a:spcBef>
              <a:spcAft>
                <a:spcPts val="2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data can be collected from wearables, ambient IoT applications &amp; depth/mmWave sensors.</a:t>
            </a:r>
          </a:p>
          <a:p>
            <a:pPr marL="285750" indent="-285750" defTabSz="914400">
              <a:lnSpc>
                <a:spcPct val="90000"/>
              </a:lnSpc>
              <a:spcBef>
                <a:spcPts val="100"/>
              </a:spcBef>
              <a:spcAft>
                <a:spcPts val="2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target is to protect the privacy of EHRs of patients.</a:t>
            </a:r>
          </a:p>
          <a:p>
            <a:pPr marL="285750" indent="-285750" defTabSz="914400">
              <a:lnSpc>
                <a:spcPct val="90000"/>
              </a:lnSpc>
              <a:spcBef>
                <a:spcPts val="100"/>
              </a:spcBef>
              <a:spcAft>
                <a:spcPts val="2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Creating a dashboard to track the vitals, reviewing live making it interactive and actionable.</a:t>
            </a:r>
          </a:p>
          <a:p>
            <a:pPr defTabSz="914400">
              <a:lnSpc>
                <a:spcPct val="90000"/>
              </a:lnSpc>
              <a:spcAft>
                <a:spcPts val="100"/>
              </a:spcAft>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323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r>
              <a:rPr sz="3500" b="1" dirty="0">
                <a:latin typeface="Times New Roman" panose="02020603050405020304" pitchFamily="18" charset="0"/>
                <a:cs typeface="Times New Roman" panose="02020603050405020304" pitchFamily="18" charset="0"/>
              </a:rPr>
              <a:t>Motivation</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55612" y="2130426"/>
            <a:ext cx="4168866" cy="2387600"/>
          </a:xfrm>
        </p:spPr>
        <p:txBody>
          <a:bodyPr>
            <a:normAutofit fontScale="92500" lnSpcReduction="10000"/>
          </a:bodyPr>
          <a:lstStyle/>
          <a:p>
            <a:pPr>
              <a:lnSpc>
                <a:spcPct val="90000"/>
              </a:lnSpc>
            </a:pPr>
            <a:r>
              <a:rPr lang="en-US" sz="1600" dirty="0">
                <a:latin typeface="Times New Roman" panose="02020603050405020304" pitchFamily="18" charset="0"/>
                <a:cs typeface="Times New Roman" panose="02020603050405020304" pitchFamily="18" charset="0"/>
              </a:rPr>
              <a:t>The elderly in assisted homes continue to be victims of falls they can avoid, stumbling and fall hurts, coupled with unproven cases of poor health conditions. </a:t>
            </a:r>
          </a:p>
          <a:p>
            <a:pPr>
              <a:lnSpc>
                <a:spcPct val="90000"/>
              </a:lnSpc>
            </a:pPr>
            <a:r>
              <a:rPr lang="en-US" sz="1600" dirty="0">
                <a:latin typeface="Times New Roman" panose="02020603050405020304" pitchFamily="18" charset="0"/>
                <a:cs typeface="Times New Roman" panose="02020603050405020304" pitchFamily="18" charset="0"/>
              </a:rPr>
              <a:t>The existing systems are fragile and very loud and so tend to make a multitude of alerts that individuals have long since learning to ignore and result in the fatigue of being alerted.</a:t>
            </a:r>
          </a:p>
          <a:p>
            <a:pPr>
              <a:lnSpc>
                <a:spcPct val="90000"/>
              </a:lnSpc>
            </a:pPr>
            <a:r>
              <a:rPr lang="en-US" sz="1600" dirty="0">
                <a:latin typeface="Times New Roman" panose="02020603050405020304" pitchFamily="18" charset="0"/>
                <a:cs typeface="Times New Roman" panose="02020603050405020304" pitchFamily="18" charset="0"/>
              </a:rPr>
              <a:t>ML based solutions make it more accurate, reduces the cases of false alarms, and causes the caregivers to feel confident with the alerts that it indicates.</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nSpc>
                <a:spcPct val="90000"/>
              </a:lnSpc>
            </a:pPr>
            <a:r>
              <a:rPr lang="en-US" sz="3500" b="1" dirty="0">
                <a:latin typeface="Times New Roman" panose="02020603050405020304" pitchFamily="18" charset="0"/>
                <a:cs typeface="Times New Roman" panose="02020603050405020304" pitchFamily="18" charset="0"/>
              </a:rPr>
              <a:t>Problem Statement</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79497" y="1781900"/>
            <a:ext cx="4168866" cy="4101831"/>
          </a:xfrm>
        </p:spPr>
        <p:txBody>
          <a:bodyPr>
            <a:normAutofit/>
          </a:bodyPr>
          <a:lstStyle/>
          <a:p>
            <a:pPr>
              <a:lnSpc>
                <a:spcPct val="90000"/>
              </a:lnSpc>
              <a:spcAft>
                <a:spcPts val="150"/>
              </a:spcAft>
            </a:pPr>
            <a:r>
              <a:rPr lang="en-US" sz="1600" dirty="0">
                <a:latin typeface="Times New Roman" panose="02020603050405020304" pitchFamily="18" charset="0"/>
                <a:cs typeface="Times New Roman" panose="02020603050405020304" pitchFamily="18" charset="0"/>
              </a:rPr>
              <a:t>My project is a design and evaluation of a privacy preserving real-time monitoring system.</a:t>
            </a:r>
          </a:p>
          <a:p>
            <a:pPr>
              <a:lnSpc>
                <a:spcPct val="90000"/>
              </a:lnSpc>
              <a:spcAft>
                <a:spcPts val="150"/>
              </a:spcAft>
            </a:pPr>
            <a:r>
              <a:rPr lang="en-US" sz="1600" dirty="0">
                <a:latin typeface="Times New Roman" panose="02020603050405020304" pitchFamily="18" charset="0"/>
                <a:cs typeface="Times New Roman" panose="02020603050405020304" pitchFamily="18" charset="0"/>
              </a:rPr>
              <a:t>I came to understand that seniors in the assisted care facilities are indeed at risk of falling, becoming disoriented, and experiencing health complications that cannot be noticed.</a:t>
            </a:r>
          </a:p>
          <a:p>
            <a:pPr>
              <a:lnSpc>
                <a:spcPct val="90000"/>
              </a:lnSpc>
              <a:spcAft>
                <a:spcPts val="150"/>
              </a:spcAft>
            </a:pPr>
            <a:r>
              <a:rPr lang="en-US" sz="1600" dirty="0">
                <a:latin typeface="Times New Roman" panose="02020603050405020304" pitchFamily="18" charset="0"/>
                <a:cs typeface="Times New Roman" panose="02020603050405020304" pitchFamily="18" charset="0"/>
              </a:rPr>
              <a:t>I am developing a multi-model machine learning system capable of identifying things regularly, responding swiftly and giving precise and actionable feedback to reduce false alarms.</a:t>
            </a:r>
          </a:p>
          <a:p>
            <a:pPr>
              <a:lnSpc>
                <a:spcPct val="90000"/>
              </a:lnSpc>
              <a:spcAft>
                <a:spcPts val="150"/>
              </a:spcAft>
            </a:pPr>
            <a:r>
              <a:rPr lang="en-US" sz="1600" dirty="0">
                <a:latin typeface="Times New Roman" panose="02020603050405020304" pitchFamily="18" charset="0"/>
                <a:cs typeface="Times New Roman" panose="02020603050405020304" pitchFamily="18" charset="0"/>
              </a:rPr>
              <a:t>Feeding the EHR through SMART ensures that no message is passed but the results are not disturbed.</a:t>
            </a:r>
          </a:p>
          <a:p>
            <a:pPr>
              <a:lnSpc>
                <a:spcPct val="90000"/>
              </a:lnSpc>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gn="l">
              <a:lnSpc>
                <a:spcPct val="90000"/>
              </a:lnSpc>
            </a:pPr>
            <a:r>
              <a:rPr sz="3000" b="1" dirty="0">
                <a:latin typeface="Times New Roman" panose="02020603050405020304" pitchFamily="18" charset="0"/>
                <a:cs typeface="Times New Roman" panose="02020603050405020304" pitchFamily="18" charset="0"/>
              </a:rPr>
              <a:t>Relation</a:t>
            </a:r>
            <a:r>
              <a:rPr lang="en-US" sz="3000" b="1"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to</a:t>
            </a:r>
            <a:r>
              <a:rPr lang="en-US" sz="3000" b="1"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the</a:t>
            </a:r>
            <a:r>
              <a:rPr lang="en-US" sz="3000" b="1"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Project</a:t>
            </a:r>
            <a:endParaRPr lang="en-US" sz="3000" b="1"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68987" y="2161637"/>
            <a:ext cx="4168866" cy="4351338"/>
          </a:xfrm>
        </p:spPr>
        <p:txBody>
          <a:bodyPr>
            <a:normAutofit/>
          </a:bodyPr>
          <a:lstStyle/>
          <a:p>
            <a:pPr>
              <a:lnSpc>
                <a:spcPct val="90000"/>
              </a:lnSpc>
            </a:pPr>
            <a:r>
              <a:rPr lang="en-US" sz="1600" dirty="0">
                <a:latin typeface="Times New Roman" panose="02020603050405020304" pitchFamily="18" charset="0"/>
                <a:cs typeface="Times New Roman" panose="02020603050405020304" pitchFamily="18" charset="0"/>
              </a:rPr>
              <a:t>The proposed project will directly solve the given issue where wearable, environmental, and physiological signals will be installed and merged into one real-time stream per second.</a:t>
            </a:r>
          </a:p>
          <a:p>
            <a:pPr>
              <a:lnSpc>
                <a:spcPct val="90000"/>
              </a:lnSpc>
            </a:pPr>
            <a:r>
              <a:rPr lang="en-US" sz="1600" dirty="0">
                <a:latin typeface="Times New Roman" panose="02020603050405020304" pitchFamily="18" charset="0"/>
                <a:cs typeface="Times New Roman" panose="02020603050405020304" pitchFamily="18" charset="0"/>
              </a:rPr>
              <a:t>It is not only about fall detection, but also includes wandering, distress communications, and abnormal vital condition, which seems more comprehensive and clinically applicable.</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r>
              <a:rPr sz="3800" b="1" dirty="0">
                <a:latin typeface="Times New Roman" panose="02020603050405020304" pitchFamily="18" charset="0"/>
                <a:cs typeface="Times New Roman" panose="02020603050405020304" pitchFamily="18" charset="0"/>
              </a:rPr>
              <a:t>Use Cases</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pPr>
              <a:lnSpc>
                <a:spcPct val="90000"/>
              </a:lnSpc>
              <a:spcAft>
                <a:spcPts val="100"/>
              </a:spcAft>
            </a:pPr>
            <a:r>
              <a:rPr lang="en-US" sz="1800" dirty="0">
                <a:latin typeface="Times New Roman" panose="02020603050405020304" pitchFamily="18" charset="0"/>
                <a:cs typeface="Times New Roman" panose="02020603050405020304" pitchFamily="18" charset="0"/>
              </a:rPr>
              <a:t>Fall detection</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Wandering</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Distress call</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Vitals anomaly detection</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ADL monitoring (mobility, sleep, hygiene)</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Environmental hazards</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Alarm fatigue reduction</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Device/Sensor health</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Outcome tracking</a:t>
            </a:r>
          </a:p>
          <a:p>
            <a:pPr>
              <a:lnSpc>
                <a:spcPct val="90000"/>
              </a:lnSpc>
              <a:spcAft>
                <a:spcPts val="100"/>
              </a:spcAft>
            </a:pPr>
            <a:r>
              <a:rPr lang="en-US" sz="1800" dirty="0">
                <a:latin typeface="Times New Roman" panose="02020603050405020304" pitchFamily="18" charset="0"/>
                <a:cs typeface="Times New Roman" panose="02020603050405020304" pitchFamily="18" charset="0"/>
              </a:rPr>
              <a:t>Prolonged inactivity/unresponsive resident</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521" y="365125"/>
            <a:ext cx="4662913" cy="1325563"/>
          </a:xfrm>
        </p:spPr>
        <p:txBody>
          <a:bodyPr>
            <a:normAutofit/>
          </a:bodyPr>
          <a:lstStyle/>
          <a:p>
            <a:pPr algn="l"/>
            <a:r>
              <a:rPr sz="2800" b="1" dirty="0">
                <a:latin typeface="Times New Roman" panose="02020603050405020304" pitchFamily="18" charset="0"/>
                <a:cs typeface="Times New Roman" panose="02020603050405020304" pitchFamily="18" charset="0"/>
              </a:rPr>
              <a:t>Advantages</a:t>
            </a:r>
            <a:r>
              <a:rPr lang="en-US" sz="2800" b="1" dirty="0">
                <a:latin typeface="Times New Roman" panose="02020603050405020304" pitchFamily="18" charset="0"/>
                <a:cs typeface="Times New Roman" panose="02020603050405020304" pitchFamily="18" charset="0"/>
              </a:rPr>
              <a:t> &amp; Disadvantages</a:t>
            </a:r>
            <a:endParaRPr sz="2800" b="1"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6" name="Content Placeholder 5">
            <a:extLst>
              <a:ext uri="{FF2B5EF4-FFF2-40B4-BE49-F238E27FC236}">
                <a16:creationId xmlns:a16="http://schemas.microsoft.com/office/drawing/2014/main" id="{13887ABC-FC10-BCD0-6DCB-B7EED1ADDDC8}"/>
              </a:ext>
            </a:extLst>
          </p:cNvPr>
          <p:cNvGraphicFramePr>
            <a:graphicFrameLocks noGrp="1"/>
          </p:cNvGraphicFramePr>
          <p:nvPr>
            <p:ph idx="1"/>
            <p:extLst>
              <p:ext uri="{D42A27DB-BD31-4B8C-83A1-F6EECF244321}">
                <p14:modId xmlns:p14="http://schemas.microsoft.com/office/powerpoint/2010/main" val="3142789426"/>
              </p:ext>
            </p:extLst>
          </p:nvPr>
        </p:nvGraphicFramePr>
        <p:xfrm>
          <a:off x="457200" y="1600199"/>
          <a:ext cx="4308261" cy="3443008"/>
        </p:xfrm>
        <a:graphic>
          <a:graphicData uri="http://schemas.openxmlformats.org/drawingml/2006/table">
            <a:tbl>
              <a:tblPr bandRow="1">
                <a:tableStyleId>{7DF18680-E054-41AD-8BC1-D1AEF772440D}</a:tableStyleId>
              </a:tblPr>
              <a:tblGrid>
                <a:gridCol w="2068479">
                  <a:extLst>
                    <a:ext uri="{9D8B030D-6E8A-4147-A177-3AD203B41FA5}">
                      <a16:colId xmlns:a16="http://schemas.microsoft.com/office/drawing/2014/main" val="3657700559"/>
                    </a:ext>
                  </a:extLst>
                </a:gridCol>
                <a:gridCol w="2239782">
                  <a:extLst>
                    <a:ext uri="{9D8B030D-6E8A-4147-A177-3AD203B41FA5}">
                      <a16:colId xmlns:a16="http://schemas.microsoft.com/office/drawing/2014/main" val="1672066756"/>
                    </a:ext>
                  </a:extLst>
                </a:gridCol>
              </a:tblGrid>
              <a:tr h="571192">
                <a:tc>
                  <a:txBody>
                    <a:bodyPr/>
                    <a:lstStyle/>
                    <a:p>
                      <a:pPr marL="0" indent="0" algn="ctr">
                        <a:buFont typeface="+mj-lt"/>
                        <a:buNone/>
                      </a:pPr>
                      <a:r>
                        <a:rPr lang="en-US" sz="1600" dirty="0">
                          <a:latin typeface="Times New Roman" panose="02020603050405020304" pitchFamily="18" charset="0"/>
                          <a:cs typeface="Times New Roman" panose="02020603050405020304" pitchFamily="18" charset="0"/>
                        </a:rPr>
                        <a:t>Higher detection accuracy</a:t>
                      </a:r>
                    </a:p>
                  </a:txBody>
                  <a:tcPr/>
                </a:tc>
                <a:tc>
                  <a:txBody>
                    <a:bodyPr/>
                    <a:lstStyle/>
                    <a:p>
                      <a:pPr algn="ctr"/>
                      <a:r>
                        <a:rPr lang="en-US" sz="1600" dirty="0">
                          <a:latin typeface="Times New Roman" panose="02020603050405020304" pitchFamily="18" charset="0"/>
                          <a:cs typeface="Times New Roman" panose="02020603050405020304" pitchFamily="18" charset="0"/>
                        </a:rPr>
                        <a:t>System Complexity</a:t>
                      </a:r>
                    </a:p>
                  </a:txBody>
                  <a:tcPr/>
                </a:tc>
                <a:extLst>
                  <a:ext uri="{0D108BD9-81ED-4DB2-BD59-A6C34878D82A}">
                    <a16:rowId xmlns:a16="http://schemas.microsoft.com/office/drawing/2014/main" val="3509895143"/>
                  </a:ext>
                </a:extLst>
              </a:tr>
              <a:tr h="571192">
                <a:tc>
                  <a:txBody>
                    <a:bodyPr/>
                    <a:lstStyle/>
                    <a:p>
                      <a:pPr marL="0" indent="0" algn="ctr">
                        <a:buFont typeface="+mj-lt"/>
                        <a:buNone/>
                      </a:pPr>
                      <a:r>
                        <a:rPr lang="en-US" sz="1600" dirty="0">
                          <a:latin typeface="Times New Roman" panose="02020603050405020304" pitchFamily="18" charset="0"/>
                          <a:cs typeface="Times New Roman" panose="02020603050405020304" pitchFamily="18" charset="0"/>
                        </a:rPr>
                        <a:t>Fewer false alarms</a:t>
                      </a:r>
                    </a:p>
                  </a:txBody>
                  <a:tcPr/>
                </a:tc>
                <a:tc>
                  <a:txBody>
                    <a:bodyPr/>
                    <a:lstStyle/>
                    <a:p>
                      <a:pPr algn="ctr"/>
                      <a:r>
                        <a:rPr lang="en-US" sz="1600" dirty="0">
                          <a:latin typeface="Times New Roman" panose="02020603050405020304" pitchFamily="18" charset="0"/>
                          <a:cs typeface="Times New Roman" panose="02020603050405020304" pitchFamily="18" charset="0"/>
                        </a:rPr>
                        <a:t>Data labeling scarcity</a:t>
                      </a:r>
                    </a:p>
                  </a:txBody>
                  <a:tcPr/>
                </a:tc>
                <a:extLst>
                  <a:ext uri="{0D108BD9-81ED-4DB2-BD59-A6C34878D82A}">
                    <a16:rowId xmlns:a16="http://schemas.microsoft.com/office/drawing/2014/main" val="2081106323"/>
                  </a:ext>
                </a:extLst>
              </a:tr>
              <a:tr h="571192">
                <a:tc>
                  <a:txBody>
                    <a:bodyPr/>
                    <a:lstStyle/>
                    <a:p>
                      <a:pPr algn="ctr"/>
                      <a:r>
                        <a:rPr lang="en-US" sz="1600" dirty="0">
                          <a:latin typeface="Times New Roman" panose="02020603050405020304" pitchFamily="18" charset="0"/>
                          <a:cs typeface="Times New Roman" panose="02020603050405020304" pitchFamily="18" charset="0"/>
                        </a:rPr>
                        <a:t>Privacy by design</a:t>
                      </a:r>
                    </a:p>
                  </a:txBody>
                  <a:tcPr/>
                </a:tc>
                <a:tc>
                  <a:txBody>
                    <a:bodyPr/>
                    <a:lstStyle/>
                    <a:p>
                      <a:pPr algn="ctr"/>
                      <a:r>
                        <a:rPr lang="en-US" sz="1600" dirty="0">
                          <a:latin typeface="Times New Roman" panose="02020603050405020304" pitchFamily="18" charset="0"/>
                          <a:cs typeface="Times New Roman" panose="02020603050405020304" pitchFamily="18" charset="0"/>
                        </a:rPr>
                        <a:t>Network reliability </a:t>
                      </a:r>
                    </a:p>
                  </a:txBody>
                  <a:tcPr/>
                </a:tc>
                <a:extLst>
                  <a:ext uri="{0D108BD9-81ED-4DB2-BD59-A6C34878D82A}">
                    <a16:rowId xmlns:a16="http://schemas.microsoft.com/office/drawing/2014/main" val="2816857724"/>
                  </a:ext>
                </a:extLst>
              </a:tr>
              <a:tr h="571192">
                <a:tc>
                  <a:txBody>
                    <a:bodyPr/>
                    <a:lstStyle/>
                    <a:p>
                      <a:pPr algn="ctr"/>
                      <a:r>
                        <a:rPr lang="en-US" sz="1600" dirty="0">
                          <a:latin typeface="Times New Roman" panose="02020603050405020304" pitchFamily="18" charset="0"/>
                          <a:cs typeface="Times New Roman" panose="02020603050405020304" pitchFamily="18" charset="0"/>
                        </a:rPr>
                        <a:t>Care quality metrics</a:t>
                      </a:r>
                    </a:p>
                  </a:txBody>
                  <a:tcPr/>
                </a:tc>
                <a:tc>
                  <a:txBody>
                    <a:bodyPr/>
                    <a:lstStyle/>
                    <a:p>
                      <a:pPr algn="ctr"/>
                      <a:r>
                        <a:rPr lang="en-US" sz="1600" dirty="0">
                          <a:latin typeface="Times New Roman" panose="02020603050405020304" pitchFamily="18" charset="0"/>
                          <a:cs typeface="Times New Roman" panose="02020603050405020304" pitchFamily="18" charset="0"/>
                        </a:rPr>
                        <a:t>Up-Front costs </a:t>
                      </a:r>
                    </a:p>
                  </a:txBody>
                  <a:tcPr/>
                </a:tc>
                <a:extLst>
                  <a:ext uri="{0D108BD9-81ED-4DB2-BD59-A6C34878D82A}">
                    <a16:rowId xmlns:a16="http://schemas.microsoft.com/office/drawing/2014/main" val="85147737"/>
                  </a:ext>
                </a:extLst>
              </a:tr>
              <a:tr h="571192">
                <a:tc>
                  <a:txBody>
                    <a:bodyPr/>
                    <a:lstStyle/>
                    <a:p>
                      <a:pPr algn="ctr"/>
                      <a:r>
                        <a:rPr lang="en-US" sz="1600" dirty="0">
                          <a:latin typeface="Times New Roman" panose="02020603050405020304" pitchFamily="18" charset="0"/>
                          <a:cs typeface="Times New Roman" panose="02020603050405020304" pitchFamily="18" charset="0"/>
                        </a:rPr>
                        <a:t>Scalability</a:t>
                      </a:r>
                    </a:p>
                  </a:txBody>
                  <a:tcPr/>
                </a:tc>
                <a:tc>
                  <a:txBody>
                    <a:bodyPr/>
                    <a:lstStyle/>
                    <a:p>
                      <a:pPr algn="ctr"/>
                      <a:r>
                        <a:rPr lang="en-US" sz="1600" dirty="0">
                          <a:latin typeface="Times New Roman" panose="02020603050405020304" pitchFamily="18" charset="0"/>
                          <a:cs typeface="Times New Roman" panose="02020603050405020304" pitchFamily="18" charset="0"/>
                        </a:rPr>
                        <a:t>Alarm governance needed</a:t>
                      </a:r>
                    </a:p>
                  </a:txBody>
                  <a:tcPr/>
                </a:tc>
                <a:extLst>
                  <a:ext uri="{0D108BD9-81ED-4DB2-BD59-A6C34878D82A}">
                    <a16:rowId xmlns:a16="http://schemas.microsoft.com/office/drawing/2014/main" val="1304846217"/>
                  </a:ext>
                </a:extLst>
              </a:tr>
              <a:tr h="571192">
                <a:tc>
                  <a:txBody>
                    <a:bodyPr/>
                    <a:lstStyle/>
                    <a:p>
                      <a:pPr algn="ctr"/>
                      <a:r>
                        <a:rPr lang="en-US" sz="1600" dirty="0">
                          <a:latin typeface="Times New Roman" panose="02020603050405020304" pitchFamily="18" charset="0"/>
                          <a:cs typeface="Times New Roman" panose="02020603050405020304" pitchFamily="18" charset="0"/>
                        </a:rPr>
                        <a:t>End-to-End latency</a:t>
                      </a:r>
                    </a:p>
                  </a:txBody>
                  <a:tcPr/>
                </a:tc>
                <a:tc>
                  <a:txBody>
                    <a:bodyPr/>
                    <a:lstStyle/>
                    <a:p>
                      <a:pPr algn="ctr"/>
                      <a:r>
                        <a:rPr lang="en-US" sz="1600" dirty="0">
                          <a:latin typeface="Times New Roman" panose="02020603050405020304" pitchFamily="18" charset="0"/>
                          <a:cs typeface="Times New Roman" panose="02020603050405020304" pitchFamily="18" charset="0"/>
                        </a:rPr>
                        <a:t>User Adaption and Trust</a:t>
                      </a:r>
                    </a:p>
                  </a:txBody>
                  <a:tcPr/>
                </a:tc>
                <a:extLst>
                  <a:ext uri="{0D108BD9-81ED-4DB2-BD59-A6C34878D82A}">
                    <a16:rowId xmlns:a16="http://schemas.microsoft.com/office/drawing/2014/main" val="454225621"/>
                  </a:ext>
                </a:extLst>
              </a:tr>
            </a:tbl>
          </a:graphicData>
        </a:graphic>
      </p:graphicFrame>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gn="l">
              <a:lnSpc>
                <a:spcPct val="90000"/>
              </a:lnSpc>
            </a:pPr>
            <a:r>
              <a:rPr sz="3000" b="1" dirty="0">
                <a:latin typeface="Times New Roman" panose="02020603050405020304" pitchFamily="18" charset="0"/>
                <a:cs typeface="Times New Roman" panose="02020603050405020304" pitchFamily="18" charset="0"/>
              </a:rPr>
              <a:t>Where It Can Be Used</a:t>
            </a:r>
            <a:r>
              <a:rPr lang="en-US" sz="3000" b="1" dirty="0">
                <a:latin typeface="Times New Roman" panose="02020603050405020304" pitchFamily="18" charset="0"/>
                <a:cs typeface="Times New Roman" panose="02020603050405020304" pitchFamily="18" charset="0"/>
              </a:rPr>
              <a:t> ?</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ouple of icons of a hospital and a person&#10;&#10;AI-generated content may be incorrect.">
            <a:extLst>
              <a:ext uri="{FF2B5EF4-FFF2-40B4-BE49-F238E27FC236}">
                <a16:creationId xmlns:a16="http://schemas.microsoft.com/office/drawing/2014/main" id="{B6033083-4C6A-DBF9-3CEB-C0588995006A}"/>
              </a:ext>
            </a:extLst>
          </p:cNvPr>
          <p:cNvPicPr>
            <a:picLocks noChangeAspect="1"/>
          </p:cNvPicPr>
          <p:nvPr/>
        </p:nvPicPr>
        <p:blipFill>
          <a:blip r:embed="rId2"/>
          <a:stretch>
            <a:fillRect/>
          </a:stretch>
        </p:blipFill>
        <p:spPr>
          <a:xfrm>
            <a:off x="0" y="2412331"/>
            <a:ext cx="6262944" cy="21798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gn="l">
              <a:lnSpc>
                <a:spcPct val="90000"/>
              </a:lnSpc>
            </a:pPr>
            <a:r>
              <a:rPr lang="en-US" sz="3500" b="1" dirty="0">
                <a:latin typeface="Times New Roman" panose="02020603050405020304" pitchFamily="18" charset="0"/>
                <a:cs typeface="Times New Roman" panose="02020603050405020304" pitchFamily="18" charset="0"/>
              </a:rPr>
              <a:t>Technologies Used</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pPr>
              <a:defRPr sz="2000"/>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ML/DL: </a:t>
            </a:r>
            <a:r>
              <a:rPr lang="en-US" sz="1600" dirty="0">
                <a:latin typeface="Times New Roman" panose="02020603050405020304" pitchFamily="18" charset="0"/>
                <a:cs typeface="Times New Roman" panose="02020603050405020304" pitchFamily="18" charset="0"/>
              </a:rPr>
              <a:t>PyTorch / TensorFlow (IMU CNN, MobileNetV3, fusion MLP)</a:t>
            </a:r>
          </a:p>
          <a:p>
            <a:pPr>
              <a:defRPr sz="2000"/>
            </a:pPr>
            <a:r>
              <a:rPr lang="en-US" sz="1600" b="1" dirty="0">
                <a:latin typeface="Times New Roman" panose="02020603050405020304" pitchFamily="18" charset="0"/>
                <a:cs typeface="Times New Roman" panose="02020603050405020304" pitchFamily="18" charset="0"/>
              </a:rPr>
              <a:t>Serving: </a:t>
            </a:r>
            <a:r>
              <a:rPr lang="en-US" sz="1600" dirty="0">
                <a:latin typeface="Times New Roman" panose="02020603050405020304" pitchFamily="18" charset="0"/>
                <a:cs typeface="Times New Roman" panose="02020603050405020304" pitchFamily="18" charset="0"/>
              </a:rPr>
              <a:t>NVIDIA Triton (GPU) or ONNX Runtime/TFLite (edge)</a:t>
            </a:r>
          </a:p>
          <a:p>
            <a:pPr>
              <a:defRPr sz="2000"/>
            </a:pPr>
            <a:r>
              <a:rPr lang="en-US" sz="1600" b="1" dirty="0">
                <a:latin typeface="Times New Roman" panose="02020603050405020304" pitchFamily="18" charset="0"/>
                <a:cs typeface="Times New Roman" panose="02020603050405020304" pitchFamily="18" charset="0"/>
              </a:rPr>
              <a:t>Streaming</a:t>
            </a:r>
            <a:r>
              <a:rPr lang="en-US" sz="1600" dirty="0">
                <a:latin typeface="Times New Roman" panose="02020603050405020304" pitchFamily="18" charset="0"/>
                <a:cs typeface="Times New Roman" panose="02020603050405020304" pitchFamily="18" charset="0"/>
              </a:rPr>
              <a:t>: Redpanda/Kafka topics (inference.events, alerts.raised)</a:t>
            </a:r>
          </a:p>
          <a:p>
            <a:pPr>
              <a:defRPr sz="2000"/>
            </a:pPr>
            <a:r>
              <a:rPr lang="en-US" sz="1600" b="1" dirty="0">
                <a:latin typeface="Times New Roman" panose="02020603050405020304" pitchFamily="18" charset="0"/>
                <a:cs typeface="Times New Roman" panose="02020603050405020304" pitchFamily="18" charset="0"/>
              </a:rPr>
              <a:t>APIs/UI: </a:t>
            </a:r>
            <a:r>
              <a:rPr lang="en-US" sz="1600" dirty="0">
                <a:latin typeface="Times New Roman" panose="02020603050405020304" pitchFamily="18" charset="0"/>
                <a:cs typeface="Times New Roman" panose="02020603050405020304" pitchFamily="18" charset="0"/>
              </a:rPr>
              <a:t>FastAPI (REST + SSE), React/Next.js (dashboard)</a:t>
            </a:r>
          </a:p>
          <a:p>
            <a:pPr>
              <a:defRPr sz="2000"/>
            </a:pPr>
            <a:r>
              <a:rPr lang="en-US" sz="1600" dirty="0">
                <a:latin typeface="Times New Roman" panose="02020603050405020304" pitchFamily="18" charset="0"/>
                <a:cs typeface="Times New Roman" panose="02020603050405020304" pitchFamily="18" charset="0"/>
              </a:rPr>
              <a:t>VS Code </a:t>
            </a:r>
          </a:p>
          <a:p>
            <a:pPr>
              <a:defRPr sz="2000"/>
            </a:pPr>
            <a:r>
              <a:rPr lang="en-US" sz="1600" b="1" dirty="0">
                <a:latin typeface="Times New Roman" panose="02020603050405020304" pitchFamily="18" charset="0"/>
                <a:cs typeface="Times New Roman" panose="02020603050405020304" pitchFamily="18" charset="0"/>
              </a:rPr>
              <a:t>EHR: </a:t>
            </a:r>
            <a:r>
              <a:rPr lang="en-US" sz="1600" dirty="0">
                <a:latin typeface="Times New Roman" panose="02020603050405020304" pitchFamily="18" charset="0"/>
                <a:cs typeface="Times New Roman" panose="02020603050405020304" pitchFamily="18" charset="0"/>
              </a:rPr>
              <a:t>SMART on FHIR bridge (Observations, Detected Issues)</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521" y="365125"/>
            <a:ext cx="4765461" cy="1325563"/>
          </a:xfrm>
        </p:spPr>
        <p:txBody>
          <a:bodyPr>
            <a:normAutofit/>
          </a:bodyPr>
          <a:lstStyle/>
          <a:p>
            <a:pPr algn="l">
              <a:lnSpc>
                <a:spcPct val="90000"/>
              </a:lnSpc>
            </a:pPr>
            <a:r>
              <a:rPr sz="3000" b="1" dirty="0">
                <a:latin typeface="Times New Roman" panose="02020603050405020304" pitchFamily="18" charset="0"/>
                <a:cs typeface="Times New Roman" panose="02020603050405020304" pitchFamily="18" charset="0"/>
              </a:rPr>
              <a:t>Difference from</a:t>
            </a:r>
            <a:r>
              <a:rPr lang="en-US" sz="3000" b="1"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References</a:t>
            </a:r>
            <a:endParaRPr lang="en-US" sz="3000" b="1"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pPr>
              <a:defRPr sz="2000"/>
            </a:pPr>
            <a:r>
              <a:rPr lang="en-US" sz="1600" dirty="0">
                <a:latin typeface="Times New Roman" panose="02020603050405020304" pitchFamily="18" charset="0"/>
                <a:cs typeface="Times New Roman" panose="02020603050405020304" pitchFamily="18" charset="0"/>
              </a:rPr>
              <a:t>The UP-Fall is all about falls , we are also considering the wandering and staying active and some vitals booster.</a:t>
            </a:r>
          </a:p>
          <a:p>
            <a:pPr>
              <a:defRPr sz="2000"/>
            </a:pPr>
            <a:r>
              <a:rPr lang="en-US" sz="1600" dirty="0">
                <a:latin typeface="Times New Roman" panose="02020603050405020304" pitchFamily="18" charset="0"/>
                <a:cs typeface="Times New Roman" panose="02020603050405020304" pitchFamily="18" charset="0"/>
              </a:rPr>
              <a:t>The Wandering CNN object tries to predict directions and integrate multiple modalities thereof in the aim of making it robust.</a:t>
            </a:r>
          </a:p>
          <a:p>
            <a:pPr>
              <a:defRPr sz="2000"/>
            </a:pPr>
            <a:r>
              <a:rPr lang="en-US" sz="1600" dirty="0">
                <a:latin typeface="Times New Roman" panose="02020603050405020304" pitchFamily="18" charset="0"/>
                <a:cs typeface="Times New Roman" panose="02020603050405020304" pitchFamily="18" charset="0"/>
              </a:rPr>
              <a:t>We integrate vitals anomaly scores into a fusion pipeline.</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gn="l">
              <a:lnSpc>
                <a:spcPct val="90000"/>
              </a:lnSpc>
            </a:pPr>
            <a:r>
              <a:rPr lang="en-US" sz="3000" b="1" dirty="0">
                <a:latin typeface="Times New Roman" panose="02020603050405020304" pitchFamily="18" charset="0"/>
                <a:cs typeface="Times New Roman" panose="02020603050405020304" pitchFamily="18" charset="0"/>
              </a:rPr>
              <a:t>Possible Improvements</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pPr>
              <a:lnSpc>
                <a:spcPct val="90000"/>
              </a:lnSpc>
              <a:spcAft>
                <a:spcPts val="100"/>
              </a:spcAft>
            </a:pPr>
            <a:r>
              <a:rPr lang="en-US" sz="1600" dirty="0">
                <a:latin typeface="Times New Roman" panose="02020603050405020304" pitchFamily="18" charset="0"/>
                <a:cs typeface="Times New Roman" panose="02020603050405020304" pitchFamily="18" charset="0"/>
              </a:rPr>
              <a:t>We ought to increase the number of datasets through performing multi-population checks.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 Federated learning can be applied to personalize and maintain privacy. </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Standardize clinician dashboards which have explainability capabilities.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Extend multimodal inputs (radar + ambient + wearables).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Predictive analytics are used to make proactive interventions.</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0EE939-2FB9-36D0-8F70-5AFC4C4552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9164A0-1BAD-CDB4-0676-4AE15D528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8C5767-2680-0245-52A4-17637BE9A245}"/>
              </a:ext>
            </a:extLst>
          </p:cNvPr>
          <p:cNvSpPr>
            <a:spLocks noGrp="1"/>
          </p:cNvSpPr>
          <p:nvPr>
            <p:ph type="title"/>
          </p:nvPr>
        </p:nvSpPr>
        <p:spPr>
          <a:xfrm>
            <a:off x="628650" y="365125"/>
            <a:ext cx="4168866" cy="1325563"/>
          </a:xfrm>
        </p:spPr>
        <p:txBody>
          <a:bodyPr>
            <a:normAutofit/>
          </a:bodyPr>
          <a:lstStyle/>
          <a:p>
            <a:pPr algn="l">
              <a:lnSpc>
                <a:spcPct val="90000"/>
              </a:lnSpc>
            </a:pPr>
            <a:r>
              <a:rPr lang="en-US" sz="3000" b="1" dirty="0">
                <a:latin typeface="Times New Roman" panose="02020603050405020304" pitchFamily="18" charset="0"/>
                <a:cs typeface="Times New Roman" panose="02020603050405020304" pitchFamily="18" charset="0"/>
              </a:rPr>
              <a:t>Why does it matter to older adults?</a:t>
            </a:r>
          </a:p>
        </p:txBody>
      </p:sp>
      <p:sp>
        <p:nvSpPr>
          <p:cNvPr id="10" name="Freeform: Shape 9">
            <a:extLst>
              <a:ext uri="{FF2B5EF4-FFF2-40B4-BE49-F238E27FC236}">
                <a16:creationId xmlns:a16="http://schemas.microsoft.com/office/drawing/2014/main" id="{5D65CCF1-E15E-F6D9-CC4E-E27A5B646A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39C4990-D361-142E-824A-F9C6487476E7}"/>
              </a:ext>
            </a:extLst>
          </p:cNvPr>
          <p:cNvSpPr>
            <a:spLocks noGrp="1"/>
          </p:cNvSpPr>
          <p:nvPr>
            <p:ph idx="1"/>
          </p:nvPr>
        </p:nvSpPr>
        <p:spPr>
          <a:xfrm>
            <a:off x="628650" y="1825625"/>
            <a:ext cx="4168866" cy="4351338"/>
          </a:xfrm>
        </p:spPr>
        <p:txBody>
          <a:bodyPr>
            <a:normAutofit lnSpcReduction="10000"/>
          </a:bodyPr>
          <a:lstStyle/>
          <a:p>
            <a:pPr>
              <a:defRPr sz="2000"/>
            </a:pPr>
            <a:r>
              <a:rPr lang="en-US" sz="1600" dirty="0">
                <a:latin typeface="Times New Roman" panose="02020603050405020304" pitchFamily="18" charset="0"/>
                <a:cs typeface="Times New Roman" panose="02020603050405020304" pitchFamily="18" charset="0"/>
              </a:rPr>
              <a:t>Rapid fall detection lessens the severity and the complications of injuries.</a:t>
            </a:r>
          </a:p>
          <a:p>
            <a:pPr>
              <a:defRPr sz="2000"/>
            </a:pPr>
            <a:r>
              <a:rPr lang="en-US" sz="1600" dirty="0">
                <a:latin typeface="Times New Roman" panose="02020603050405020304" pitchFamily="18" charset="0"/>
                <a:cs typeface="Times New Roman" panose="02020603050405020304" pitchFamily="18" charset="0"/>
              </a:rPr>
              <a:t>It is immensely beneficial because wandering alerts avoid the opportunity of people to abandon hazardous areas and run off.</a:t>
            </a:r>
          </a:p>
          <a:p>
            <a:pPr>
              <a:defRPr sz="2000"/>
            </a:pPr>
            <a:r>
              <a:rPr lang="en-US" sz="1600" dirty="0">
                <a:latin typeface="Times New Roman" panose="02020603050405020304" pitchFamily="18" charset="0"/>
                <a:cs typeface="Times New Roman" panose="02020603050405020304" pitchFamily="18" charset="0"/>
              </a:rPr>
              <a:t>The identification of hazards in sensitive rooms like bathrooms and kitchen.</a:t>
            </a:r>
          </a:p>
          <a:p>
            <a:pPr>
              <a:defRPr sz="2000"/>
            </a:pPr>
            <a:r>
              <a:rPr lang="en-US" sz="1600" dirty="0">
                <a:latin typeface="Times New Roman" panose="02020603050405020304" pitchFamily="18" charset="0"/>
                <a:cs typeface="Times New Roman" panose="02020603050405020304" pitchFamily="18" charset="0"/>
              </a:rPr>
              <a:t>Vital anomalies can also be monitored, and we can get interventions by detecting the problems at the initial stage and this is life-saving.</a:t>
            </a:r>
          </a:p>
          <a:p>
            <a:pPr>
              <a:defRPr sz="2000"/>
            </a:pPr>
            <a:r>
              <a:rPr lang="en-US" sz="1600" dirty="0">
                <a:latin typeface="Times New Roman" panose="02020603050405020304" pitchFamily="18" charset="0"/>
                <a:cs typeface="Times New Roman" panose="02020603050405020304" pitchFamily="18" charset="0"/>
              </a:rPr>
              <a:t>Reduction in alarm burden enhances the attention of caregivers and dignity of residents.</a:t>
            </a:r>
          </a:p>
          <a:p>
            <a:pPr>
              <a:defRPr sz="2000"/>
            </a:pPr>
            <a:r>
              <a:rPr lang="en-US" sz="1600" dirty="0">
                <a:latin typeface="Times New Roman" panose="02020603050405020304" pitchFamily="18" charset="0"/>
                <a:cs typeface="Times New Roman" panose="02020603050405020304" pitchFamily="18" charset="0"/>
              </a:rPr>
              <a:t>Peace of mind for families and administrators.</a:t>
            </a:r>
          </a:p>
          <a:p>
            <a:pPr marL="0" indent="0">
              <a:lnSpc>
                <a:spcPct val="90000"/>
              </a:lnSpc>
              <a:spcAft>
                <a:spcPts val="100"/>
              </a:spcAft>
              <a:buNone/>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49F0DEB4-4567-A3AE-2E32-23DE5D640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64C7E0C7-4B7A-ECB4-AD0D-B8840A7B3B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C0625D34-0843-21F6-5524-2A263BBBE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9317A8A2-CCAC-69DA-923C-30A0117C2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775A4918-903D-E442-7677-F157BE982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F7FCD841-825E-2DB6-3F48-2FA483C7C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FE93D0A-5173-47B9-FBC2-883BEAD68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2664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CEFAD4-B17B-515A-AC6D-5A14A7D4E46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B489CA-58E7-CBCE-9F34-7FEEB65E8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A3FA9-1291-13F3-3C83-3B888EAAB340}"/>
              </a:ext>
            </a:extLst>
          </p:cNvPr>
          <p:cNvSpPr>
            <a:spLocks noGrp="1"/>
          </p:cNvSpPr>
          <p:nvPr>
            <p:ph type="title"/>
          </p:nvPr>
        </p:nvSpPr>
        <p:spPr>
          <a:xfrm>
            <a:off x="628650" y="365125"/>
            <a:ext cx="4168866" cy="1325563"/>
          </a:xfrm>
        </p:spPr>
        <p:txBody>
          <a:bodyPr>
            <a:normAutofit/>
          </a:bodyPr>
          <a:lstStyle/>
          <a:p>
            <a:pPr algn="l">
              <a:lnSpc>
                <a:spcPct val="90000"/>
              </a:lnSpc>
            </a:pPr>
            <a:r>
              <a:rPr lang="en-US" sz="3000" b="1" dirty="0">
                <a:latin typeface="Times New Roman" panose="02020603050405020304" pitchFamily="18" charset="0"/>
                <a:cs typeface="Times New Roman" panose="02020603050405020304" pitchFamily="18" charset="0"/>
              </a:rPr>
              <a:t>Implementation</a:t>
            </a:r>
          </a:p>
        </p:txBody>
      </p:sp>
      <p:sp>
        <p:nvSpPr>
          <p:cNvPr id="10" name="Freeform: Shape 9">
            <a:extLst>
              <a:ext uri="{FF2B5EF4-FFF2-40B4-BE49-F238E27FC236}">
                <a16:creationId xmlns:a16="http://schemas.microsoft.com/office/drawing/2014/main" id="{34BDE488-3E96-4676-34DA-6FE75BC5B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DCC56D9-5713-3F70-F127-125E901D94BC}"/>
              </a:ext>
            </a:extLst>
          </p:cNvPr>
          <p:cNvSpPr>
            <a:spLocks noGrp="1"/>
          </p:cNvSpPr>
          <p:nvPr>
            <p:ph idx="1"/>
          </p:nvPr>
        </p:nvSpPr>
        <p:spPr>
          <a:xfrm>
            <a:off x="628650" y="1825625"/>
            <a:ext cx="4168866" cy="4351338"/>
          </a:xfrm>
        </p:spPr>
        <p:txBody>
          <a:bodyPr>
            <a:normAutofit/>
          </a:bodyPr>
          <a:lstStyle/>
          <a:p>
            <a:pPr>
              <a:lnSpc>
                <a:spcPct val="90000"/>
              </a:lnSpc>
              <a:spcAft>
                <a:spcPts val="100"/>
              </a:spcAft>
            </a:pPr>
            <a:r>
              <a:rPr lang="en-US" sz="1600" dirty="0">
                <a:latin typeface="Times New Roman" panose="02020603050405020304" pitchFamily="18" charset="0"/>
                <a:cs typeface="Times New Roman" panose="02020603050405020304" pitchFamily="18" charset="0"/>
              </a:rPr>
              <a:t>Preprocessing the data for feature extraction.</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Training the Multiple data with different Machine Learning models.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Pushing the data to perform late fusion to make the decisions.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Integrating with EHR by providing the bridge for SMART through FHIR.</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Creating UI/UX design or a dashboard to provide better insights to the care givers.</a:t>
            </a:r>
          </a:p>
          <a:p>
            <a:pPr>
              <a:lnSpc>
                <a:spcPct val="90000"/>
              </a:lnSpc>
              <a:spcAft>
                <a:spcPts val="100"/>
              </a:spcAft>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F4F92C6A-3D10-BA1B-F1C0-E16C685BC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BD1BA4DE-3A3E-45B3-ECD5-651DA9A73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67D0CA88-5037-1355-2114-0A7FB6EC2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78FED726-E5F5-557C-8B62-67141EE07A6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7171FA41-6D8A-9B91-97B2-C94C9E036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340D5AC5-BBBC-A9FB-CDF5-E9D5EA2CF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B208A506-D126-20CB-823B-00F2A1E23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0324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3EEB33-9BEB-EBB0-38BB-D9EC0EF9F1F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98B84B-6D12-CE46-F44F-AD226698A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3C0599-545C-FB0B-F5E0-2F4E6FB6D2C4}"/>
              </a:ext>
            </a:extLst>
          </p:cNvPr>
          <p:cNvSpPr>
            <a:spLocks noGrp="1"/>
          </p:cNvSpPr>
          <p:nvPr>
            <p:ph type="title"/>
          </p:nvPr>
        </p:nvSpPr>
        <p:spPr>
          <a:xfrm>
            <a:off x="628650" y="365125"/>
            <a:ext cx="4168866" cy="1325563"/>
          </a:xfrm>
        </p:spPr>
        <p:txBody>
          <a:bodyPr>
            <a:normAutofit/>
          </a:bodyPr>
          <a:lstStyle/>
          <a:p>
            <a:pPr algn="l">
              <a:lnSpc>
                <a:spcPct val="90000"/>
              </a:lnSpc>
            </a:pPr>
            <a:r>
              <a:rPr lang="en-US" sz="3000" b="1" dirty="0">
                <a:latin typeface="Times New Roman" panose="02020603050405020304" pitchFamily="18" charset="0"/>
                <a:cs typeface="Times New Roman" panose="02020603050405020304" pitchFamily="18" charset="0"/>
              </a:rPr>
              <a:t>Results and Challenges</a:t>
            </a:r>
          </a:p>
        </p:txBody>
      </p:sp>
      <p:sp>
        <p:nvSpPr>
          <p:cNvPr id="10" name="Freeform: Shape 9">
            <a:extLst>
              <a:ext uri="{FF2B5EF4-FFF2-40B4-BE49-F238E27FC236}">
                <a16:creationId xmlns:a16="http://schemas.microsoft.com/office/drawing/2014/main" id="{6B52A33E-57DB-8772-7F8E-410E420EB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76F54A7-CBAD-6440-61E4-50F6F85B5E98}"/>
              </a:ext>
            </a:extLst>
          </p:cNvPr>
          <p:cNvSpPr>
            <a:spLocks noGrp="1"/>
          </p:cNvSpPr>
          <p:nvPr>
            <p:ph idx="1"/>
          </p:nvPr>
        </p:nvSpPr>
        <p:spPr>
          <a:xfrm>
            <a:off x="628650" y="1825625"/>
            <a:ext cx="4168866" cy="4351338"/>
          </a:xfrm>
        </p:spPr>
        <p:txBody>
          <a:bodyPr>
            <a:normAutofit/>
          </a:bodyPr>
          <a:lstStyle/>
          <a:p>
            <a:pPr>
              <a:lnSpc>
                <a:spcPct val="90000"/>
              </a:lnSpc>
              <a:spcAft>
                <a:spcPts val="100"/>
              </a:spcAft>
            </a:pPr>
            <a:r>
              <a:rPr lang="en-US" sz="1600" dirty="0">
                <a:latin typeface="Times New Roman" panose="02020603050405020304" pitchFamily="18" charset="0"/>
                <a:cs typeface="Times New Roman" panose="02020603050405020304" pitchFamily="18" charset="0"/>
              </a:rPr>
              <a:t>Up-Fall:  Random forest outperformed every other ML Algorithm</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Wandering CNN: High precision scores but low on recall.</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Class Imbalance, Domain Shift, Network drops and Privacy compliance are the main challenges.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The goal is to improve the privacy first multimodal fusion with late to early fusion to provide better results.</a:t>
            </a:r>
          </a:p>
          <a:p>
            <a:pPr>
              <a:lnSpc>
                <a:spcPct val="90000"/>
              </a:lnSpc>
              <a:spcAft>
                <a:spcPts val="100"/>
              </a:spcAft>
            </a:pPr>
            <a:r>
              <a:rPr lang="en-US" sz="1600" dirty="0">
                <a:latin typeface="Times New Roman" panose="02020603050405020304" pitchFamily="18" charset="0"/>
                <a:cs typeface="Times New Roman" panose="02020603050405020304" pitchFamily="18" charset="0"/>
              </a:rPr>
              <a:t>Calibrating with &gt;0.85 of AUPRC and false alarms &lt;0.20 per resident day can provide better results for the deployed system.</a:t>
            </a:r>
          </a:p>
          <a:p>
            <a:pPr>
              <a:lnSpc>
                <a:spcPct val="90000"/>
              </a:lnSpc>
              <a:spcAft>
                <a:spcPts val="1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1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1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1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100"/>
              </a:spcAft>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41F6C900-FE58-933E-46B2-1C36044F0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AE113CB2-F6AE-4E5E-25AE-4C674BCED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93C4D2FD-7C22-FB6E-F927-A09BAAE0A7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ED080314-9F51-A612-E30D-D0D1F807C7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B397F89D-BFDD-0DB6-4A37-140CD22FE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52ADB515-F273-5FB9-37B0-4096A7E93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E1BD32EB-4E9C-6FC6-BA4A-5A36B0144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9324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r>
              <a:rPr b="1" dirty="0">
                <a:latin typeface="Times New Roman" panose="02020603050405020304" pitchFamily="18" charset="0"/>
                <a:cs typeface="Times New Roman" panose="02020603050405020304" pitchFamily="18" charset="0"/>
              </a:rPr>
              <a:t>Conclusion</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Autofit/>
          </a:bodyPr>
          <a:lstStyle/>
          <a:p>
            <a:pPr>
              <a:lnSpc>
                <a:spcPct val="90000"/>
              </a:lnSpc>
            </a:pPr>
            <a:r>
              <a:rPr lang="en-US" sz="1600" dirty="0">
                <a:latin typeface="Times New Roman" panose="02020603050405020304" pitchFamily="18" charset="0"/>
                <a:cs typeface="Times New Roman" panose="02020603050405020304" pitchFamily="18" charset="0"/>
              </a:rPr>
              <a:t>This project entails the development of a multi-modal and the ML-based and real-time monitoring system, which is superior to the one used in fall detection technology at present.</a:t>
            </a:r>
          </a:p>
          <a:p>
            <a:pPr>
              <a:lnSpc>
                <a:spcPct val="90000"/>
              </a:lnSpc>
            </a:pPr>
            <a:r>
              <a:rPr lang="en-US" sz="1600" dirty="0">
                <a:latin typeface="Times New Roman" panose="02020603050405020304" pitchFamily="18" charset="0"/>
                <a:cs typeface="Times New Roman" panose="02020603050405020304" pitchFamily="18" charset="0"/>
              </a:rPr>
              <a:t>We are incorporating wearables, environment sensors, glove cameras that are privacy friendly and vital signs tracking to provide all-day care to seniors.</a:t>
            </a:r>
          </a:p>
          <a:p>
            <a:pPr>
              <a:lnSpc>
                <a:spcPct val="90000"/>
              </a:lnSpc>
            </a:pPr>
            <a:r>
              <a:rPr lang="en-US" sz="1600" dirty="0">
                <a:latin typeface="Times New Roman" panose="02020603050405020304" pitchFamily="18" charset="0"/>
                <a:cs typeface="Times New Roman" panose="02020603050405020304" pitchFamily="18" charset="0"/>
              </a:rPr>
              <a:t>With sensor fusion, edge computing and the connection to electronic health records, quicker response, fewer false alerts, and improved overall experience of care in assisted living and hospitals are realized.</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gn="l"/>
            <a:r>
              <a:rPr sz="3600" b="1" dirty="0">
                <a:latin typeface="Times New Roman" panose="02020603050405020304" pitchFamily="18" charset="0"/>
                <a:cs typeface="Times New Roman" panose="02020603050405020304" pitchFamily="18" charset="0"/>
              </a:rPr>
              <a:t>References</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690688"/>
            <a:ext cx="4168866" cy="4351338"/>
          </a:xfrm>
        </p:spPr>
        <p:txBody>
          <a:bodyPr>
            <a:normAutofit fontScale="25000" lnSpcReduction="20000"/>
          </a:bodyPr>
          <a:lstStyle/>
          <a:p>
            <a:pPr lvl="0">
              <a:spcAft>
                <a:spcPts val="100"/>
              </a:spcAft>
            </a:pPr>
            <a:r>
              <a:rPr lang="en-US" sz="6000" dirty="0">
                <a:latin typeface="Times New Roman" panose="02020603050405020304" pitchFamily="18" charset="0"/>
                <a:cs typeface="Times New Roman" panose="02020603050405020304" pitchFamily="18" charset="0"/>
              </a:rPr>
              <a:t>UP-Fall Detection Dataset: A Multimodal Approach by Lourdes Martínez-Villasenor, Hiram Ponce, Jorge Brieva, Ernesto Moya-Albor, Jose Nunez-Martínez and Carlos Peñafort-Asturiano. </a:t>
            </a:r>
            <a:r>
              <a:rPr lang="en-US" sz="6000" u="sng" dirty="0">
                <a:latin typeface="Times New Roman" panose="02020603050405020304" pitchFamily="18" charset="0"/>
                <a:cs typeface="Times New Roman" panose="02020603050405020304" pitchFamily="18" charset="0"/>
                <a:hlinkClick r:id="rId2"/>
              </a:rPr>
              <a:t>https://www.mdpi.com/1424-8220/19/9/1988</a:t>
            </a:r>
            <a:endParaRPr lang="en-US" sz="6000" dirty="0">
              <a:latin typeface="Times New Roman" panose="02020603050405020304" pitchFamily="18" charset="0"/>
              <a:cs typeface="Times New Roman" panose="02020603050405020304" pitchFamily="18" charset="0"/>
            </a:endParaRPr>
          </a:p>
          <a:p>
            <a:pPr lvl="0">
              <a:spcAft>
                <a:spcPts val="100"/>
              </a:spcAft>
            </a:pPr>
            <a:r>
              <a:rPr lang="en-US" sz="6000" dirty="0">
                <a:latin typeface="Times New Roman" panose="02020603050405020304" pitchFamily="18" charset="0"/>
                <a:cs typeface="Times New Roman" panose="02020603050405020304" pitchFamily="18" charset="0"/>
              </a:rPr>
              <a:t>Wandering Detection: CNN for Elderly Wandering Prediction in Indoor Scenarios by Rafael Oliveira, Rafael Feres, Fabio Barreto and Raphael Abreu. </a:t>
            </a:r>
            <a:r>
              <a:rPr lang="en-US" sz="6000" u="sng" dirty="0">
                <a:latin typeface="Times New Roman" panose="02020603050405020304" pitchFamily="18" charset="0"/>
                <a:cs typeface="Times New Roman" panose="02020603050405020304" pitchFamily="18" charset="0"/>
                <a:hlinkClick r:id="rId3"/>
              </a:rPr>
              <a:t>https://pmc.ncbi.nlm.nih.gov/articles/PMC9019803/#Sec12</a:t>
            </a:r>
            <a:r>
              <a:rPr lang="en-US" sz="6000" dirty="0">
                <a:latin typeface="Times New Roman" panose="02020603050405020304" pitchFamily="18" charset="0"/>
                <a:cs typeface="Times New Roman" panose="02020603050405020304" pitchFamily="18" charset="0"/>
              </a:rPr>
              <a:t> </a:t>
            </a:r>
          </a:p>
          <a:p>
            <a:pPr lvl="0">
              <a:spcAft>
                <a:spcPts val="100"/>
              </a:spcAft>
            </a:pPr>
            <a:r>
              <a:rPr lang="en-US" sz="6000" dirty="0">
                <a:latin typeface="Times New Roman" panose="02020603050405020304" pitchFamily="18" charset="0"/>
                <a:cs typeface="Times New Roman" panose="02020603050405020304" pitchFamily="18" charset="0"/>
              </a:rPr>
              <a:t>Undetected physiological deterioration: The impact of wearable continuous vital sign monitoring on deterioration detection and clinical outcomes in hospitalized patients by Carlos Areia, Christopher Biggs, Mauro Santos, Neal Thurley, Stephen Gerry, Lionel Tarassenko, Peter Watkinson and Sarah Vollam. </a:t>
            </a:r>
            <a:r>
              <a:rPr lang="en-US" sz="6000" u="sng" dirty="0">
                <a:latin typeface="Times New Roman" panose="02020603050405020304" pitchFamily="18" charset="0"/>
                <a:cs typeface="Times New Roman" panose="02020603050405020304" pitchFamily="18" charset="0"/>
                <a:hlinkClick r:id="rId4"/>
              </a:rPr>
              <a:t>https://ccforum.biomedcentral.com/articles/10.1186/s13054-021-03766-4</a:t>
            </a:r>
            <a:endParaRPr lang="en-US" sz="6000" dirty="0">
              <a:latin typeface="Times New Roman" panose="02020603050405020304" pitchFamily="18" charset="0"/>
              <a:cs typeface="Times New Roman" panose="02020603050405020304" pitchFamily="18" charset="0"/>
            </a:endParaRPr>
          </a:p>
          <a:p>
            <a:pPr>
              <a:lnSpc>
                <a:spcPct val="90000"/>
              </a:lnSpc>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12856</TotalTime>
  <Words>1644</Words>
  <Application>Microsoft Macintosh PowerPoint</Application>
  <PresentationFormat>On-screen Show (4:3)</PresentationFormat>
  <Paragraphs>139</Paragraphs>
  <Slides>17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Times New Roman</vt:lpstr>
      <vt:lpstr>Office Theme</vt:lpstr>
      <vt:lpstr>Real-Time Multi-Modal Monitoring System for Assisted Living</vt:lpstr>
      <vt:lpstr>What is Real-Time Multi-Modal Monitoring System?</vt:lpstr>
      <vt:lpstr>PowerPoint Presentation</vt:lpstr>
      <vt:lpstr>Motivation</vt:lpstr>
      <vt:lpstr>Problem Statement</vt:lpstr>
      <vt:lpstr>Relation to the Project</vt:lpstr>
      <vt:lpstr>Use Cases</vt:lpstr>
      <vt:lpstr>Advantages &amp; Disadvantages</vt:lpstr>
      <vt:lpstr>Where It Can Be Used ?</vt:lpstr>
      <vt:lpstr>Technologies Used</vt:lpstr>
      <vt:lpstr>Difference from References</vt:lpstr>
      <vt:lpstr>Possible Improvements</vt:lpstr>
      <vt:lpstr>Why does it matter to older adults?</vt:lpstr>
      <vt:lpstr>Implementation</vt:lpstr>
      <vt:lpstr>Results and Challenges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Pekala, Pavan Kumar</cp:lastModifiedBy>
  <cp:revision>7</cp:revision>
  <dcterms:created xsi:type="dcterms:W3CDTF">2013-01-27T09:14:16Z</dcterms:created>
  <dcterms:modified xsi:type="dcterms:W3CDTF">2025-11-02T21:28:05Z</dcterms:modified>
  <cp:category/>
</cp:coreProperties>
</file>